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5" r:id="rId6"/>
    <p:sldId id="279" r:id="rId7"/>
    <p:sldId id="280" r:id="rId8"/>
    <p:sldId id="269" r:id="rId9"/>
    <p:sldId id="281" r:id="rId10"/>
    <p:sldId id="27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9" r:id="rId35"/>
    <p:sldId id="292" r:id="rId22"/>
    <p:sldId id="293" r:id="rId23"/>
    <p:sldId id="294" r:id="rId24"/>
    <p:sldId id="295" r:id="rId25"/>
    <p:sldId id="296" r:id="rId26"/>
    <p:sldId id="300" r:id="rId36"/>
    <p:sldId id="297" r:id="rId27"/>
    <p:sldId id="298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IChDWNHIPr3+eT09JzYcAHPT5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6EC6E9-F500-457B-9968-DCF0B1F1A0E5}">
  <a:tblStyle styleId="{A26EC6E9-F500-457B-9968-DCF0B1F1A0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90B997C-B91F-4660-8F09-69A3DDAE5A90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notesMaster" Target="notesMasters/notesMaster1.xml"/><Relationship Id="rId30" Type="http://customschemas.google.com/relationships/presentationmetadata" Target="meta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1.xml"/><Relationship Id="rId36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본문_1">
  <p:cSld name="5_본문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/>
          <p:nvPr/>
        </p:nvSpPr>
        <p:spPr>
          <a:xfrm>
            <a:off x="334434" y="1028733"/>
            <a:ext cx="8305849" cy="5424603"/>
          </a:xfrm>
          <a:prstGeom prst="rect">
            <a:avLst/>
          </a:prstGeom>
          <a:noFill/>
          <a:ln w="19050" cap="flat" cmpd="sng">
            <a:solidFill>
              <a:srgbClr val="3A383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25"/>
          <p:cNvSpPr/>
          <p:nvPr/>
        </p:nvSpPr>
        <p:spPr>
          <a:xfrm>
            <a:off x="5771072" y="6501345"/>
            <a:ext cx="649856" cy="2790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33" b="0" i="0" u="none" strike="noStrik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lang="ko-KR" sz="1333" b="0" i="0" u="none" strike="noStrik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lang="ko-KR" sz="1333" b="0" i="0" u="none" strike="noStrik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/>
          </a:p>
        </p:txBody>
      </p:sp>
      <p:pic>
        <p:nvPicPr>
          <p:cNvPr id="18" name="Google Shape;18;p25" descr="폰트, 그래픽, 로고, 그래픽 디자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501341"/>
            <a:ext cx="864080" cy="34343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5"/>
          <p:cNvSpPr/>
          <p:nvPr/>
        </p:nvSpPr>
        <p:spPr>
          <a:xfrm>
            <a:off x="0" y="1"/>
            <a:ext cx="12192000" cy="548217"/>
          </a:xfrm>
          <a:prstGeom prst="rect">
            <a:avLst/>
          </a:prstGeom>
          <a:solidFill>
            <a:srgbClr val="2E75B5">
              <a:alpha val="80000"/>
            </a:srgbClr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25"/>
          <p:cNvSpPr/>
          <p:nvPr/>
        </p:nvSpPr>
        <p:spPr>
          <a:xfrm>
            <a:off x="8688287" y="1028733"/>
            <a:ext cx="3169279" cy="5424603"/>
          </a:xfrm>
          <a:prstGeom prst="rect">
            <a:avLst/>
          </a:prstGeom>
          <a:noFill/>
          <a:ln w="19050" cap="flat" cmpd="sng">
            <a:solidFill>
              <a:srgbClr val="3A383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59">
          <p15:clr>
            <a:srgbClr val="FBAE40"/>
          </p15:clr>
        </p15:guide>
        <p15:guide id="4" orient="horz" pos="3072">
          <p15:clr>
            <a:srgbClr val="FBAE40"/>
          </p15:clr>
        </p15:guide>
        <p15:guide id="5" pos="158">
          <p15:clr>
            <a:srgbClr val="FBAE40"/>
          </p15:clr>
        </p15:guide>
        <p15:guide id="6" pos="560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9" name="Google Shape;29;p27"/>
          <p:cNvSpPr/>
          <p:nvPr/>
        </p:nvSpPr>
        <p:spPr>
          <a:xfrm>
            <a:off x="9119550" y="523714"/>
            <a:ext cx="3025602" cy="6285707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27"/>
          <p:cNvSpPr/>
          <p:nvPr/>
        </p:nvSpPr>
        <p:spPr>
          <a:xfrm>
            <a:off x="9120730" y="514664"/>
            <a:ext cx="3032970" cy="2879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1" name="Google Shape;31;p27"/>
          <p:cNvGraphicFramePr/>
          <p:nvPr/>
        </p:nvGraphicFramePr>
        <p:xfrm>
          <a:off x="38036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/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화면명</a:t>
                      </a:r>
                      <a:endParaRPr sz="1000" b="1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/>
                        <a:t>Screen ID</a:t>
                      </a:r>
                      <a:endParaRPr sz="1000" b="1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화면 경로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Page</a:t>
                      </a:r>
                      <a:endParaRPr sz="1000" b="1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Google Shape;32;p27"/>
          <p:cNvSpPr txBox="1">
            <a:spLocks noGrp="1"/>
          </p:cNvSpPr>
          <p:nvPr>
            <p:ph type="body" idx="1"/>
          </p:nvPr>
        </p:nvSpPr>
        <p:spPr>
          <a:xfrm>
            <a:off x="29490" y="25384"/>
            <a:ext cx="2537833" cy="48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2"/>
          </p:nvPr>
        </p:nvSpPr>
        <p:spPr>
          <a:xfrm>
            <a:off x="3646962" y="32318"/>
            <a:ext cx="5472587" cy="2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 b="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3"/>
          </p:nvPr>
        </p:nvSpPr>
        <p:spPr>
          <a:xfrm>
            <a:off x="3646962" y="280342"/>
            <a:ext cx="5472587" cy="24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4"/>
          </p:nvPr>
        </p:nvSpPr>
        <p:spPr>
          <a:xfrm>
            <a:off x="10199809" y="15117"/>
            <a:ext cx="1945342" cy="246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/>
          <p:nvPr/>
        </p:nvSpPr>
        <p:spPr>
          <a:xfrm>
            <a:off x="29490" y="621338"/>
            <a:ext cx="9019222" cy="6188083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42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2_제목 및 내용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9" name="Google Shape;39;p28"/>
          <p:cNvSpPr/>
          <p:nvPr/>
        </p:nvSpPr>
        <p:spPr>
          <a:xfrm>
            <a:off x="9119550" y="523714"/>
            <a:ext cx="3025602" cy="6285707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28"/>
          <p:cNvSpPr/>
          <p:nvPr/>
        </p:nvSpPr>
        <p:spPr>
          <a:xfrm>
            <a:off x="9120730" y="514664"/>
            <a:ext cx="3032970" cy="2879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1" name="Google Shape;41;p28"/>
          <p:cNvGraphicFramePr/>
          <p:nvPr/>
        </p:nvGraphicFramePr>
        <p:xfrm>
          <a:off x="29490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/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화면명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/>
                        <a:t>Screen ID</a:t>
                      </a:r>
                      <a:endParaRPr sz="1000" b="1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화면 경로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Page</a:t>
                      </a:r>
                      <a:endParaRPr sz="1000" b="1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Google Shape;42;p28"/>
          <p:cNvSpPr/>
          <p:nvPr/>
        </p:nvSpPr>
        <p:spPr>
          <a:xfrm>
            <a:off x="29490" y="621338"/>
            <a:ext cx="9019222" cy="6188083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2_제목 및 내용 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5" name="Google Shape;45;p29"/>
          <p:cNvSpPr/>
          <p:nvPr/>
        </p:nvSpPr>
        <p:spPr>
          <a:xfrm>
            <a:off x="9119550" y="523714"/>
            <a:ext cx="3025602" cy="6285707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29"/>
          <p:cNvSpPr/>
          <p:nvPr/>
        </p:nvSpPr>
        <p:spPr>
          <a:xfrm>
            <a:off x="9120730" y="514664"/>
            <a:ext cx="3032970" cy="2879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7" name="Google Shape;47;p29"/>
          <p:cNvGraphicFramePr/>
          <p:nvPr/>
        </p:nvGraphicFramePr>
        <p:xfrm>
          <a:off x="29490" y="25632"/>
          <a:ext cx="12115950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/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화면명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u="none" strike="noStrike" cap="none"/>
                        <a:t>Screen ID</a:t>
                      </a:r>
                      <a:endParaRPr sz="1000" b="1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화면 경로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/>
                        <a:t>Page</a:t>
                      </a:r>
                      <a:endParaRPr sz="1000" b="1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Google Shape;48;p29"/>
          <p:cNvSpPr/>
          <p:nvPr/>
        </p:nvSpPr>
        <p:spPr>
          <a:xfrm>
            <a:off x="29490" y="621338"/>
            <a:ext cx="9019222" cy="6188083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1"/>
          </p:nvPr>
        </p:nvSpPr>
        <p:spPr>
          <a:xfrm>
            <a:off x="10199809" y="15117"/>
            <a:ext cx="1945342" cy="246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>
  <p:cSld name="1_빈 화면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Google Shape;51;p30"/>
          <p:cNvGraphicFramePr/>
          <p:nvPr/>
        </p:nvGraphicFramePr>
        <p:xfrm>
          <a:off x="29490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화면명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/>
                        <a:t>Screen ID</a:t>
                      </a:r>
                      <a:endParaRPr sz="1000" b="1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 경로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Page</a:t>
                      </a:r>
                      <a:endParaRPr sz="1000" b="1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00" marB="45700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Google Shape;52;p30"/>
          <p:cNvSpPr/>
          <p:nvPr/>
        </p:nvSpPr>
        <p:spPr>
          <a:xfrm>
            <a:off x="9119550" y="523714"/>
            <a:ext cx="3025602" cy="6285707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53;p30"/>
          <p:cNvSpPr/>
          <p:nvPr/>
        </p:nvSpPr>
        <p:spPr>
          <a:xfrm>
            <a:off x="9120730" y="514664"/>
            <a:ext cx="3032970" cy="2879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30"/>
          <p:cNvSpPr/>
          <p:nvPr/>
        </p:nvSpPr>
        <p:spPr>
          <a:xfrm>
            <a:off x="29490" y="621338"/>
            <a:ext cx="9019222" cy="6188083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30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>
  <p:cSld name="구역 머리글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10199662" y="261442"/>
            <a:ext cx="1943909" cy="25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58" name="Google Shape;58;p31"/>
          <p:cNvSpPr/>
          <p:nvPr/>
        </p:nvSpPr>
        <p:spPr>
          <a:xfrm>
            <a:off x="9118363" y="523836"/>
            <a:ext cx="3025208" cy="6287162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31"/>
          <p:cNvSpPr/>
          <p:nvPr/>
        </p:nvSpPr>
        <p:spPr>
          <a:xfrm>
            <a:off x="9119542" y="514783"/>
            <a:ext cx="3032575" cy="288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60" name="Google Shape;60;p31"/>
          <p:cNvGraphicFramePr/>
          <p:nvPr/>
        </p:nvGraphicFramePr>
        <p:xfrm>
          <a:off x="29486" y="256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7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화면명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/>
                        <a:t>Screen ID</a:t>
                      </a:r>
                      <a:endParaRPr sz="1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 경로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Page</a:t>
                      </a:r>
                      <a:endParaRPr sz="1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" name="Google Shape;61;p31"/>
          <p:cNvSpPr/>
          <p:nvPr/>
        </p:nvSpPr>
        <p:spPr>
          <a:xfrm>
            <a:off x="29486" y="621482"/>
            <a:ext cx="9018048" cy="6189516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31"/>
          <p:cNvSpPr txBox="1"/>
          <p:nvPr/>
        </p:nvSpPr>
        <p:spPr>
          <a:xfrm>
            <a:off x="10199662" y="261442"/>
            <a:ext cx="1943909" cy="25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31"/>
          <p:cNvSpPr/>
          <p:nvPr/>
        </p:nvSpPr>
        <p:spPr>
          <a:xfrm>
            <a:off x="9118363" y="523836"/>
            <a:ext cx="3025208" cy="6287162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p31"/>
          <p:cNvSpPr/>
          <p:nvPr/>
        </p:nvSpPr>
        <p:spPr>
          <a:xfrm>
            <a:off x="9119542" y="514783"/>
            <a:ext cx="3032575" cy="288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65" name="Google Shape;65;p31"/>
          <p:cNvGraphicFramePr/>
          <p:nvPr/>
        </p:nvGraphicFramePr>
        <p:xfrm>
          <a:off x="29486" y="256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7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화면명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/>
                        <a:t>Screen ID</a:t>
                      </a:r>
                      <a:endParaRPr sz="1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 경로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Page</a:t>
                      </a:r>
                      <a:endParaRPr sz="1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" name="Google Shape;66;p31"/>
          <p:cNvSpPr/>
          <p:nvPr/>
        </p:nvSpPr>
        <p:spPr>
          <a:xfrm>
            <a:off x="29486" y="621482"/>
            <a:ext cx="9018048" cy="6189516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" name="Google Shape;67;p31"/>
          <p:cNvGrpSpPr/>
          <p:nvPr/>
        </p:nvGrpSpPr>
        <p:grpSpPr>
          <a:xfrm>
            <a:off x="29486" y="621482"/>
            <a:ext cx="9018049" cy="536793"/>
            <a:chOff x="29486" y="621482"/>
            <a:chExt cx="9018049" cy="536793"/>
          </a:xfrm>
        </p:grpSpPr>
        <p:grpSp>
          <p:nvGrpSpPr>
            <p:cNvPr id="68" name="Google Shape;68;p31"/>
            <p:cNvGrpSpPr/>
            <p:nvPr/>
          </p:nvGrpSpPr>
          <p:grpSpPr>
            <a:xfrm>
              <a:off x="29486" y="621482"/>
              <a:ext cx="9018049" cy="536793"/>
              <a:chOff x="29486" y="621482"/>
              <a:chExt cx="9018049" cy="536793"/>
            </a:xfrm>
          </p:grpSpPr>
          <p:grpSp>
            <p:nvGrpSpPr>
              <p:cNvPr id="69" name="Google Shape;69;p31"/>
              <p:cNvGrpSpPr/>
              <p:nvPr/>
            </p:nvGrpSpPr>
            <p:grpSpPr>
              <a:xfrm>
                <a:off x="29486" y="621482"/>
                <a:ext cx="9018049" cy="536793"/>
                <a:chOff x="29486" y="621482"/>
                <a:chExt cx="9018049" cy="536793"/>
              </a:xfrm>
            </p:grpSpPr>
            <p:sp>
              <p:nvSpPr>
                <p:cNvPr id="70" name="Google Shape;70;p31"/>
                <p:cNvSpPr/>
                <p:nvPr/>
              </p:nvSpPr>
              <p:spPr>
                <a:xfrm>
                  <a:off x="29487" y="621482"/>
                  <a:ext cx="9018048" cy="25633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1" name="Google Shape;71;p31"/>
                <p:cNvSpPr/>
                <p:nvPr/>
              </p:nvSpPr>
              <p:spPr>
                <a:xfrm>
                  <a:off x="1026572" y="621482"/>
                  <a:ext cx="360039" cy="256333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36000" tIns="36000" rIns="36000" bIns="36000" anchor="ctr" anchorCtr="0">
                  <a:noAutofit/>
                </a:bodyPr>
                <a:lstStyle/>
                <a:p>
                  <a:pPr marL="0" marR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2" name="Google Shape;72;p31"/>
                <p:cNvSpPr txBox="1"/>
                <p:nvPr/>
              </p:nvSpPr>
              <p:spPr>
                <a:xfrm>
                  <a:off x="77850" y="682956"/>
                  <a:ext cx="833055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4000" tIns="0" rIns="54000" bIns="0" anchor="ctr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00" b="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프로젝트명</a:t>
                  </a:r>
                  <a:endParaRPr sz="900" b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73" name="Google Shape;73;p31"/>
                <p:cNvCxnSpPr/>
                <p:nvPr/>
              </p:nvCxnSpPr>
              <p:spPr>
                <a:xfrm>
                  <a:off x="29486" y="1158275"/>
                  <a:ext cx="9018048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74" name="Google Shape;74;p31"/>
              <p:cNvSpPr/>
              <p:nvPr/>
            </p:nvSpPr>
            <p:spPr>
              <a:xfrm rot="10800000">
                <a:off x="1130479" y="731441"/>
                <a:ext cx="144016" cy="84798"/>
              </a:xfrm>
              <a:prstGeom prst="triangle">
                <a:avLst>
                  <a:gd name="adj" fmla="val 50000"/>
                </a:avLst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75" name="Google Shape;75;p31"/>
            <p:cNvGrpSpPr/>
            <p:nvPr/>
          </p:nvGrpSpPr>
          <p:grpSpPr>
            <a:xfrm>
              <a:off x="1386611" y="621482"/>
              <a:ext cx="360039" cy="256333"/>
              <a:chOff x="1386611" y="621482"/>
              <a:chExt cx="360039" cy="256333"/>
            </a:xfrm>
          </p:grpSpPr>
          <p:pic>
            <p:nvPicPr>
              <p:cNvPr id="76" name="Google Shape;76;p31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455776" y="656623"/>
                <a:ext cx="214410" cy="2144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31"/>
              <p:cNvSpPr/>
              <p:nvPr/>
            </p:nvSpPr>
            <p:spPr>
              <a:xfrm>
                <a:off x="1386611" y="621482"/>
                <a:ext cx="360039" cy="256333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36000" tIns="36000" rIns="36000" bIns="36000" anchor="ctr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78" name="Google Shape;78;p31"/>
          <p:cNvGrpSpPr/>
          <p:nvPr/>
        </p:nvGrpSpPr>
        <p:grpSpPr>
          <a:xfrm>
            <a:off x="7659334" y="637573"/>
            <a:ext cx="1284667" cy="249750"/>
            <a:chOff x="5743487" y="1647278"/>
            <a:chExt cx="1284667" cy="249750"/>
          </a:xfrm>
        </p:grpSpPr>
        <p:grpSp>
          <p:nvGrpSpPr>
            <p:cNvPr id="79" name="Google Shape;79;p31"/>
            <p:cNvGrpSpPr/>
            <p:nvPr/>
          </p:nvGrpSpPr>
          <p:grpSpPr>
            <a:xfrm>
              <a:off x="6258066" y="1650842"/>
              <a:ext cx="223489" cy="206911"/>
              <a:chOff x="9396599" y="3335158"/>
              <a:chExt cx="391279" cy="362255"/>
            </a:xfrm>
          </p:grpSpPr>
          <p:sp>
            <p:nvSpPr>
              <p:cNvPr id="80" name="Google Shape;80;p31"/>
              <p:cNvSpPr/>
              <p:nvPr/>
            </p:nvSpPr>
            <p:spPr>
              <a:xfrm>
                <a:off x="9427651" y="3354425"/>
                <a:ext cx="329176" cy="329176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1" name="Google Shape;81;p31"/>
              <p:cNvPicPr preferRelativeResize="0"/>
              <p:nvPr/>
            </p:nvPicPr>
            <p:blipFill rotWithShape="1">
              <a:blip r:embed="rId3">
                <a:alphaModFix/>
              </a:blip>
              <a:srcRect l="37044" r="43569"/>
              <a:stretch/>
            </p:blipFill>
            <p:spPr>
              <a:xfrm>
                <a:off x="9396599" y="3335158"/>
                <a:ext cx="391279" cy="3622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" name="Google Shape;82;p31"/>
            <p:cNvGrpSpPr/>
            <p:nvPr/>
          </p:nvGrpSpPr>
          <p:grpSpPr>
            <a:xfrm>
              <a:off x="6540365" y="1648378"/>
              <a:ext cx="197792" cy="211838"/>
              <a:chOff x="9908198" y="3577255"/>
              <a:chExt cx="346289" cy="370880"/>
            </a:xfrm>
          </p:grpSpPr>
          <p:sp>
            <p:nvSpPr>
              <p:cNvPr id="83" name="Google Shape;83;p31"/>
              <p:cNvSpPr/>
              <p:nvPr/>
            </p:nvSpPr>
            <p:spPr>
              <a:xfrm>
                <a:off x="9924089" y="3604928"/>
                <a:ext cx="329176" cy="329176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4" name="Google Shape;84;p31"/>
              <p:cNvPicPr preferRelativeResize="0"/>
              <p:nvPr/>
            </p:nvPicPr>
            <p:blipFill rotWithShape="1">
              <a:blip r:embed="rId4">
                <a:alphaModFix/>
              </a:blip>
              <a:srcRect l="34856" r="48386"/>
              <a:stretch/>
            </p:blipFill>
            <p:spPr>
              <a:xfrm>
                <a:off x="9908198" y="3577255"/>
                <a:ext cx="346289" cy="3708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" name="Google Shape;85;p31"/>
            <p:cNvGrpSpPr/>
            <p:nvPr/>
          </p:nvGrpSpPr>
          <p:grpSpPr>
            <a:xfrm>
              <a:off x="6796966" y="1647278"/>
              <a:ext cx="231188" cy="214039"/>
              <a:chOff x="10512147" y="3911071"/>
              <a:chExt cx="404758" cy="374734"/>
            </a:xfrm>
          </p:grpSpPr>
          <p:sp>
            <p:nvSpPr>
              <p:cNvPr id="86" name="Google Shape;86;p31"/>
              <p:cNvSpPr/>
              <p:nvPr/>
            </p:nvSpPr>
            <p:spPr>
              <a:xfrm>
                <a:off x="10571061" y="3933850"/>
                <a:ext cx="329176" cy="329176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87" name="Google Shape;87;p31"/>
              <p:cNvPicPr preferRelativeResize="0"/>
              <p:nvPr/>
            </p:nvPicPr>
            <p:blipFill rotWithShape="1">
              <a:blip r:embed="rId5">
                <a:alphaModFix/>
              </a:blip>
              <a:srcRect l="33476" r="47137"/>
              <a:stretch/>
            </p:blipFill>
            <p:spPr>
              <a:xfrm>
                <a:off x="10512147" y="3911071"/>
                <a:ext cx="404758" cy="3747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" name="Google Shape;88;p31"/>
            <p:cNvGrpSpPr/>
            <p:nvPr/>
          </p:nvGrpSpPr>
          <p:grpSpPr>
            <a:xfrm>
              <a:off x="5743487" y="1647621"/>
              <a:ext cx="455769" cy="249407"/>
              <a:chOff x="9552002" y="4536937"/>
              <a:chExt cx="640778" cy="345255"/>
            </a:xfrm>
          </p:grpSpPr>
          <p:sp>
            <p:nvSpPr>
              <p:cNvPr id="89" name="Google Shape;89;p31"/>
              <p:cNvSpPr/>
              <p:nvPr/>
            </p:nvSpPr>
            <p:spPr>
              <a:xfrm>
                <a:off x="9594341" y="4555490"/>
                <a:ext cx="546576" cy="268888"/>
              </a:xfrm>
              <a:prstGeom prst="flowChartTerminator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90" name="Google Shape;90;p31"/>
              <p:cNvPicPr preferRelativeResize="0"/>
              <p:nvPr/>
            </p:nvPicPr>
            <p:blipFill rotWithShape="1">
              <a:blip r:embed="rId6">
                <a:alphaModFix/>
              </a:blip>
              <a:srcRect l="10442" r="53208"/>
              <a:stretch/>
            </p:blipFill>
            <p:spPr>
              <a:xfrm>
                <a:off x="9552002" y="4536937"/>
                <a:ext cx="640778" cy="3452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4" name="Google Shape;9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3"/>
          <p:cNvSpPr txBox="1">
            <a:spLocks noGrp="1"/>
          </p:cNvSpPr>
          <p:nvPr>
            <p:ph type="sldNum" idx="12"/>
          </p:nvPr>
        </p:nvSpPr>
        <p:spPr>
          <a:xfrm>
            <a:off x="10199662" y="261442"/>
            <a:ext cx="1943909" cy="25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ctr">
              <a:spcBef>
                <a:spcPts val="0"/>
              </a:spcBef>
              <a:buNone/>
              <a:defRPr sz="1000" b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9" name="Google Shape;99;p33"/>
          <p:cNvSpPr/>
          <p:nvPr/>
        </p:nvSpPr>
        <p:spPr>
          <a:xfrm>
            <a:off x="9118363" y="523836"/>
            <a:ext cx="3025208" cy="6287162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33"/>
          <p:cNvSpPr/>
          <p:nvPr/>
        </p:nvSpPr>
        <p:spPr>
          <a:xfrm>
            <a:off x="9119542" y="514783"/>
            <a:ext cx="3032575" cy="288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1" name="Google Shape;101;p33"/>
          <p:cNvGraphicFramePr/>
          <p:nvPr/>
        </p:nvGraphicFramePr>
        <p:xfrm>
          <a:off x="29486" y="256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7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화면명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/>
                        <a:t>Screen ID</a:t>
                      </a:r>
                      <a:endParaRPr sz="1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화면 경로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/>
                        <a:t>Page</a:t>
                      </a:r>
                      <a:endParaRPr sz="1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" name="Google Shape;102;p33"/>
          <p:cNvSpPr/>
          <p:nvPr/>
        </p:nvSpPr>
        <p:spPr>
          <a:xfrm>
            <a:off x="29486" y="621482"/>
            <a:ext cx="9018048" cy="6189516"/>
          </a:xfrm>
          <a:prstGeom prst="rect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4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5" Type="http://schemas.openxmlformats.org/officeDocument/2006/relationships/image" Target="../media/image1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36.png"/><Relationship Id="rId9" Type="http://schemas.openxmlformats.org/officeDocument/2006/relationships/image" Target="../media/image4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10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/>
          <p:nvPr/>
        </p:nvSpPr>
        <p:spPr>
          <a:xfrm>
            <a:off x="2205" y="0"/>
            <a:ext cx="12187592" cy="1173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2206" y="0"/>
            <a:ext cx="9477387" cy="11739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782320" y="1845191"/>
            <a:ext cx="10627361" cy="1702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Malgun Gothic"/>
              <a:buNone/>
            </a:pPr>
            <a:r>
              <a:rPr lang="ko-KR" sz="16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조수석 동승자 전용 전방 CCTV 앱</a:t>
            </a:r>
            <a:br>
              <a:rPr lang="ko-KR" sz="16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3799" b="1">
                <a:solidFill>
                  <a:srgbClr val="D7101C"/>
                </a:solidFill>
                <a:latin typeface="Arial"/>
                <a:ea typeface="Arial"/>
                <a:cs typeface="Arial"/>
                <a:sym typeface="Arial"/>
              </a:rPr>
              <a:t>앞볼래</a:t>
            </a:r>
            <a:r>
              <a:rPr lang="ko-KR" sz="3799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 Project Story Board</a:t>
            </a:r>
            <a:endParaRPr sz="3799" b="1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" name="Google Shape;143;p2"/>
          <p:cNvGraphicFramePr/>
          <p:nvPr>
            <p:extLst>
              <p:ext uri="{D42A27DB-BD31-4B8C-83A1-F6EECF244321}">
                <p14:modId xmlns:p14="http://schemas.microsoft.com/office/powerpoint/2010/main" val="3197057304"/>
              </p:ext>
            </p:extLst>
          </p:nvPr>
        </p:nvGraphicFramePr>
        <p:xfrm>
          <a:off x="8903663" y="5540973"/>
          <a:ext cx="2866825" cy="82299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93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Version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875" marR="12187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2026-10-26</a:t>
                      </a:r>
                      <a:endParaRPr/>
                    </a:p>
                  </a:txBody>
                  <a:tcPr marL="121875" marR="12187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졸업하자 (한주성)</a:t>
                      </a:r>
                      <a:endParaRPr dirty="0"/>
                    </a:p>
                  </a:txBody>
                  <a:tcPr marL="121875" marR="12187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4" name="Google Shape;144;p2"/>
          <p:cNvCxnSpPr/>
          <p:nvPr/>
        </p:nvCxnSpPr>
        <p:spPr>
          <a:xfrm>
            <a:off x="516436" y="3429000"/>
            <a:ext cx="11157542" cy="0"/>
          </a:xfrm>
          <a:prstGeom prst="straightConnector1">
            <a:avLst/>
          </a:prstGeom>
          <a:noFill/>
          <a:ln w="57150" cap="flat" cmpd="thinThick">
            <a:solidFill>
              <a:srgbClr val="31859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5" name="Google Shape;145;p2"/>
          <p:cNvSpPr txBox="1">
            <a:spLocks noGrp="1"/>
          </p:cNvSpPr>
          <p:nvPr>
            <p:ph type="sldNum" idx="12"/>
          </p:nvPr>
        </p:nvSpPr>
        <p:spPr>
          <a:xfrm>
            <a:off x="8666481" y="63135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68680" y="502920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12w 과제 · 설계 단계 산출물 — Story Board(화면설계서)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68680" y="841248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프로젝트 앞볼래(Apbollae) · 조명 졸업하자 · 팀원 한주성, 남준혁</a:t>
            </a:r>
          </a:p>
        </p:txBody>
      </p:sp>
      <p:pic>
        <p:nvPicPr>
          <p:cNvPr id="148" name="Picture 14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1600200" cy="160020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4572000" y="3639312"/>
            <a:ext cx="6812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3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차가 막힐 때, 조수석에서 보는 내 앞 도로 CCTV</a:t>
            </a:r>
          </a:p>
        </p:txBody>
      </p:sp>
      <p:pic>
        <p:nvPicPr>
          <p:cNvPr id="159" name="Picture 158" descr="s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015" y="4069080"/>
            <a:ext cx="1141289" cy="2514600"/>
          </a:xfrm>
          <a:prstGeom prst="rect">
            <a:avLst/>
          </a:prstGeom>
        </p:spPr>
      </p:pic>
      <p:sp>
        <p:nvSpPr>
          <p:cNvPr id="151" name="Rectangle 150"/>
          <p:cNvSpPr/>
          <p:nvPr/>
        </p:nvSpPr>
        <p:spPr>
          <a:xfrm>
            <a:off x="879015" y="4069080"/>
            <a:ext cx="1141289" cy="25146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77240" y="6583680"/>
            <a:ext cx="134416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홈 · 앞 CCTV</a:t>
            </a:r>
          </a:p>
        </p:txBody>
      </p:sp>
      <p:pic>
        <p:nvPicPr>
          <p:cNvPr id="153" name="Picture 152" descr="ahead-l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4069080"/>
            <a:ext cx="1161959" cy="2514600"/>
          </a:xfrm>
          <a:prstGeom prst="rect">
            <a:avLst/>
          </a:prstGeom>
        </p:spPr>
      </p:pic>
      <p:sp>
        <p:nvSpPr>
          <p:cNvPr id="154" name="Rectangle 153"/>
          <p:cNvSpPr/>
          <p:nvPr/>
        </p:nvSpPr>
        <p:spPr>
          <a:xfrm>
            <a:off x="2423160" y="4069080"/>
            <a:ext cx="1161959" cy="25146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331720" y="6583680"/>
            <a:ext cx="134416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앞길 · 앞쪽 CCTV</a:t>
            </a:r>
          </a:p>
        </p:txBody>
      </p:sp>
      <p:pic>
        <p:nvPicPr>
          <p:cNvPr id="156" name="Picture 155" descr="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39" y="4069080"/>
            <a:ext cx="1161959" cy="2514600"/>
          </a:xfrm>
          <a:prstGeom prst="rect">
            <a:avLst/>
          </a:prstGeom>
        </p:spPr>
      </p:pic>
      <p:sp>
        <p:nvSpPr>
          <p:cNvPr id="157" name="Rectangle 156"/>
          <p:cNvSpPr/>
          <p:nvPr/>
        </p:nvSpPr>
        <p:spPr>
          <a:xfrm>
            <a:off x="3977639" y="4069080"/>
            <a:ext cx="1161959" cy="25146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886200" y="6583680"/>
            <a:ext cx="1344168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기록 · 지나온 정체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3"/>
          <p:cNvGraphicFramePr/>
          <p:nvPr/>
        </p:nvGraphicFramePr>
        <p:xfrm>
          <a:off x="910534" y="837312"/>
          <a:ext cx="10370950" cy="557015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91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Vision</a:t>
                      </a:r>
                      <a:endParaRPr sz="10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작업 내용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날짜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0.1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PRD·프로젝트 차터 기준 화면 목록·기능흐름도(1~9단계, 예외 E1~E6) 정리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2026.09.28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한주성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스토리보드 작성 — 실제 구현 화면(목업 시나리오) 캡처, 화면별 Description·IA·서비스 흐름도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2026.10.14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한주성·남준혁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2.0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8주차 중간발표(v2.1) 기준 최신화 — 홈(언제 지나가나·실시간 CCTV·한 줄 요약·길 색·목적지 경로) 새 캡처, 내 앞 부채꼴·CCTV 크게 보기·경로 비교 추가, AI 예상 화면(9~10주) 추가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2026.10.26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한주성·남준혁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 spc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 spc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 spc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 spc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1" name="Google Shape;151;p3"/>
          <p:cNvSpPr txBox="1"/>
          <p:nvPr/>
        </p:nvSpPr>
        <p:spPr>
          <a:xfrm>
            <a:off x="120719" y="190209"/>
            <a:ext cx="3491692" cy="50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Malgun Gothic"/>
              <a:buNone/>
            </a:pPr>
            <a:r>
              <a:rPr lang="ko-KR" sz="18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Document History</a:t>
            </a:r>
            <a:endParaRPr sz="1800" b="1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2" name="Google Shape;152;p3"/>
          <p:cNvCxnSpPr/>
          <p:nvPr/>
        </p:nvCxnSpPr>
        <p:spPr>
          <a:xfrm>
            <a:off x="221655" y="582924"/>
            <a:ext cx="11676700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53" name="Google Shape;153;p3"/>
          <p:cNvGrpSpPr/>
          <p:nvPr/>
        </p:nvGrpSpPr>
        <p:grpSpPr>
          <a:xfrm>
            <a:off x="2205" y="0"/>
            <a:ext cx="12187592" cy="66660"/>
            <a:chOff x="0" y="0"/>
            <a:chExt cx="12190413" cy="117426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12190413" cy="11742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" y="0"/>
              <a:ext cx="9479581" cy="117426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6" name="Google Shape;156;p3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4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163" name="Google Shape;163;p4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164" name="Google Shape;164;p4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66" name="Google Shape;166;p4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8" name="Google Shape;168;p4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9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Basic Component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/>
        </p:nvSpPr>
        <p:spPr>
          <a:xfrm>
            <a:off x="111022" y="118218"/>
            <a:ext cx="7315200" cy="50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Malgun Gothic"/>
              <a:buNone/>
            </a:pPr>
            <a:r>
              <a:rPr lang="ko-KR" sz="18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Basic component — 이 문서 읽는 법</a:t>
            </a:r>
            <a:endParaRPr/>
          </a:p>
        </p:txBody>
      </p:sp>
      <p:grpSp>
        <p:nvGrpSpPr>
          <p:cNvPr id="191" name="Google Shape;191;p5"/>
          <p:cNvGrpSpPr/>
          <p:nvPr/>
        </p:nvGrpSpPr>
        <p:grpSpPr>
          <a:xfrm>
            <a:off x="2205" y="0"/>
            <a:ext cx="12187592" cy="66660"/>
            <a:chOff x="0" y="0"/>
            <a:chExt cx="12190413" cy="117426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12190413" cy="11742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1" y="0"/>
              <a:ext cx="9479581" cy="117426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94" name="Google Shape;194;p5"/>
          <p:cNvCxnSpPr/>
          <p:nvPr/>
        </p:nvCxnSpPr>
        <p:spPr>
          <a:xfrm>
            <a:off x="221655" y="582924"/>
            <a:ext cx="11676700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5" name="Google Shape;195;p5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graphicFrame>
        <p:nvGraphicFramePr>
          <p:cNvPr id="197" name="Table 196"/>
          <p:cNvGraphicFramePr>
            <a:graphicFrameLocks noGrp="1"/>
          </p:cNvGraphicFramePr>
          <p:nvPr/>
        </p:nvGraphicFramePr>
        <p:xfrm>
          <a:off x="777240" y="868680"/>
          <a:ext cx="10652760" cy="508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solidFill>
                        <a:srgbClr val="595959"/>
                      </a:solidFill>
                    </a:lnT>
                    <a:lnB w="12700">
                      <a:solidFill>
                        <a:srgbClr val="59595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표기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solidFill>
                        <a:srgbClr val="595959"/>
                      </a:solidFill>
                    </a:lnT>
                    <a:lnB w="12700">
                      <a:solidFill>
                        <a:srgbClr val="59595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solidFill>
                        <a:srgbClr val="595959"/>
                      </a:solidFill>
                    </a:lnT>
                    <a:lnB w="12700">
                      <a:solidFill>
                        <a:srgbClr val="59595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기능 설명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캡처 위 빨간 번호 = 오른쪽 Description 의 같은 번호 설명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준수사항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71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★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디자인·구현을 바꿔도 반드시 유지할 핵심(안전·핵심 가치 관련)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 · 현재 상태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71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!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목업·미구현·예상 화면(AI, 9~10주 개발) 등 알아 둘 점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밖 내용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71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아래로 스크롤해야 보이는 내용(캡처에는 없음)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상황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기능흐름도 예외 E1~E6 — 서비스 흐름도에서 예외가 생기는 지점에 표시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번호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n-n  (예: 3-2 앞길)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진입·로그인 · 2 주행 준비 · 3 탭(홈·앞길·기록) · 4 내 정보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Screen ID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AP-[구분]-[번호]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 진입 · RD 주행 준비 · DR 주행 탭 · IF 내 정보 · CM 공통 · FL 흐름도 · IA 정보 구조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경로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 &gt; 앞길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앱을 켠 뒤 그 화면까지 가는 순서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화면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390 × 844 (세로)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홈은 실제 CCTV(서울 UTIC·ITS, 목적지 부산역) 캡처, 정체·사고·예외는 목업 시나리오(모의 영상)로 재현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글꼴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Pretendard / Barlow Semi Condensed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본문 14 · 제목 19~24 · 큰 숫자 30(px) — 숫자(거리·속도)는 Barlow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누르는 것 = 빨강 #D7101C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사고·공사·통제·소통 색은 항상 글자와 함께 표시 — 상세는 AP-CM-0002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비교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캡처 아래 굵은 글씨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화면의 경우의 수(정체·돌발·예외 등)를 나란히 놓고 이름을 붙임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정보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앞볼래 모바일 앱 화면설계서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 · 2026-10-26 · 졸업하자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001" name="marker 1"/>
          <p:cNvSpPr/>
          <p:nvPr/>
        </p:nvSpPr>
        <p:spPr>
          <a:xfrm>
            <a:off x="3703320" y="126187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2" name="marker 2"/>
          <p:cNvSpPr/>
          <p:nvPr/>
        </p:nvSpPr>
        <p:spPr>
          <a:xfrm>
            <a:off x="4050791" y="126187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3" name="marker 3"/>
          <p:cNvSpPr/>
          <p:nvPr/>
        </p:nvSpPr>
        <p:spPr>
          <a:xfrm>
            <a:off x="4398264" y="126187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4" name="Rounded Rectangle 6003"/>
          <p:cNvSpPr/>
          <p:nvPr/>
        </p:nvSpPr>
        <p:spPr>
          <a:xfrm>
            <a:off x="3557015" y="2752344"/>
            <a:ext cx="365760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E1</a:t>
            </a:r>
          </a:p>
        </p:txBody>
      </p:sp>
      <p:sp>
        <p:nvSpPr>
          <p:cNvPr id="6005" name="Rounded Rectangle 6004"/>
          <p:cNvSpPr/>
          <p:nvPr/>
        </p:nvSpPr>
        <p:spPr>
          <a:xfrm>
            <a:off x="3995927" y="2752344"/>
            <a:ext cx="365760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E4</a:t>
            </a:r>
          </a:p>
        </p:txBody>
      </p:sp>
      <p:sp>
        <p:nvSpPr>
          <p:cNvPr id="6006" name="Rounded Rectangle 6005"/>
          <p:cNvSpPr/>
          <p:nvPr/>
        </p:nvSpPr>
        <p:spPr>
          <a:xfrm>
            <a:off x="4434840" y="2752344"/>
            <a:ext cx="365760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10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795" name="Google Shape;795;p10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796" name="Google Shape;796;p10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97" name="Google Shape;797;p10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798" name="Google Shape;798;p10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9" name="Google Shape;799;p10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00" name="Google Shape;800;p10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9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</a:t>
            </a:r>
            <a:endParaRPr sz="2799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1" name="Google Shape;801;p10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2" name="Google Shape;80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공통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화면 공통 요소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AP-CM-0001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공통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4333896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 상태 배너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아이콘 + 제목 + 부제 + '○초 뒤 다시 찾기'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E3·E4·E6 안내가 모두 같은 자리·같은 형식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목적지 바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'어디로 가세요?' — 홈 탭 맨 아래 고정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 탭 4개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홈 · 앞길 · 기록 · 내 정보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선택된 탭은 빨강(#D7101C) 아이콘+글자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체크 카드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흰 카드 + 큰 라운드(14px), 터치 높이 52px 이상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 버튼(Primary)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빨강 채움 / 조건 전에는 회색 비활성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보조 버튼(Secondary)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흰 바탕 + 회색 테두리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하위 화면 뒤로가기(&lt;) — 좌측 상단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8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필드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 위, 회색 테두리, 자리표시자 예시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★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글꼴: Pretendard / 숫자(거리·속도): Barlow Semi Condensed</a:t>
                      </a:r>
                      <a:endParaRPr sz="9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본문 14 · 제목 19~24 · 큰 숫자 30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>
                          <a:solidFill>
                            <a:srgbClr val="3F3F3F"/>
                          </a:solidFill>
                        </a:rPr>
                        <a:t>같은 종류의 요소는 어느 화면에서나 같은 모양, 같은 자리에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pic>
        <p:nvPicPr>
          <p:cNvPr id="20006" name="Picture 20005" descr="drive-api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55" y="777240"/>
            <a:ext cx="2429552" cy="525780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509555" y="777240"/>
            <a:ext cx="2429552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235235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상태 배너 · 하단 탭</a:t>
            </a:r>
          </a:p>
        </p:txBody>
      </p:sp>
      <p:sp>
        <p:nvSpPr>
          <p:cNvPr id="6004" name="marker 1"/>
          <p:cNvSpPr/>
          <p:nvPr/>
        </p:nvSpPr>
        <p:spPr>
          <a:xfrm>
            <a:off x="235235" y="77050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5" name="marker 2"/>
          <p:cNvSpPr/>
          <p:nvPr/>
        </p:nvSpPr>
        <p:spPr>
          <a:xfrm>
            <a:off x="235235" y="523713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6" name="marker 3"/>
          <p:cNvSpPr/>
          <p:nvPr/>
        </p:nvSpPr>
        <p:spPr>
          <a:xfrm>
            <a:off x="235235" y="564206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07" name="Picture 6006" descr="passe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503" y="777240"/>
            <a:ext cx="2429552" cy="5257800"/>
          </a:xfrm>
          <a:prstGeom prst="rect">
            <a:avLst/>
          </a:prstGeom>
        </p:spPr>
      </p:pic>
      <p:sp>
        <p:nvSpPr>
          <p:cNvPr id="6008" name="Rectangle 6007"/>
          <p:cNvSpPr/>
          <p:nvPr/>
        </p:nvSpPr>
        <p:spPr>
          <a:xfrm>
            <a:off x="3311503" y="777240"/>
            <a:ext cx="2429552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09" name="TextBox 6008"/>
          <p:cNvSpPr txBox="1"/>
          <p:nvPr/>
        </p:nvSpPr>
        <p:spPr>
          <a:xfrm>
            <a:off x="3037183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체크 카드 · 버튼</a:t>
            </a:r>
          </a:p>
        </p:txBody>
      </p:sp>
      <p:sp>
        <p:nvSpPr>
          <p:cNvPr id="20001" name="marker 4"/>
          <p:cNvSpPr/>
          <p:nvPr/>
        </p:nvSpPr>
        <p:spPr>
          <a:xfrm>
            <a:off x="3037183" y="184199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5"/>
          <p:cNvSpPr/>
          <p:nvPr/>
        </p:nvSpPr>
        <p:spPr>
          <a:xfrm>
            <a:off x="3037183" y="514369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3" name="marker 6"/>
          <p:cNvSpPr/>
          <p:nvPr/>
        </p:nvSpPr>
        <p:spPr>
          <a:xfrm>
            <a:off x="3037183" y="554862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10" name="Picture 6009" descr="login-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451" y="777240"/>
            <a:ext cx="2429552" cy="5257800"/>
          </a:xfrm>
          <a:prstGeom prst="rect">
            <a:avLst/>
          </a:prstGeom>
        </p:spPr>
      </p:pic>
      <p:sp>
        <p:nvSpPr>
          <p:cNvPr id="6011" name="Rectangle 6010"/>
          <p:cNvSpPr/>
          <p:nvPr/>
        </p:nvSpPr>
        <p:spPr>
          <a:xfrm>
            <a:off x="6113451" y="777240"/>
            <a:ext cx="2429552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12" name="TextBox 6011"/>
          <p:cNvSpPr txBox="1"/>
          <p:nvPr/>
        </p:nvSpPr>
        <p:spPr>
          <a:xfrm>
            <a:off x="5839131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뒤로가기 · 입력 필드</a:t>
            </a:r>
          </a:p>
        </p:txBody>
      </p:sp>
      <p:sp>
        <p:nvSpPr>
          <p:cNvPr id="20004" name="marker 7"/>
          <p:cNvSpPr/>
          <p:nvPr/>
        </p:nvSpPr>
        <p:spPr>
          <a:xfrm>
            <a:off x="5839131" y="73312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5" name="marker 8"/>
          <p:cNvSpPr/>
          <p:nvPr/>
        </p:nvSpPr>
        <p:spPr>
          <a:xfrm>
            <a:off x="5839131" y="193544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공통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화면 모드(낮 / 밤)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AP-CM-0002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공통 &gt; 내 정보 &gt; 화면 모드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733856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 — 밝은 지도 + 흰 카드</a:t>
                      </a:r>
                      <a:endParaRPr sz="9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옅은 그림자 + 큰 라운드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영상이 있으면 위 카드는 면 없이(투명) 영상만 띄우고, 한 줄 요약 글자는 어두운 그림자로 지도 위에 표시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밤 — 미드나잇 네이비</a:t>
                      </a:r>
                      <a:endParaRPr sz="9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카드를 지도보다 한 단계 밝게, 버튼 빨강은 한 단계 밝게(#F0303C)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지도도 밤 스타일로 함께 어두워짐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★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모드: 자동(기본) / 밝게 / 어둡게</a:t>
                      </a:r>
                      <a:endParaRPr sz="9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= 해가 지면 어둡게(일출·일몰 계산) — 저녁 CCTV 영상 밝기에 맞춤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!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 화면에서는 투명 요약 글자의 대비가 약해 보인다 — 대비 점검 필요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>
                          <a:solidFill>
                            <a:srgbClr val="3F3F3F"/>
                          </a:solidFill>
                        </a:rPr>
                        <a:t>밤에도 영상 주변이 눈부시지 않고, 글자는 낮과 같은 대비로 읽혀야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pic>
        <p:nvPicPr>
          <p:cNvPr id="20003" name="Picture 20002" descr="drive-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777240"/>
            <a:ext cx="2429552" cy="525780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320040" y="777240"/>
            <a:ext cx="2429552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45719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낮 (밝은 화면 · 모의 영상)</a:t>
            </a:r>
          </a:p>
        </p:txBody>
      </p:sp>
      <p:pic>
        <p:nvPicPr>
          <p:cNvPr id="20004" name="Picture 20003" descr="s7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849" y="777240"/>
            <a:ext cx="2386333" cy="5257800"/>
          </a:xfrm>
          <a:prstGeom prst="rect">
            <a:avLst/>
          </a:prstGeom>
        </p:spPr>
      </p:pic>
      <p:sp>
        <p:nvSpPr>
          <p:cNvPr id="6015" name="Rectangle 6014"/>
          <p:cNvSpPr/>
          <p:nvPr/>
        </p:nvSpPr>
        <p:spPr>
          <a:xfrm>
            <a:off x="3084849" y="777240"/>
            <a:ext cx="2386333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16" name="TextBox 6015"/>
          <p:cNvSpPr txBox="1"/>
          <p:nvPr/>
        </p:nvSpPr>
        <p:spPr>
          <a:xfrm>
            <a:off x="2788920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밤 (미드나잇 네이비 · 실제 CCTV)</a:t>
            </a:r>
          </a:p>
        </p:txBody>
      </p:sp>
      <p:sp>
        <p:nvSpPr>
          <p:cNvPr id="6017" name="TextBox 6016"/>
          <p:cNvSpPr txBox="1"/>
          <p:nvPr/>
        </p:nvSpPr>
        <p:spPr>
          <a:xfrm>
            <a:off x="5715000" y="822960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색상 토큰 (theme.js)</a:t>
            </a:r>
          </a:p>
        </p:txBody>
      </p:sp>
      <p:sp>
        <p:nvSpPr>
          <p:cNvPr id="6018" name="TextBox 6017"/>
          <p:cNvSpPr txBox="1"/>
          <p:nvPr/>
        </p:nvSpPr>
        <p:spPr>
          <a:xfrm>
            <a:off x="6720840" y="1143000"/>
            <a:ext cx="9144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낮</a:t>
            </a:r>
          </a:p>
        </p:txBody>
      </p:sp>
      <p:sp>
        <p:nvSpPr>
          <p:cNvPr id="6019" name="TextBox 6018"/>
          <p:cNvSpPr txBox="1"/>
          <p:nvPr/>
        </p:nvSpPr>
        <p:spPr>
          <a:xfrm>
            <a:off x="7772400" y="1143000"/>
            <a:ext cx="9144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밤</a:t>
            </a:r>
          </a:p>
        </p:txBody>
      </p:sp>
      <p:sp>
        <p:nvSpPr>
          <p:cNvPr id="6020" name="TextBox 6019"/>
          <p:cNvSpPr txBox="1"/>
          <p:nvPr/>
        </p:nvSpPr>
        <p:spPr>
          <a:xfrm>
            <a:off x="5715000" y="1463040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바탕</a:t>
            </a:r>
          </a:p>
        </p:txBody>
      </p:sp>
      <p:sp>
        <p:nvSpPr>
          <p:cNvPr id="6021" name="Rounded Rectangle 6020"/>
          <p:cNvSpPr/>
          <p:nvPr/>
        </p:nvSpPr>
        <p:spPr>
          <a:xfrm>
            <a:off x="6766560" y="1417320"/>
            <a:ext cx="868680" cy="347472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#F3F4F6</a:t>
            </a:r>
          </a:p>
        </p:txBody>
      </p:sp>
      <p:sp>
        <p:nvSpPr>
          <p:cNvPr id="6022" name="Rounded Rectangle 6021"/>
          <p:cNvSpPr/>
          <p:nvPr/>
        </p:nvSpPr>
        <p:spPr>
          <a:xfrm>
            <a:off x="7818120" y="1417320"/>
            <a:ext cx="868680" cy="347472"/>
          </a:xfrm>
          <a:prstGeom prst="roundRect">
            <a:avLst/>
          </a:prstGeom>
          <a:solidFill>
            <a:srgbClr val="0E142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#0E1422</a:t>
            </a:r>
          </a:p>
        </p:txBody>
      </p:sp>
      <p:sp>
        <p:nvSpPr>
          <p:cNvPr id="6023" name="TextBox 6022"/>
          <p:cNvSpPr txBox="1"/>
          <p:nvPr/>
        </p:nvSpPr>
        <p:spPr>
          <a:xfrm>
            <a:off x="5715000" y="1920239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카드</a:t>
            </a:r>
          </a:p>
        </p:txBody>
      </p:sp>
      <p:sp>
        <p:nvSpPr>
          <p:cNvPr id="6024" name="Rounded Rectangle 6023"/>
          <p:cNvSpPr/>
          <p:nvPr/>
        </p:nvSpPr>
        <p:spPr>
          <a:xfrm>
            <a:off x="6766560" y="1874519"/>
            <a:ext cx="8686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#FFFFFF</a:t>
            </a:r>
          </a:p>
        </p:txBody>
      </p:sp>
      <p:sp>
        <p:nvSpPr>
          <p:cNvPr id="6025" name="Rounded Rectangle 6024"/>
          <p:cNvSpPr/>
          <p:nvPr/>
        </p:nvSpPr>
        <p:spPr>
          <a:xfrm>
            <a:off x="7818120" y="1874519"/>
            <a:ext cx="868680" cy="347472"/>
          </a:xfrm>
          <a:prstGeom prst="roundRect">
            <a:avLst/>
          </a:prstGeom>
          <a:solidFill>
            <a:srgbClr val="1A2134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#1A2134</a:t>
            </a:r>
          </a:p>
        </p:txBody>
      </p:sp>
      <p:sp>
        <p:nvSpPr>
          <p:cNvPr id="6026" name="TextBox 6025"/>
          <p:cNvSpPr txBox="1"/>
          <p:nvPr/>
        </p:nvSpPr>
        <p:spPr>
          <a:xfrm>
            <a:off x="5715000" y="2377439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글자(강)</a:t>
            </a:r>
          </a:p>
        </p:txBody>
      </p:sp>
      <p:sp>
        <p:nvSpPr>
          <p:cNvPr id="6027" name="Rounded Rectangle 6026"/>
          <p:cNvSpPr/>
          <p:nvPr/>
        </p:nvSpPr>
        <p:spPr>
          <a:xfrm>
            <a:off x="6766560" y="2331720"/>
            <a:ext cx="868680" cy="347472"/>
          </a:xfrm>
          <a:prstGeom prst="roundRect">
            <a:avLst/>
          </a:prstGeom>
          <a:solidFill>
            <a:srgbClr val="191B1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#191B1E</a:t>
            </a:r>
          </a:p>
        </p:txBody>
      </p:sp>
      <p:sp>
        <p:nvSpPr>
          <p:cNvPr id="6028" name="Rounded Rectangle 6027"/>
          <p:cNvSpPr/>
          <p:nvPr/>
        </p:nvSpPr>
        <p:spPr>
          <a:xfrm>
            <a:off x="7818120" y="2331720"/>
            <a:ext cx="868680" cy="347472"/>
          </a:xfrm>
          <a:prstGeom prst="roundRect">
            <a:avLst/>
          </a:prstGeom>
          <a:solidFill>
            <a:srgbClr val="E8EC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#E8ECF5</a:t>
            </a:r>
          </a:p>
        </p:txBody>
      </p:sp>
      <p:sp>
        <p:nvSpPr>
          <p:cNvPr id="6029" name="TextBox 6028"/>
          <p:cNvSpPr txBox="1"/>
          <p:nvPr/>
        </p:nvSpPr>
        <p:spPr>
          <a:xfrm>
            <a:off x="5715000" y="2834639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누르는 것</a:t>
            </a:r>
          </a:p>
        </p:txBody>
      </p:sp>
      <p:sp>
        <p:nvSpPr>
          <p:cNvPr id="6030" name="Rounded Rectangle 6029"/>
          <p:cNvSpPr/>
          <p:nvPr/>
        </p:nvSpPr>
        <p:spPr>
          <a:xfrm>
            <a:off x="6766560" y="2788920"/>
            <a:ext cx="868680" cy="347472"/>
          </a:xfrm>
          <a:prstGeom prst="roundRect">
            <a:avLst/>
          </a:prstGeom>
          <a:solidFill>
            <a:srgbClr val="D7101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#D7101C</a:t>
            </a:r>
          </a:p>
        </p:txBody>
      </p:sp>
      <p:sp>
        <p:nvSpPr>
          <p:cNvPr id="6031" name="Rounded Rectangle 6030"/>
          <p:cNvSpPr/>
          <p:nvPr/>
        </p:nvSpPr>
        <p:spPr>
          <a:xfrm>
            <a:off x="7818120" y="2788920"/>
            <a:ext cx="868680" cy="347472"/>
          </a:xfrm>
          <a:prstGeom prst="roundRect">
            <a:avLst/>
          </a:prstGeom>
          <a:solidFill>
            <a:srgbClr val="F0303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#F0303C</a:t>
            </a:r>
          </a:p>
        </p:txBody>
      </p:sp>
      <p:sp>
        <p:nvSpPr>
          <p:cNvPr id="6032" name="TextBox 6031"/>
          <p:cNvSpPr txBox="1"/>
          <p:nvPr/>
        </p:nvSpPr>
        <p:spPr>
          <a:xfrm>
            <a:off x="5715000" y="3383280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신호 색 (낮·밤 공통)</a:t>
            </a:r>
          </a:p>
        </p:txBody>
      </p:sp>
      <p:sp>
        <p:nvSpPr>
          <p:cNvPr id="6033" name="Rounded Rectangle 6032"/>
          <p:cNvSpPr/>
          <p:nvPr/>
        </p:nvSpPr>
        <p:spPr>
          <a:xfrm>
            <a:off x="5715000" y="3749039"/>
            <a:ext cx="932688" cy="36576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사고</a:t>
            </a:r>
          </a:p>
        </p:txBody>
      </p:sp>
      <p:sp>
        <p:nvSpPr>
          <p:cNvPr id="6034" name="Rounded Rectangle 6033"/>
          <p:cNvSpPr/>
          <p:nvPr/>
        </p:nvSpPr>
        <p:spPr>
          <a:xfrm>
            <a:off x="6739128" y="3749039"/>
            <a:ext cx="932688" cy="365760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공사</a:t>
            </a:r>
          </a:p>
        </p:txBody>
      </p:sp>
      <p:sp>
        <p:nvSpPr>
          <p:cNvPr id="6035" name="Rounded Rectangle 6034"/>
          <p:cNvSpPr/>
          <p:nvPr/>
        </p:nvSpPr>
        <p:spPr>
          <a:xfrm>
            <a:off x="7763256" y="3749039"/>
            <a:ext cx="932688" cy="365760"/>
          </a:xfrm>
          <a:prstGeom prst="roundRect">
            <a:avLst/>
          </a:prstGeom>
          <a:solidFill>
            <a:srgbClr val="3D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통제</a:t>
            </a:r>
          </a:p>
        </p:txBody>
      </p:sp>
      <p:sp>
        <p:nvSpPr>
          <p:cNvPr id="6036" name="Rounded Rectangle 6035"/>
          <p:cNvSpPr/>
          <p:nvPr/>
        </p:nvSpPr>
        <p:spPr>
          <a:xfrm>
            <a:off x="5715000" y="4251959"/>
            <a:ext cx="932688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A1A12"/>
                </a:solidFill>
                <a:latin typeface="Malgun Gothic"/>
                <a:ea typeface="Malgun Gothic"/>
                <a:cs typeface="Malgun Gothic"/>
              </a:rPr>
              <a:t>내 앞 CCTV</a:t>
            </a:r>
          </a:p>
        </p:txBody>
      </p:sp>
      <p:sp>
        <p:nvSpPr>
          <p:cNvPr id="6037" name="Rounded Rectangle 6036"/>
          <p:cNvSpPr/>
          <p:nvPr/>
        </p:nvSpPr>
        <p:spPr>
          <a:xfrm>
            <a:off x="6739128" y="4251959"/>
            <a:ext cx="932688" cy="365760"/>
          </a:xfrm>
          <a:prstGeom prst="roundRect">
            <a:avLst/>
          </a:prstGeom>
          <a:solidFill>
            <a:srgbClr val="0B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도로 표지</a:t>
            </a:r>
          </a:p>
        </p:txBody>
      </p:sp>
      <p:sp>
        <p:nvSpPr>
          <p:cNvPr id="6038" name="TextBox 6037"/>
          <p:cNvSpPr txBox="1"/>
          <p:nvPr/>
        </p:nvSpPr>
        <p:spPr>
          <a:xfrm>
            <a:off x="5715000" y="4892040"/>
            <a:ext cx="315468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돌발 색은 항상 글자(사고·공사·통제)와 함께 쓴다.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소통 상태도 색 + 글자(원활·서행·지체·정체).</a:t>
            </a:r>
          </a:p>
        </p:txBody>
      </p:sp>
      <p:sp>
        <p:nvSpPr>
          <p:cNvPr id="30001" name="marker 1"/>
          <p:cNvSpPr/>
          <p:nvPr/>
        </p:nvSpPr>
        <p:spPr>
          <a:xfrm>
            <a:off x="396441" y="376960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02" name="marker 2"/>
          <p:cNvSpPr/>
          <p:nvPr/>
        </p:nvSpPr>
        <p:spPr>
          <a:xfrm>
            <a:off x="542214" y="271804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03" name="marker 3"/>
          <p:cNvSpPr/>
          <p:nvPr/>
        </p:nvSpPr>
        <p:spPr>
          <a:xfrm>
            <a:off x="3301836" y="224484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04" name="marker 4"/>
          <p:cNvSpPr/>
          <p:nvPr/>
        </p:nvSpPr>
        <p:spPr>
          <a:xfrm>
            <a:off x="4327960" y="376960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oogle Shape;1039;p14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1040" name="Google Shape;1040;p14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1041" name="Google Shape;1041;p14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42" name="Google Shape;1042;p14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43" name="Google Shape;1043;p14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4" name="Google Shape;1044;p14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45" name="Google Shape;1045;p14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9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흐름도</a:t>
            </a:r>
            <a:endParaRPr sz="2799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6" name="Google Shape;1046;p14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7" name="Google Shape;104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서비스 흐름도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Main User Flow (기능흐름도)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AP-FL-0001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앱 실행 &gt; 주행 준비 &gt; 주행(반복)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4230384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L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로그인은 선택</a:t>
                      </a:r>
                      <a:endParaRPr sz="8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'로그인 없이 시작'이면 바로 동승자 확인으로</a:t>
                      </a:r>
                      <a:endParaRPr sz="8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로그인한 사람만 약관 동의·가입 완료(처음 한 번)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주행마다 '저는 조수석 동승자입니다' 확인(저장 안 함)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위치 권한은 최초 1회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4~6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위치·진행 방향 → 내 앞 CCTV 선별</a:t>
                      </a:r>
                      <a:endParaRPr sz="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목적지 없음: 진행 방향 ±30°, 5km 부채꼴, 반대 차로 제외</a:t>
                      </a:r>
                      <a:endParaRPr sz="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달리는 도로를 알면 그 도로 앞 6km만</a:t>
                      </a:r>
                      <a:endParaRPr sz="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목적지 있음: 경로 위 CCTV만 가까운 순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7~8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돌발 배지 확인 후 다른 카드를 넘겨 정체 범위 확인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9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30초 또는 500m 이동마다 자동 갱신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E1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체크 전에는 영상 화면으로 갈 수 없음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E2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권한이 필요한 이유 + 설정 이동, 목록 비움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E3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최근 좌표 궤적으로 방향 계산, 끊기면 마지막 유효 방향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E4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'앞쪽 5km 안에 CCTV가 없어요' + 재탐색 카운트다운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E5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다음 CCTV로 자동 전환, 카드에 '영상 없음'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3F3F3F"/>
                          </a:solidFill>
                        </a:rPr>
                        <a:t>E6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 캐시(60초) 목록 + 연결 실패 배너</a:t>
                      </a:r>
                      <a:endParaRPr sz="8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>
                          <a:solidFill>
                            <a:srgbClr val="3F3F3F"/>
                          </a:solidFill>
                        </a:rPr>
                        <a:t>로그인 없이도 앱 실행부터 영상 재생까지 막힘없이 이어지고, 예외가 생겨도 다음 갱신 때 스스로 돌아와야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sp>
        <p:nvSpPr>
          <p:cNvPr id="1211" name="Rectangle 1210"/>
          <p:cNvSpPr/>
          <p:nvPr/>
        </p:nvSpPr>
        <p:spPr>
          <a:xfrm>
            <a:off x="91440" y="685800"/>
            <a:ext cx="685800" cy="1234440"/>
          </a:xfrm>
          <a:prstGeom prst="rect">
            <a:avLst/>
          </a:prstGeom>
          <a:solidFill>
            <a:srgbClr val="DCE6F2"/>
          </a:solidFill>
          <a:ln w="9525">
            <a:solidFill>
              <a:srgbClr val="8EA9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진입·로그인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(선택)</a:t>
            </a:r>
          </a:p>
        </p:txBody>
      </p:sp>
      <p:sp>
        <p:nvSpPr>
          <p:cNvPr id="1212" name="Rectangle 1211"/>
          <p:cNvSpPr/>
          <p:nvPr/>
        </p:nvSpPr>
        <p:spPr>
          <a:xfrm>
            <a:off x="777240" y="685800"/>
            <a:ext cx="8229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Rectangle 1212"/>
          <p:cNvSpPr/>
          <p:nvPr/>
        </p:nvSpPr>
        <p:spPr>
          <a:xfrm>
            <a:off x="91440" y="1965960"/>
            <a:ext cx="685800" cy="1234440"/>
          </a:xfrm>
          <a:prstGeom prst="rect">
            <a:avLst/>
          </a:prstGeom>
          <a:solidFill>
            <a:srgbClr val="DCE6F2"/>
          </a:solidFill>
          <a:ln w="9525">
            <a:solidFill>
              <a:srgbClr val="8EA9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주행 준비</a:t>
            </a:r>
          </a:p>
        </p:txBody>
      </p:sp>
      <p:sp>
        <p:nvSpPr>
          <p:cNvPr id="1214" name="Rectangle 1213"/>
          <p:cNvSpPr/>
          <p:nvPr/>
        </p:nvSpPr>
        <p:spPr>
          <a:xfrm>
            <a:off x="777240" y="1965960"/>
            <a:ext cx="8229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5" name="Rectangle 1214"/>
          <p:cNvSpPr/>
          <p:nvPr/>
        </p:nvSpPr>
        <p:spPr>
          <a:xfrm>
            <a:off x="91440" y="3246120"/>
            <a:ext cx="685800" cy="1783080"/>
          </a:xfrm>
          <a:prstGeom prst="rect">
            <a:avLst/>
          </a:prstGeom>
          <a:solidFill>
            <a:srgbClr val="DCE6F2"/>
          </a:solidFill>
          <a:ln w="9525">
            <a:solidFill>
              <a:srgbClr val="8EA9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주행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(반복)</a:t>
            </a:r>
          </a:p>
        </p:txBody>
      </p:sp>
      <p:sp>
        <p:nvSpPr>
          <p:cNvPr id="1216" name="Rectangle 1215"/>
          <p:cNvSpPr/>
          <p:nvPr/>
        </p:nvSpPr>
        <p:spPr>
          <a:xfrm>
            <a:off x="777240" y="3246120"/>
            <a:ext cx="8229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7" name="Rectangle 1216"/>
          <p:cNvSpPr/>
          <p:nvPr/>
        </p:nvSpPr>
        <p:spPr>
          <a:xfrm>
            <a:off x="91440" y="5074920"/>
            <a:ext cx="685800" cy="1600200"/>
          </a:xfrm>
          <a:prstGeom prst="rect">
            <a:avLst/>
          </a:prstGeom>
          <a:solidFill>
            <a:srgbClr val="DCE6F2"/>
          </a:solidFill>
          <a:ln w="9525">
            <a:solidFill>
              <a:srgbClr val="8EA9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1218" name="Rectangle 1217"/>
          <p:cNvSpPr/>
          <p:nvPr/>
        </p:nvSpPr>
        <p:spPr>
          <a:xfrm>
            <a:off x="777240" y="5074920"/>
            <a:ext cx="82296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9" name="Terminator 1218"/>
          <p:cNvSpPr/>
          <p:nvPr/>
        </p:nvSpPr>
        <p:spPr>
          <a:xfrm>
            <a:off x="914400" y="1097280"/>
            <a:ext cx="914400" cy="411480"/>
          </a:xfrm>
          <a:prstGeom prst="flowChartTerminator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START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앱 실행</a:t>
            </a:r>
          </a:p>
        </p:txBody>
      </p:sp>
      <p:sp>
        <p:nvSpPr>
          <p:cNvPr id="1220" name="Process 1219"/>
          <p:cNvSpPr/>
          <p:nvPr/>
        </p:nvSpPr>
        <p:spPr>
          <a:xfrm>
            <a:off x="2103120" y="1097280"/>
            <a:ext cx="914400" cy="41148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스플래시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1-1</a:t>
            </a:r>
          </a:p>
        </p:txBody>
      </p:sp>
      <p:sp>
        <p:nvSpPr>
          <p:cNvPr id="1221" name="Decision 1220"/>
          <p:cNvSpPr/>
          <p:nvPr/>
        </p:nvSpPr>
        <p:spPr>
          <a:xfrm>
            <a:off x="3246120" y="987552"/>
            <a:ext cx="1097280" cy="640080"/>
          </a:xfrm>
          <a:prstGeom prst="flowChartDecision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1222" name="Process 1221"/>
          <p:cNvSpPr/>
          <p:nvPr/>
        </p:nvSpPr>
        <p:spPr>
          <a:xfrm>
            <a:off x="4617720" y="1097280"/>
            <a:ext cx="960120" cy="41148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L1 로그인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1-2~1-5</a:t>
            </a:r>
          </a:p>
        </p:txBody>
      </p:sp>
      <p:sp>
        <p:nvSpPr>
          <p:cNvPr id="1223" name="Process 1222"/>
          <p:cNvSpPr/>
          <p:nvPr/>
        </p:nvSpPr>
        <p:spPr>
          <a:xfrm>
            <a:off x="5852160" y="1097280"/>
            <a:ext cx="960120" cy="41148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L2 약관 동의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1-6</a:t>
            </a:r>
          </a:p>
        </p:txBody>
      </p:sp>
      <p:sp>
        <p:nvSpPr>
          <p:cNvPr id="1224" name="Process 1223"/>
          <p:cNvSpPr/>
          <p:nvPr/>
        </p:nvSpPr>
        <p:spPr>
          <a:xfrm>
            <a:off x="7086600" y="1097280"/>
            <a:ext cx="960120" cy="41148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L3 가입 완료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1-7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1828800" y="130302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3017520" y="1303020"/>
            <a:ext cx="22860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4343400" y="130302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>
            <a:off x="5577840" y="130302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1228"/>
          <p:cNvCxnSpPr/>
          <p:nvPr/>
        </p:nvCxnSpPr>
        <p:spPr>
          <a:xfrm>
            <a:off x="6812280" y="130302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0" name="TextBox 1229"/>
          <p:cNvSpPr txBox="1"/>
          <p:nvPr/>
        </p:nvSpPr>
        <p:spPr>
          <a:xfrm>
            <a:off x="4315968" y="1078992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3566160" y="164592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아니오(로그인 없이 시작)</a:t>
            </a:r>
          </a:p>
        </p:txBody>
      </p:sp>
      <p:sp>
        <p:nvSpPr>
          <p:cNvPr id="1232" name="Process 1231"/>
          <p:cNvSpPr/>
          <p:nvPr/>
        </p:nvSpPr>
        <p:spPr>
          <a:xfrm>
            <a:off x="914400" y="2331720"/>
            <a:ext cx="1051560" cy="45720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2 동승자 확인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2-1</a:t>
            </a:r>
          </a:p>
        </p:txBody>
      </p:sp>
      <p:sp>
        <p:nvSpPr>
          <p:cNvPr id="1233" name="Decision 1232"/>
          <p:cNvSpPr/>
          <p:nvPr/>
        </p:nvSpPr>
        <p:spPr>
          <a:xfrm>
            <a:off x="2240280" y="2240280"/>
            <a:ext cx="1143000" cy="640080"/>
          </a:xfrm>
          <a:prstGeom prst="flowChartDecision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체크?</a:t>
            </a:r>
          </a:p>
        </p:txBody>
      </p:sp>
      <p:sp>
        <p:nvSpPr>
          <p:cNvPr id="1234" name="Process 1233"/>
          <p:cNvSpPr/>
          <p:nvPr/>
        </p:nvSpPr>
        <p:spPr>
          <a:xfrm>
            <a:off x="3703320" y="2331720"/>
            <a:ext cx="1051560" cy="45720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 위치 권한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2-2 (최초 1회)</a:t>
            </a:r>
          </a:p>
        </p:txBody>
      </p:sp>
      <p:sp>
        <p:nvSpPr>
          <p:cNvPr id="1235" name="Decision 1234"/>
          <p:cNvSpPr/>
          <p:nvPr/>
        </p:nvSpPr>
        <p:spPr>
          <a:xfrm>
            <a:off x="5029200" y="2240280"/>
            <a:ext cx="1143000" cy="640080"/>
          </a:xfrm>
          <a:prstGeom prst="flowChartDecision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허용?</a:t>
            </a:r>
          </a:p>
        </p:txBody>
      </p:sp>
      <p:cxnSp>
        <p:nvCxnSpPr>
          <p:cNvPr id="1236" name="Connector 1235"/>
          <p:cNvCxnSpPr/>
          <p:nvPr/>
        </p:nvCxnSpPr>
        <p:spPr>
          <a:xfrm>
            <a:off x="1965960" y="256032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>
            <a:off x="3383280" y="2560320"/>
            <a:ext cx="32004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>
            <a:off x="4754880" y="256032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9" name="TextBox 1238"/>
          <p:cNvSpPr txBox="1"/>
          <p:nvPr/>
        </p:nvSpPr>
        <p:spPr>
          <a:xfrm>
            <a:off x="3383280" y="234086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240" name="Connector 1239"/>
          <p:cNvCxnSpPr/>
          <p:nvPr/>
        </p:nvCxnSpPr>
        <p:spPr>
          <a:xfrm>
            <a:off x="3794760" y="1627632"/>
            <a:ext cx="0" cy="246887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 flipH="1">
            <a:off x="1444752" y="1874519"/>
            <a:ext cx="2350008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>
            <a:off x="1444752" y="1874519"/>
            <a:ext cx="0" cy="457201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>
            <a:off x="7571231" y="1508760"/>
            <a:ext cx="0" cy="365759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Connector 1243"/>
          <p:cNvCxnSpPr/>
          <p:nvPr/>
        </p:nvCxnSpPr>
        <p:spPr>
          <a:xfrm flipH="1">
            <a:off x="3794760" y="1874519"/>
            <a:ext cx="3776471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5" name="Process 1244"/>
          <p:cNvSpPr/>
          <p:nvPr/>
        </p:nvSpPr>
        <p:spPr>
          <a:xfrm>
            <a:off x="914400" y="3520440"/>
            <a:ext cx="1143000" cy="54864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위치·방향 산출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1초 주기, 맵매칭</a:t>
            </a:r>
          </a:p>
        </p:txBody>
      </p:sp>
      <p:sp>
        <p:nvSpPr>
          <p:cNvPr id="1246" name="Process 1245"/>
          <p:cNvSpPr/>
          <p:nvPr/>
        </p:nvSpPr>
        <p:spPr>
          <a:xfrm>
            <a:off x="2258568" y="3520440"/>
            <a:ext cx="1143000" cy="54864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 전방 CCTV 선별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±30°·5km / 경로 위</a:t>
            </a:r>
          </a:p>
        </p:txBody>
      </p:sp>
      <p:sp>
        <p:nvSpPr>
          <p:cNvPr id="1247" name="Process 1246"/>
          <p:cNvSpPr/>
          <p:nvPr/>
        </p:nvSpPr>
        <p:spPr>
          <a:xfrm>
            <a:off x="3602736" y="3520440"/>
            <a:ext cx="1143000" cy="54864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6 목록·자동 재생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가까운 순 5개</a:t>
            </a:r>
          </a:p>
        </p:txBody>
      </p:sp>
      <p:sp>
        <p:nvSpPr>
          <p:cNvPr id="1248" name="Process 1247"/>
          <p:cNvSpPr/>
          <p:nvPr/>
        </p:nvSpPr>
        <p:spPr>
          <a:xfrm>
            <a:off x="4946904" y="3520440"/>
            <a:ext cx="1143000" cy="54864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7 돌발 배지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사고·공사·통제</a:t>
            </a:r>
          </a:p>
        </p:txBody>
      </p:sp>
      <p:sp>
        <p:nvSpPr>
          <p:cNvPr id="1249" name="Process 1248"/>
          <p:cNvSpPr/>
          <p:nvPr/>
        </p:nvSpPr>
        <p:spPr>
          <a:xfrm>
            <a:off x="6291072" y="3520440"/>
            <a:ext cx="1143000" cy="54864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8 카드 전환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다른 CCTV로 범위 확인</a:t>
            </a:r>
          </a:p>
        </p:txBody>
      </p:sp>
      <p:sp>
        <p:nvSpPr>
          <p:cNvPr id="1250" name="Process 1249"/>
          <p:cNvSpPr/>
          <p:nvPr/>
        </p:nvSpPr>
        <p:spPr>
          <a:xfrm>
            <a:off x="7635240" y="3520440"/>
            <a:ext cx="1143000" cy="548640"/>
          </a:xfrm>
          <a:prstGeom prst="flowChartProcess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9 자동 갱신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30초 또는 500m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2057400" y="3794760"/>
            <a:ext cx="201168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>
            <a:off x="3401568" y="3794760"/>
            <a:ext cx="201168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>
            <a:off x="4745736" y="3794760"/>
            <a:ext cx="201168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Connector 1253"/>
          <p:cNvCxnSpPr/>
          <p:nvPr/>
        </p:nvCxnSpPr>
        <p:spPr>
          <a:xfrm>
            <a:off x="6089904" y="3794760"/>
            <a:ext cx="201168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Connector 1254"/>
          <p:cNvCxnSpPr/>
          <p:nvPr/>
        </p:nvCxnSpPr>
        <p:spPr>
          <a:xfrm>
            <a:off x="7434071" y="3794760"/>
            <a:ext cx="201169" cy="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Connector 1255"/>
          <p:cNvCxnSpPr/>
          <p:nvPr/>
        </p:nvCxnSpPr>
        <p:spPr>
          <a:xfrm>
            <a:off x="8202167" y="4069080"/>
            <a:ext cx="0" cy="36576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nector 1256"/>
          <p:cNvCxnSpPr/>
          <p:nvPr/>
        </p:nvCxnSpPr>
        <p:spPr>
          <a:xfrm flipH="1">
            <a:off x="1481328" y="4434840"/>
            <a:ext cx="6720839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Connector 1257"/>
          <p:cNvCxnSpPr/>
          <p:nvPr/>
        </p:nvCxnSpPr>
        <p:spPr>
          <a:xfrm flipV="1">
            <a:off x="1481328" y="4069080"/>
            <a:ext cx="0" cy="365760"/>
          </a:xfrm>
          <a:prstGeom prst="line">
            <a:avLst/>
          </a:prstGeom>
          <a:ln w="1270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" name="TextBox 1258"/>
          <p:cNvSpPr txBox="1"/>
          <p:nvPr/>
        </p:nvSpPr>
        <p:spPr>
          <a:xfrm>
            <a:off x="3291840" y="4453128"/>
            <a:ext cx="3291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0">
                <a:solidFill>
                  <a:srgbClr val="2E75B6"/>
                </a:solidFill>
                <a:latin typeface="Malgun Gothic"/>
                <a:ea typeface="Malgun Gothic"/>
                <a:cs typeface="Malgun Gothic"/>
              </a:rPr>
              <a:t>지나친 CCTV 제외 후 4번부터 반복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6199632" y="2340864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261" name="Connector 1260"/>
          <p:cNvCxnSpPr/>
          <p:nvPr/>
        </p:nvCxnSpPr>
        <p:spPr>
          <a:xfrm>
            <a:off x="6172200" y="2560320"/>
            <a:ext cx="260604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>
            <a:off x="8778240" y="2560320"/>
            <a:ext cx="0" cy="73152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Connector 1262"/>
          <p:cNvCxnSpPr/>
          <p:nvPr/>
        </p:nvCxnSpPr>
        <p:spPr>
          <a:xfrm flipH="1">
            <a:off x="1481328" y="3291840"/>
            <a:ext cx="7296912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nector 1263"/>
          <p:cNvCxnSpPr/>
          <p:nvPr/>
        </p:nvCxnSpPr>
        <p:spPr>
          <a:xfrm>
            <a:off x="1481328" y="3291840"/>
            <a:ext cx="0" cy="22860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5" name="Rounded Rectangle 1264"/>
          <p:cNvSpPr/>
          <p:nvPr/>
        </p:nvSpPr>
        <p:spPr>
          <a:xfrm>
            <a:off x="914400" y="5440680"/>
            <a:ext cx="1188720" cy="566928"/>
          </a:xfrm>
          <a:prstGeom prst="roundRect">
            <a:avLst/>
          </a:prstGeom>
          <a:solidFill>
            <a:srgbClr val="FDE9E7"/>
          </a:solidFill>
          <a:ln w="9525">
            <a:solidFill>
              <a:srgbClr val="E5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E1 동승자 미확인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2단계 · 확인 화면 유지</a:t>
            </a:r>
          </a:p>
        </p:txBody>
      </p:sp>
      <p:sp>
        <p:nvSpPr>
          <p:cNvPr id="1266" name="Rounded Rectangle 1265"/>
          <p:cNvSpPr/>
          <p:nvPr/>
        </p:nvSpPr>
        <p:spPr>
          <a:xfrm>
            <a:off x="2258568" y="5440680"/>
            <a:ext cx="1188720" cy="566928"/>
          </a:xfrm>
          <a:prstGeom prst="roundRect">
            <a:avLst/>
          </a:prstGeom>
          <a:solidFill>
            <a:srgbClr val="FDE9E7"/>
          </a:solidFill>
          <a:ln w="9525">
            <a:solidFill>
              <a:srgbClr val="E5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E2 권한 거부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3단계 · 설정 이동 안내</a:t>
            </a:r>
          </a:p>
        </p:txBody>
      </p:sp>
      <p:sp>
        <p:nvSpPr>
          <p:cNvPr id="1267" name="Rounded Rectangle 1266"/>
          <p:cNvSpPr/>
          <p:nvPr/>
        </p:nvSpPr>
        <p:spPr>
          <a:xfrm>
            <a:off x="3602736" y="5440680"/>
            <a:ext cx="1188720" cy="566928"/>
          </a:xfrm>
          <a:prstGeom prst="roundRect">
            <a:avLst/>
          </a:prstGeom>
          <a:solidFill>
            <a:srgbClr val="FDE9E7"/>
          </a:solidFill>
          <a:ln w="9525">
            <a:solidFill>
              <a:srgbClr val="E5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E3 정차·저속·터널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4단계 · 마지막 방향 유지</a:t>
            </a:r>
          </a:p>
        </p:txBody>
      </p:sp>
      <p:sp>
        <p:nvSpPr>
          <p:cNvPr id="1268" name="Rounded Rectangle 1267"/>
          <p:cNvSpPr/>
          <p:nvPr/>
        </p:nvSpPr>
        <p:spPr>
          <a:xfrm>
            <a:off x="4946904" y="5440680"/>
            <a:ext cx="1188720" cy="566928"/>
          </a:xfrm>
          <a:prstGeom prst="roundRect">
            <a:avLst/>
          </a:prstGeom>
          <a:solidFill>
            <a:srgbClr val="FDE9E7"/>
          </a:solidFill>
          <a:ln w="9525">
            <a:solidFill>
              <a:srgbClr val="E5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E4 전방 CCTV 없음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5단계 · 안내 후 재탐색</a:t>
            </a:r>
          </a:p>
        </p:txBody>
      </p:sp>
      <p:sp>
        <p:nvSpPr>
          <p:cNvPr id="1269" name="Rounded Rectangle 1268"/>
          <p:cNvSpPr/>
          <p:nvPr/>
        </p:nvSpPr>
        <p:spPr>
          <a:xfrm>
            <a:off x="6291072" y="5440680"/>
            <a:ext cx="1188720" cy="566928"/>
          </a:xfrm>
          <a:prstGeom prst="roundRect">
            <a:avLst/>
          </a:prstGeom>
          <a:solidFill>
            <a:srgbClr val="FDE9E7"/>
          </a:solidFill>
          <a:ln w="9525">
            <a:solidFill>
              <a:srgbClr val="E5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E5 영상 재생 실패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6단계 · 다음 CCTV로</a:t>
            </a:r>
          </a:p>
        </p:txBody>
      </p:sp>
      <p:sp>
        <p:nvSpPr>
          <p:cNvPr id="1270" name="Rounded Rectangle 1269"/>
          <p:cNvSpPr/>
          <p:nvPr/>
        </p:nvSpPr>
        <p:spPr>
          <a:xfrm>
            <a:off x="7635240" y="5440680"/>
            <a:ext cx="1188720" cy="566928"/>
          </a:xfrm>
          <a:prstGeom prst="roundRect">
            <a:avLst/>
          </a:prstGeom>
          <a:solidFill>
            <a:srgbClr val="FDE9E7"/>
          </a:solidFill>
          <a:ln w="9525">
            <a:solidFill>
              <a:srgbClr val="E5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E6 ITS API 장애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5단계 · 캐시(60초) 표시</a:t>
            </a:r>
          </a:p>
        </p:txBody>
      </p:sp>
      <p:sp>
        <p:nvSpPr>
          <p:cNvPr id="1271" name="Rounded Rectangle 1270"/>
          <p:cNvSpPr/>
          <p:nvPr/>
        </p:nvSpPr>
        <p:spPr>
          <a:xfrm>
            <a:off x="2642616" y="2898648"/>
            <a:ext cx="329184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E1</a:t>
            </a:r>
          </a:p>
        </p:txBody>
      </p:sp>
      <p:sp>
        <p:nvSpPr>
          <p:cNvPr id="1272" name="Rounded Rectangle 1271"/>
          <p:cNvSpPr/>
          <p:nvPr/>
        </p:nvSpPr>
        <p:spPr>
          <a:xfrm>
            <a:off x="5431536" y="2898648"/>
            <a:ext cx="329184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E2</a:t>
            </a:r>
          </a:p>
        </p:txBody>
      </p:sp>
      <p:sp>
        <p:nvSpPr>
          <p:cNvPr id="1273" name="Rounded Rectangle 1272"/>
          <p:cNvSpPr/>
          <p:nvPr/>
        </p:nvSpPr>
        <p:spPr>
          <a:xfrm>
            <a:off x="1783080" y="3429000"/>
            <a:ext cx="329184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E3</a:t>
            </a:r>
          </a:p>
        </p:txBody>
      </p:sp>
      <p:sp>
        <p:nvSpPr>
          <p:cNvPr id="1274" name="Rounded Rectangle 1273"/>
          <p:cNvSpPr/>
          <p:nvPr/>
        </p:nvSpPr>
        <p:spPr>
          <a:xfrm>
            <a:off x="2761487" y="3429000"/>
            <a:ext cx="329184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E4</a:t>
            </a:r>
          </a:p>
        </p:txBody>
      </p:sp>
      <p:sp>
        <p:nvSpPr>
          <p:cNvPr id="1275" name="Rounded Rectangle 1274"/>
          <p:cNvSpPr/>
          <p:nvPr/>
        </p:nvSpPr>
        <p:spPr>
          <a:xfrm>
            <a:off x="3127248" y="3429000"/>
            <a:ext cx="329184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E6</a:t>
            </a:r>
          </a:p>
        </p:txBody>
      </p:sp>
      <p:sp>
        <p:nvSpPr>
          <p:cNvPr id="1276" name="Rounded Rectangle 1275"/>
          <p:cNvSpPr/>
          <p:nvPr/>
        </p:nvSpPr>
        <p:spPr>
          <a:xfrm>
            <a:off x="4471416" y="3429000"/>
            <a:ext cx="329184" cy="182880"/>
          </a:xfrm>
          <a:prstGeom prst="round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E5</a:t>
            </a:r>
          </a:p>
        </p:txBody>
      </p:sp>
      <p:sp>
        <p:nvSpPr>
          <p:cNvPr id="1277" name="TextBox 1276"/>
          <p:cNvSpPr txBox="1"/>
          <p:nvPr/>
        </p:nvSpPr>
        <p:spPr>
          <a:xfrm>
            <a:off x="914400" y="6355080"/>
            <a:ext cx="7772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□ 처리 화면   ◇ 판단   빨간 태그(E1~E6) = 예외가 생기는 지점   — 숫자는 기능흐름도 단계, 'n-n'은 화면 번호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9" name="Google Shape;1119;p16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1120" name="Google Shape;1120;p16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1121" name="Google Shape;1121;p16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22" name="Google Shape;1122;p16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23" name="Google Shape;1123;p16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25" name="Google Shape;1125;p16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9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IA</a:t>
            </a:r>
            <a:endParaRPr/>
          </a:p>
        </p:txBody>
      </p:sp>
      <p:sp>
        <p:nvSpPr>
          <p:cNvPr id="1126" name="Google Shape;1126;p16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7" name="Google Shape;1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IA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메뉴 구조(Information Architecture)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AP-IA-0001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앞볼래 전체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685088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진입·로그인 (선택)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로그인하지 않아도 모든 기능 사용 가능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 준비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동승자 확인·위치 권한을 통과해야 탭(홈·앞길·기록)이 열림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 탭 4개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홈 = 영상·지도, 앞길 = 요약, 기록 = 지나온 정체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정보는 주행 전에도 열림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기능(우리 차 찾기·앞길 자동 기록)은 9~10주 개발 예정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★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특허 핵심인 'CCTV를 피해 경로를 다시 찾는 기능'은 넣지 않는다(선행특허 KR102430774)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어떤 기능이든 하단 탭에서 두 번 안에 닿아야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sp>
        <p:nvSpPr>
          <p:cNvPr id="1211" name="Rounded Rectangle 1210"/>
          <p:cNvSpPr/>
          <p:nvPr/>
        </p:nvSpPr>
        <p:spPr>
          <a:xfrm>
            <a:off x="3657600" y="777240"/>
            <a:ext cx="1737360" cy="457200"/>
          </a:xfrm>
          <a:prstGeom prst="roundRect">
            <a:avLst/>
          </a:prstGeom>
          <a:solidFill>
            <a:srgbClr val="D7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앞볼래</a:t>
            </a:r>
          </a:p>
        </p:txBody>
      </p:sp>
      <p:cxnSp>
        <p:nvCxnSpPr>
          <p:cNvPr id="1212" name="Connector 1211"/>
          <p:cNvCxnSpPr/>
          <p:nvPr/>
        </p:nvCxnSpPr>
        <p:spPr>
          <a:xfrm>
            <a:off x="4526280" y="1234440"/>
            <a:ext cx="0" cy="22860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>
            <a:off x="914400" y="1463040"/>
            <a:ext cx="731520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 1213"/>
          <p:cNvCxnSpPr/>
          <p:nvPr/>
        </p:nvCxnSpPr>
        <p:spPr>
          <a:xfrm>
            <a:off x="914400" y="146304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5" name="Rectangle 1214"/>
          <p:cNvSpPr/>
          <p:nvPr/>
        </p:nvSpPr>
        <p:spPr>
          <a:xfrm>
            <a:off x="228600" y="1645920"/>
            <a:ext cx="1371600" cy="3474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진입·로그인</a:t>
            </a:r>
          </a:p>
        </p:txBody>
      </p:sp>
      <p:cxnSp>
        <p:nvCxnSpPr>
          <p:cNvPr id="1216" name="Connector 1215"/>
          <p:cNvCxnSpPr/>
          <p:nvPr/>
        </p:nvCxnSpPr>
        <p:spPr>
          <a:xfrm>
            <a:off x="320040" y="1993392"/>
            <a:ext cx="0" cy="2441448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 1216"/>
          <p:cNvCxnSpPr/>
          <p:nvPr/>
        </p:nvCxnSpPr>
        <p:spPr>
          <a:xfrm>
            <a:off x="320040" y="224027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8" name="Rectangle 1217"/>
          <p:cNvSpPr/>
          <p:nvPr/>
        </p:nvSpPr>
        <p:spPr>
          <a:xfrm>
            <a:off x="411480" y="21031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1-1 스플래시</a:t>
            </a:r>
          </a:p>
        </p:txBody>
      </p:sp>
      <p:cxnSp>
        <p:nvCxnSpPr>
          <p:cNvPr id="1219" name="Connector 1218"/>
          <p:cNvCxnSpPr/>
          <p:nvPr/>
        </p:nvCxnSpPr>
        <p:spPr>
          <a:xfrm>
            <a:off x="320040" y="260603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0" name="Rectangle 1219"/>
          <p:cNvSpPr/>
          <p:nvPr/>
        </p:nvSpPr>
        <p:spPr>
          <a:xfrm>
            <a:off x="411480" y="246887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1-2 로그인</a:t>
            </a:r>
          </a:p>
        </p:txBody>
      </p:sp>
      <p:cxnSp>
        <p:nvCxnSpPr>
          <p:cNvPr id="1221" name="Connector 1220"/>
          <p:cNvCxnSpPr/>
          <p:nvPr/>
        </p:nvCxnSpPr>
        <p:spPr>
          <a:xfrm>
            <a:off x="320040" y="297179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2" name="Rectangle 1221"/>
          <p:cNvSpPr/>
          <p:nvPr/>
        </p:nvSpPr>
        <p:spPr>
          <a:xfrm>
            <a:off x="411480" y="283463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1-3 이메일 로그인</a:t>
            </a:r>
          </a:p>
        </p:txBody>
      </p:sp>
      <p:cxnSp>
        <p:nvCxnSpPr>
          <p:cNvPr id="1223" name="Connector 1222"/>
          <p:cNvCxnSpPr/>
          <p:nvPr/>
        </p:nvCxnSpPr>
        <p:spPr>
          <a:xfrm>
            <a:off x="320040" y="333756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4" name="Rectangle 1223"/>
          <p:cNvSpPr/>
          <p:nvPr/>
        </p:nvSpPr>
        <p:spPr>
          <a:xfrm>
            <a:off x="411480" y="320040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1-4 비밀번호 재설정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320040" y="370332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6" name="Rectangle 1225"/>
          <p:cNvSpPr/>
          <p:nvPr/>
        </p:nvSpPr>
        <p:spPr>
          <a:xfrm>
            <a:off x="411480" y="356616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1-5 이메일 가입</a:t>
            </a:r>
          </a:p>
        </p:txBody>
      </p:sp>
      <p:cxnSp>
        <p:nvCxnSpPr>
          <p:cNvPr id="1227" name="Connector 1226"/>
          <p:cNvCxnSpPr/>
          <p:nvPr/>
        </p:nvCxnSpPr>
        <p:spPr>
          <a:xfrm>
            <a:off x="320040" y="406908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Rectangle 1227"/>
          <p:cNvSpPr/>
          <p:nvPr/>
        </p:nvSpPr>
        <p:spPr>
          <a:xfrm>
            <a:off x="411480" y="39319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1-6 약관 동의</a:t>
            </a:r>
          </a:p>
        </p:txBody>
      </p:sp>
      <p:cxnSp>
        <p:nvCxnSpPr>
          <p:cNvPr id="1229" name="Connector 1228"/>
          <p:cNvCxnSpPr/>
          <p:nvPr/>
        </p:nvCxnSpPr>
        <p:spPr>
          <a:xfrm>
            <a:off x="320040" y="443484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0" name="Rectangle 1229"/>
          <p:cNvSpPr/>
          <p:nvPr/>
        </p:nvSpPr>
        <p:spPr>
          <a:xfrm>
            <a:off x="411480" y="429768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1-7 가입 완료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2377440" y="146304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Rectangle 1231"/>
          <p:cNvSpPr/>
          <p:nvPr/>
        </p:nvSpPr>
        <p:spPr>
          <a:xfrm>
            <a:off x="1691640" y="1645920"/>
            <a:ext cx="1371600" cy="3474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주행 준비</a:t>
            </a:r>
          </a:p>
        </p:txBody>
      </p:sp>
      <p:cxnSp>
        <p:nvCxnSpPr>
          <p:cNvPr id="1233" name="Connector 1232"/>
          <p:cNvCxnSpPr/>
          <p:nvPr/>
        </p:nvCxnSpPr>
        <p:spPr>
          <a:xfrm>
            <a:off x="1783080" y="1993392"/>
            <a:ext cx="0" cy="978407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>
            <a:off x="1783080" y="224027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5" name="Rectangle 1234"/>
          <p:cNvSpPr/>
          <p:nvPr/>
        </p:nvSpPr>
        <p:spPr>
          <a:xfrm>
            <a:off x="1874520" y="21031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2-1 동승자 확인</a:t>
            </a:r>
          </a:p>
        </p:txBody>
      </p:sp>
      <p:cxnSp>
        <p:nvCxnSpPr>
          <p:cNvPr id="1236" name="Connector 1235"/>
          <p:cNvCxnSpPr/>
          <p:nvPr/>
        </p:nvCxnSpPr>
        <p:spPr>
          <a:xfrm>
            <a:off x="1783080" y="260603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7" name="Rectangle 1236"/>
          <p:cNvSpPr/>
          <p:nvPr/>
        </p:nvSpPr>
        <p:spPr>
          <a:xfrm>
            <a:off x="1874520" y="246887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2-2 위치 권한</a:t>
            </a:r>
          </a:p>
        </p:txBody>
      </p:sp>
      <p:cxnSp>
        <p:nvCxnSpPr>
          <p:cNvPr id="1238" name="Connector 1237"/>
          <p:cNvCxnSpPr/>
          <p:nvPr/>
        </p:nvCxnSpPr>
        <p:spPr>
          <a:xfrm>
            <a:off x="1783080" y="297179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9" name="Rectangle 1238"/>
          <p:cNvSpPr/>
          <p:nvPr/>
        </p:nvSpPr>
        <p:spPr>
          <a:xfrm>
            <a:off x="1874520" y="2834639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권한 거부(E2)</a:t>
            </a:r>
          </a:p>
        </p:txBody>
      </p:sp>
      <p:cxnSp>
        <p:nvCxnSpPr>
          <p:cNvPr id="1240" name="Connector 1239"/>
          <p:cNvCxnSpPr/>
          <p:nvPr/>
        </p:nvCxnSpPr>
        <p:spPr>
          <a:xfrm>
            <a:off x="3840480" y="146304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1" name="Rectangle 1240"/>
          <p:cNvSpPr/>
          <p:nvPr/>
        </p:nvSpPr>
        <p:spPr>
          <a:xfrm>
            <a:off x="3154680" y="1645920"/>
            <a:ext cx="1371600" cy="347472"/>
          </a:xfrm>
          <a:prstGeom prst="rect">
            <a:avLst/>
          </a:prstGeom>
          <a:solidFill>
            <a:srgbClr val="D7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cxnSp>
        <p:nvCxnSpPr>
          <p:cNvPr id="1242" name="Connector 1241"/>
          <p:cNvCxnSpPr/>
          <p:nvPr/>
        </p:nvCxnSpPr>
        <p:spPr>
          <a:xfrm>
            <a:off x="3246120" y="1993392"/>
            <a:ext cx="0" cy="3172968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>
            <a:off x="3246120" y="224027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Rectangle 1243"/>
          <p:cNvSpPr/>
          <p:nvPr/>
        </p:nvSpPr>
        <p:spPr>
          <a:xfrm>
            <a:off x="3337560" y="21031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3-1 앞 CCTV 영상</a:t>
            </a:r>
          </a:p>
        </p:txBody>
      </p:sp>
      <p:cxnSp>
        <p:nvCxnSpPr>
          <p:cNvPr id="1245" name="Connector 1244"/>
          <p:cNvCxnSpPr/>
          <p:nvPr/>
        </p:nvCxnSpPr>
        <p:spPr>
          <a:xfrm>
            <a:off x="3246120" y="260603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6" name="Rectangle 1245"/>
          <p:cNvSpPr/>
          <p:nvPr/>
        </p:nvSpPr>
        <p:spPr>
          <a:xfrm>
            <a:off x="3337560" y="2468879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크게 보기·넘겨 보기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3246120" y="297179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Rectangle 1247"/>
          <p:cNvSpPr/>
          <p:nvPr/>
        </p:nvSpPr>
        <p:spPr>
          <a:xfrm>
            <a:off x="3337560" y="2834639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장면 공유</a:t>
            </a:r>
          </a:p>
        </p:txBody>
      </p:sp>
      <p:cxnSp>
        <p:nvCxnSpPr>
          <p:cNvPr id="1249" name="Connector 1248"/>
          <p:cNvCxnSpPr/>
          <p:nvPr/>
        </p:nvCxnSpPr>
        <p:spPr>
          <a:xfrm>
            <a:off x="3246120" y="333756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0" name="Rectangle 1249"/>
          <p:cNvSpPr/>
          <p:nvPr/>
        </p:nvSpPr>
        <p:spPr>
          <a:xfrm>
            <a:off x="3337560" y="320040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3-1 지도·CCTV 마커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3246120" y="370332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Rectangle 1251"/>
          <p:cNvSpPr/>
          <p:nvPr/>
        </p:nvSpPr>
        <p:spPr>
          <a:xfrm>
            <a:off x="3337560" y="356616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3-1 목적지 검색</a:t>
            </a:r>
          </a:p>
        </p:txBody>
      </p:sp>
      <p:cxnSp>
        <p:nvCxnSpPr>
          <p:cNvPr id="1253" name="Connector 1252"/>
          <p:cNvCxnSpPr/>
          <p:nvPr/>
        </p:nvCxnSpPr>
        <p:spPr>
          <a:xfrm>
            <a:off x="3246120" y="406908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4" name="Rectangle 1253"/>
          <p:cNvSpPr/>
          <p:nvPr/>
        </p:nvSpPr>
        <p:spPr>
          <a:xfrm>
            <a:off x="3337560" y="3931920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집·회사·최근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3246120" y="443484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Rectangle 1255"/>
          <p:cNvSpPr/>
          <p:nvPr/>
        </p:nvSpPr>
        <p:spPr>
          <a:xfrm>
            <a:off x="3337560" y="4297680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경로 비교(CCTV 수·막힌 구간)</a:t>
            </a:r>
          </a:p>
        </p:txBody>
      </p:sp>
      <p:cxnSp>
        <p:nvCxnSpPr>
          <p:cNvPr id="1257" name="Connector 1256"/>
          <p:cNvCxnSpPr/>
          <p:nvPr/>
        </p:nvCxnSpPr>
        <p:spPr>
          <a:xfrm>
            <a:off x="3246120" y="480060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Rectangle 1257"/>
          <p:cNvSpPr/>
          <p:nvPr/>
        </p:nvSpPr>
        <p:spPr>
          <a:xfrm>
            <a:off x="3337560" y="466344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3-1 예외 E3~E6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5303520" y="146304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Rectangle 1259"/>
          <p:cNvSpPr/>
          <p:nvPr/>
        </p:nvSpPr>
        <p:spPr>
          <a:xfrm>
            <a:off x="4617720" y="1645920"/>
            <a:ext cx="1371600" cy="347472"/>
          </a:xfrm>
          <a:prstGeom prst="rect">
            <a:avLst/>
          </a:prstGeom>
          <a:solidFill>
            <a:srgbClr val="D7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앞길</a:t>
            </a:r>
          </a:p>
        </p:txBody>
      </p:sp>
      <p:cxnSp>
        <p:nvCxnSpPr>
          <p:cNvPr id="1261" name="Connector 1260"/>
          <p:cNvCxnSpPr/>
          <p:nvPr/>
        </p:nvCxnSpPr>
        <p:spPr>
          <a:xfrm>
            <a:off x="4709160" y="1993392"/>
            <a:ext cx="0" cy="2075688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>
            <a:off x="4709160" y="224027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3" name="Rectangle 1262"/>
          <p:cNvSpPr/>
          <p:nvPr/>
        </p:nvSpPr>
        <p:spPr>
          <a:xfrm>
            <a:off x="4800600" y="21031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3-2 원인 요약</a:t>
            </a:r>
          </a:p>
        </p:txBody>
      </p:sp>
      <p:cxnSp>
        <p:nvCxnSpPr>
          <p:cNvPr id="1264" name="Connector 1263"/>
          <p:cNvCxnSpPr/>
          <p:nvPr/>
        </p:nvCxnSpPr>
        <p:spPr>
          <a:xfrm>
            <a:off x="4709160" y="260603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5" name="Rectangle 1264"/>
          <p:cNvSpPr/>
          <p:nvPr/>
        </p:nvSpPr>
        <p:spPr>
          <a:xfrm>
            <a:off x="4800600" y="246887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3-2 늦어지는 시간</a:t>
            </a:r>
          </a:p>
        </p:txBody>
      </p:sp>
      <p:cxnSp>
        <p:nvCxnSpPr>
          <p:cNvPr id="1266" name="Connector 1265"/>
          <p:cNvCxnSpPr/>
          <p:nvPr/>
        </p:nvCxnSpPr>
        <p:spPr>
          <a:xfrm>
            <a:off x="4709160" y="297179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7" name="Rectangle 1266"/>
          <p:cNvSpPr/>
          <p:nvPr/>
        </p:nvSpPr>
        <p:spPr>
          <a:xfrm>
            <a:off x="4800600" y="283463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3-2 앞쪽 CCTV 목록</a:t>
            </a:r>
          </a:p>
        </p:txBody>
      </p:sp>
      <p:cxnSp>
        <p:nvCxnSpPr>
          <p:cNvPr id="1268" name="Connector 1267"/>
          <p:cNvCxnSpPr/>
          <p:nvPr/>
        </p:nvCxnSpPr>
        <p:spPr>
          <a:xfrm>
            <a:off x="4709160" y="333756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9" name="Rectangle 1268"/>
          <p:cNvSpPr/>
          <p:nvPr/>
        </p:nvSpPr>
        <p:spPr>
          <a:xfrm>
            <a:off x="4800600" y="320040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3-2 앞 10km 소통 띠</a:t>
            </a:r>
          </a:p>
        </p:txBody>
      </p:sp>
      <p:cxnSp>
        <p:nvCxnSpPr>
          <p:cNvPr id="1270" name="Connector 1269"/>
          <p:cNvCxnSpPr/>
          <p:nvPr/>
        </p:nvCxnSpPr>
        <p:spPr>
          <a:xfrm>
            <a:off x="4709160" y="370332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1" name="Rectangle 1270"/>
          <p:cNvSpPr/>
          <p:nvPr/>
        </p:nvSpPr>
        <p:spPr>
          <a:xfrm>
            <a:off x="4800600" y="356616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3-2 돌발 상세·날씨</a:t>
            </a:r>
          </a:p>
        </p:txBody>
      </p:sp>
      <p:cxnSp>
        <p:nvCxnSpPr>
          <p:cNvPr id="1272" name="Connector 1271"/>
          <p:cNvCxnSpPr/>
          <p:nvPr/>
        </p:nvCxnSpPr>
        <p:spPr>
          <a:xfrm>
            <a:off x="4709160" y="406908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3" name="Rectangle 1272"/>
          <p:cNvSpPr/>
          <p:nvPr/>
        </p:nvSpPr>
        <p:spPr>
          <a:xfrm>
            <a:off x="4800600" y="3931920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다른 길 앱으로</a:t>
            </a:r>
          </a:p>
        </p:txBody>
      </p:sp>
      <p:cxnSp>
        <p:nvCxnSpPr>
          <p:cNvPr id="1274" name="Connector 1273"/>
          <p:cNvCxnSpPr/>
          <p:nvPr/>
        </p:nvCxnSpPr>
        <p:spPr>
          <a:xfrm>
            <a:off x="6766560" y="146304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5" name="Rectangle 1274"/>
          <p:cNvSpPr/>
          <p:nvPr/>
        </p:nvSpPr>
        <p:spPr>
          <a:xfrm>
            <a:off x="6080760" y="1645920"/>
            <a:ext cx="1371600" cy="347472"/>
          </a:xfrm>
          <a:prstGeom prst="rect">
            <a:avLst/>
          </a:prstGeom>
          <a:solidFill>
            <a:srgbClr val="D7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cxnSp>
        <p:nvCxnSpPr>
          <p:cNvPr id="1276" name="Connector 1275"/>
          <p:cNvCxnSpPr/>
          <p:nvPr/>
        </p:nvCxnSpPr>
        <p:spPr>
          <a:xfrm>
            <a:off x="6172200" y="1993392"/>
            <a:ext cx="0" cy="2075688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7" name="Connector 1276"/>
          <p:cNvCxnSpPr/>
          <p:nvPr/>
        </p:nvCxnSpPr>
        <p:spPr>
          <a:xfrm>
            <a:off x="6172200" y="224027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8" name="Rectangle 1277"/>
          <p:cNvSpPr/>
          <p:nvPr/>
        </p:nvSpPr>
        <p:spPr>
          <a:xfrm>
            <a:off x="6263640" y="21031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3-3 최근 7일 요약</a:t>
            </a:r>
          </a:p>
        </p:txBody>
      </p:sp>
      <p:cxnSp>
        <p:nvCxnSpPr>
          <p:cNvPr id="1279" name="Connector 1278"/>
          <p:cNvCxnSpPr/>
          <p:nvPr/>
        </p:nvCxnSpPr>
        <p:spPr>
          <a:xfrm>
            <a:off x="6172200" y="260603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0" name="Rectangle 1279"/>
          <p:cNvSpPr/>
          <p:nvPr/>
        </p:nvSpPr>
        <p:spPr>
          <a:xfrm>
            <a:off x="6263640" y="246887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3-3 지나온 정체와 원인</a:t>
            </a:r>
          </a:p>
        </p:txBody>
      </p:sp>
      <p:cxnSp>
        <p:nvCxnSpPr>
          <p:cNvPr id="1281" name="Connector 1280"/>
          <p:cNvCxnSpPr/>
          <p:nvPr/>
        </p:nvCxnSpPr>
        <p:spPr>
          <a:xfrm>
            <a:off x="6172200" y="2971799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2" name="Rectangle 1281"/>
          <p:cNvSpPr/>
          <p:nvPr/>
        </p:nvSpPr>
        <p:spPr>
          <a:xfrm>
            <a:off x="6263640" y="283463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3-3 기록 지우기</a:t>
            </a:r>
          </a:p>
        </p:txBody>
      </p:sp>
      <p:cxnSp>
        <p:nvCxnSpPr>
          <p:cNvPr id="1283" name="Connector 1282"/>
          <p:cNvCxnSpPr/>
          <p:nvPr/>
        </p:nvCxnSpPr>
        <p:spPr>
          <a:xfrm>
            <a:off x="6172200" y="333756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4" name="Rectangle 1283"/>
          <p:cNvSpPr/>
          <p:nvPr/>
        </p:nvSpPr>
        <p:spPr>
          <a:xfrm>
            <a:off x="6263640" y="320040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3-3 테스트 주행 정확도</a:t>
            </a:r>
          </a:p>
        </p:txBody>
      </p:sp>
      <p:cxnSp>
        <p:nvCxnSpPr>
          <p:cNvPr id="1285" name="Connector 1284"/>
          <p:cNvCxnSpPr/>
          <p:nvPr/>
        </p:nvCxnSpPr>
        <p:spPr>
          <a:xfrm>
            <a:off x="6172200" y="370332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6" name="Rectangle 1285"/>
          <p:cNvSpPr/>
          <p:nvPr/>
        </p:nvSpPr>
        <p:spPr>
          <a:xfrm>
            <a:off x="6263640" y="3566160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CSV 내보내기</a:t>
            </a:r>
          </a:p>
        </p:txBody>
      </p:sp>
      <p:cxnSp>
        <p:nvCxnSpPr>
          <p:cNvPr id="1287" name="Connector 1286"/>
          <p:cNvCxnSpPr/>
          <p:nvPr/>
        </p:nvCxnSpPr>
        <p:spPr>
          <a:xfrm>
            <a:off x="8229600" y="146304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8" name="Rectangle 1287"/>
          <p:cNvSpPr/>
          <p:nvPr/>
        </p:nvSpPr>
        <p:spPr>
          <a:xfrm>
            <a:off x="7543800" y="1645920"/>
            <a:ext cx="1371600" cy="347472"/>
          </a:xfrm>
          <a:prstGeom prst="rect">
            <a:avLst/>
          </a:prstGeom>
          <a:solidFill>
            <a:srgbClr val="D7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정보</a:t>
            </a:r>
          </a:p>
        </p:txBody>
      </p:sp>
      <p:cxnSp>
        <p:nvCxnSpPr>
          <p:cNvPr id="1289" name="Connector 1288"/>
          <p:cNvCxnSpPr/>
          <p:nvPr/>
        </p:nvCxnSpPr>
        <p:spPr>
          <a:xfrm>
            <a:off x="7635240" y="1993392"/>
            <a:ext cx="0" cy="2807208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0" name="Connector 1289"/>
          <p:cNvCxnSpPr/>
          <p:nvPr/>
        </p:nvCxnSpPr>
        <p:spPr>
          <a:xfrm>
            <a:off x="7635240" y="2240279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1" name="Rectangle 1290"/>
          <p:cNvSpPr/>
          <p:nvPr/>
        </p:nvSpPr>
        <p:spPr>
          <a:xfrm>
            <a:off x="7726679" y="21031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4-1 계정(게스트/로그인)</a:t>
            </a:r>
          </a:p>
        </p:txBody>
      </p:sp>
      <p:cxnSp>
        <p:nvCxnSpPr>
          <p:cNvPr id="1292" name="Connector 1291"/>
          <p:cNvCxnSpPr/>
          <p:nvPr/>
        </p:nvCxnSpPr>
        <p:spPr>
          <a:xfrm>
            <a:off x="7635240" y="2606039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3" name="Rectangle 1292"/>
          <p:cNvSpPr/>
          <p:nvPr/>
        </p:nvSpPr>
        <p:spPr>
          <a:xfrm>
            <a:off x="7726679" y="246887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4-1 새 주행 시작</a:t>
            </a:r>
          </a:p>
        </p:txBody>
      </p:sp>
      <p:cxnSp>
        <p:nvCxnSpPr>
          <p:cNvPr id="1294" name="Connector 1293"/>
          <p:cNvCxnSpPr/>
          <p:nvPr/>
        </p:nvCxnSpPr>
        <p:spPr>
          <a:xfrm>
            <a:off x="7635240" y="2971799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5" name="Rectangle 1294"/>
          <p:cNvSpPr/>
          <p:nvPr/>
        </p:nvSpPr>
        <p:spPr>
          <a:xfrm>
            <a:off x="7726679" y="2834639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4-1 화면 모드</a:t>
            </a:r>
          </a:p>
        </p:txBody>
      </p:sp>
      <p:cxnSp>
        <p:nvCxnSpPr>
          <p:cNvPr id="1296" name="Connector 1295"/>
          <p:cNvCxnSpPr/>
          <p:nvPr/>
        </p:nvCxnSpPr>
        <p:spPr>
          <a:xfrm>
            <a:off x="7635240" y="3337560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7" name="Rectangle 1296"/>
          <p:cNvSpPr/>
          <p:nvPr/>
        </p:nvSpPr>
        <p:spPr>
          <a:xfrm>
            <a:off x="7726679" y="320040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4-1 데이터 사용·정보 출처</a:t>
            </a:r>
          </a:p>
        </p:txBody>
      </p:sp>
      <p:cxnSp>
        <p:nvCxnSpPr>
          <p:cNvPr id="1298" name="Connector 1297"/>
          <p:cNvCxnSpPr/>
          <p:nvPr/>
        </p:nvCxnSpPr>
        <p:spPr>
          <a:xfrm>
            <a:off x="7635240" y="3703320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9" name="Rectangle 1298"/>
          <p:cNvSpPr/>
          <p:nvPr/>
        </p:nvSpPr>
        <p:spPr>
          <a:xfrm>
            <a:off x="7726679" y="356616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4-2 이용약관</a:t>
            </a:r>
          </a:p>
        </p:txBody>
      </p:sp>
      <p:cxnSp>
        <p:nvCxnSpPr>
          <p:cNvPr id="1300" name="Connector 1299"/>
          <p:cNvCxnSpPr/>
          <p:nvPr/>
        </p:nvCxnSpPr>
        <p:spPr>
          <a:xfrm>
            <a:off x="7635240" y="4069080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1" name="Rectangle 1300"/>
          <p:cNvSpPr/>
          <p:nvPr/>
        </p:nvSpPr>
        <p:spPr>
          <a:xfrm>
            <a:off x="7726679" y="393192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4-3 개인정보 처리방침</a:t>
            </a:r>
          </a:p>
        </p:txBody>
      </p:sp>
      <p:cxnSp>
        <p:nvCxnSpPr>
          <p:cNvPr id="1302" name="Connector 1301"/>
          <p:cNvCxnSpPr/>
          <p:nvPr/>
        </p:nvCxnSpPr>
        <p:spPr>
          <a:xfrm>
            <a:off x="7635240" y="4434840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3" name="Rectangle 1302"/>
          <p:cNvSpPr/>
          <p:nvPr/>
        </p:nvSpPr>
        <p:spPr>
          <a:xfrm>
            <a:off x="7726679" y="429768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4-4 위치기반서비스 약관</a:t>
            </a:r>
          </a:p>
        </p:txBody>
      </p:sp>
      <p:cxnSp>
        <p:nvCxnSpPr>
          <p:cNvPr id="1304" name="Connector 1303"/>
          <p:cNvCxnSpPr/>
          <p:nvPr/>
        </p:nvCxnSpPr>
        <p:spPr>
          <a:xfrm>
            <a:off x="7635240" y="4800600"/>
            <a:ext cx="91439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5" name="Rectangle 1304"/>
          <p:cNvSpPr/>
          <p:nvPr/>
        </p:nvSpPr>
        <p:spPr>
          <a:xfrm>
            <a:off x="7726679" y="466344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4-5 오픈소스 라이선스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228600" y="6355080"/>
            <a:ext cx="85953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파란 머리 = 탭 진입 전 단계,  빨간 머리 = 하단 탭(홈·앞길·기록·내 정보),  점선 = 화면 안의 하위 기능</a:t>
            </a:r>
          </a:p>
        </p:txBody>
      </p:sp>
      <p:sp>
        <p:nvSpPr>
          <p:cNvPr id="30005" name="Rectangle 1257"/>
          <p:cNvSpPr/>
          <p:nvPr/>
        </p:nvSpPr>
        <p:spPr>
          <a:xfrm>
            <a:off x="3337560" y="5029200"/>
            <a:ext cx="1188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└ 우리 차 찾기(AI·예정)</a:t>
            </a:r>
          </a:p>
        </p:txBody>
      </p:sp>
      <p:cxnSp>
        <p:nvCxnSpPr>
          <p:cNvPr id="30006" name="Connector 1256"/>
          <p:cNvCxnSpPr/>
          <p:nvPr/>
        </p:nvCxnSpPr>
        <p:spPr>
          <a:xfrm>
            <a:off x="3246120" y="516636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" name="Rectangle 1285"/>
          <p:cNvSpPr/>
          <p:nvPr/>
        </p:nvSpPr>
        <p:spPr>
          <a:xfrm>
            <a:off x="6263640" y="3931920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└ 앞길 자동 기록(AI·예정)</a:t>
            </a:r>
          </a:p>
        </p:txBody>
      </p:sp>
      <p:cxnSp>
        <p:nvCxnSpPr>
          <p:cNvPr id="30008" name="Connector 1284"/>
          <p:cNvCxnSpPr/>
          <p:nvPr/>
        </p:nvCxnSpPr>
        <p:spPr>
          <a:xfrm>
            <a:off x="6172200" y="4069080"/>
            <a:ext cx="91440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IA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화면 목록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AP-IA-0002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앞볼래 전체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593688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Screen ID 규칙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AP-[구분]-[번호]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EN 진입 · RD 주행 준비 · DR 주행 탭 · IF 내 정보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CM 공통 · FL 흐름도 · IA 정보 구조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번호(n-n)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기능흐름도·리뷰 허브(/review)의 화면 번호와 같다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/confirm 은 상태에 따라 약관 동의 → 가입 완료 → 동승자 확인을 같은 주소에서 차례로 보여 준다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화면 번호와 Screen ID 로 흐름도·IA·화면 장을 서로 찾아갈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graphicFrame>
        <p:nvGraphicFramePr>
          <p:cNvPr id="1211" name="Table 1210"/>
          <p:cNvGraphicFramePr>
            <a:graphicFrameLocks noGrp="1"/>
          </p:cNvGraphicFramePr>
          <p:nvPr/>
        </p:nvGraphicFramePr>
        <p:xfrm>
          <a:off x="274320" y="822960"/>
          <a:ext cx="85039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T="27432" marB="27432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화면명</a:t>
                      </a:r>
                    </a:p>
                  </a:txBody>
                  <a:tcPr marT="27432" marB="27432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Screen ID</a:t>
                      </a:r>
                    </a:p>
                  </a:txBody>
                  <a:tcPr marT="27432" marB="27432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T="27432" marB="27432" anchor="ctr"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1-1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스플래시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AP-EN-1001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1-2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AP-EN-1002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/login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1-3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이메일 로그인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AP-EN-1003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/login/email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1-4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비밀번호 재설정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AP-EN-1003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/login/reset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1-5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이메일 가입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AP-EN-1003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/signup/email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1-6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약관 동의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AP-EN-1004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/confirm (게이트)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1-7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가입 완료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AP-EN-1004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/confirm (게이트)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2-1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주행 준비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동승자 확인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AP-RD-2001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/confirm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2-2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주행 준비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위치 권한 · 거부(E2)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AP-RD-2002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/permission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앞 CCTV(기본)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AP-DR-3001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/drive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정체 · 돌발 상황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AP-DR-3002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/drive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목적지 검색 · 경로 비교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AP-DR-3003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/drive (시트)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내 앞 부채꼴 · CCTV 크게 보기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AP-DR-3005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/drive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예외 상황 E3~E6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AP-DR-3004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/drive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3-2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앞길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앞길 요약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AP-DR-3101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/ahead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기록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지나온 정체와 원인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AP-DR-3201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/log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3-1·3-3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AI (예정)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우리 차 찾기 · 앞길 자동 기록 (예상 화면)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AP-DR-3301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/drive · /log (9~10주)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4-1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내 정보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앱 정보·설정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AP-IF-4001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/info</a:t>
                      </a:r>
                    </a:p>
                  </a:txBody>
                  <a:tcPr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4-2~5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내 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약관 · 오픈소스 라이선스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AP-IF-4002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  <a:ea typeface="Malgun Gothic"/>
                          <a:cs typeface="Malgun Gothic"/>
                        </a:rPr>
                        <a:t>/terms 외 3개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9" name="Google Shape;1119;p16"/>
          <p:cNvGrpSpPr/>
          <p:nvPr/>
        </p:nvGrpSpPr>
        <p:grpSpPr>
          <a:xfrm>
            <a:off x="1200589" y="2846247"/>
            <a:ext cx="9790822" cy="1165507"/>
            <a:chOff x="2386794" y="2846906"/>
            <a:chExt cx="7416824" cy="1165777"/>
          </a:xfrm>
        </p:grpSpPr>
        <p:grpSp>
          <p:nvGrpSpPr>
            <p:cNvPr id="1120" name="Google Shape;1120;p16"/>
            <p:cNvGrpSpPr/>
            <p:nvPr/>
          </p:nvGrpSpPr>
          <p:grpSpPr>
            <a:xfrm>
              <a:off x="2386794" y="2846906"/>
              <a:ext cx="7416824" cy="1165777"/>
              <a:chOff x="2386794" y="2846906"/>
              <a:chExt cx="7416824" cy="1165777"/>
            </a:xfrm>
          </p:grpSpPr>
          <p:sp>
            <p:nvSpPr>
              <p:cNvPr id="1121" name="Google Shape;1121;p16"/>
              <p:cNvSpPr/>
              <p:nvPr/>
            </p:nvSpPr>
            <p:spPr>
              <a:xfrm>
                <a:off x="2386794" y="3357786"/>
                <a:ext cx="7416824" cy="144016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22" name="Google Shape;1122;p16"/>
              <p:cNvSpPr/>
              <p:nvPr/>
            </p:nvSpPr>
            <p:spPr>
              <a:xfrm>
                <a:off x="4042978" y="2846906"/>
                <a:ext cx="4104456" cy="1165777"/>
              </a:xfrm>
              <a:prstGeom prst="rect">
                <a:avLst/>
              </a:prstGeom>
              <a:solidFill>
                <a:srgbClr val="3185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23" name="Google Shape;1123;p16"/>
            <p:cNvSpPr/>
            <p:nvPr/>
          </p:nvSpPr>
          <p:spPr>
            <a:xfrm>
              <a:off x="7679382" y="3891121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4079667" y="2908549"/>
              <a:ext cx="369515" cy="4272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25" name="Google Shape;1125;p16"/>
          <p:cNvSpPr txBox="1"/>
          <p:nvPr/>
        </p:nvSpPr>
        <p:spPr>
          <a:xfrm>
            <a:off x="3386890" y="3167451"/>
            <a:ext cx="5418222" cy="5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9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설계</a:t>
            </a:r>
            <a:endParaRPr/>
          </a:p>
        </p:txBody>
      </p:sp>
      <p:sp>
        <p:nvSpPr>
          <p:cNvPr id="1126" name="Google Shape;1126;p16"/>
          <p:cNvSpPr txBox="1"/>
          <p:nvPr/>
        </p:nvSpPr>
        <p:spPr>
          <a:xfrm>
            <a:off x="5124675" y="6488248"/>
            <a:ext cx="1942650" cy="2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7" name="Google Shape;1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스플래시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AP-EN-1001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Home(/)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234064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앱 아이콘(앞볼래 로고)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줄 소개. '조수석에서 보는 내 앞 도로'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바탕색 #0A0A0B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RN 네이티브 스플래시와 같은 색이라 넘어올 때 튀지 않는다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★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복원이 끝나면 1.3초 뒤 자동 이동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로그인·게스트면 2-1 동승자 확인, 처음이면 1-2 로그인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로그인 상태를 되살린 뒤, 아무것도 누르지 않아도 다음 화면으로 넘어가야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pic>
        <p:nvPicPr>
          <p:cNvPr id="1211" name="Picture 1210" descr="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777240"/>
            <a:ext cx="2577437" cy="557784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3291840" y="777240"/>
            <a:ext cx="2577437" cy="55778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3017520" y="6391655"/>
            <a:ext cx="3126077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1-1 스플래시</a:t>
            </a:r>
          </a:p>
        </p:txBody>
      </p:sp>
      <p:sp>
        <p:nvSpPr>
          <p:cNvPr id="6016" name="marker 1"/>
          <p:cNvSpPr/>
          <p:nvPr/>
        </p:nvSpPr>
        <p:spPr>
          <a:xfrm>
            <a:off x="3833849" y="264101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7" name="marker 2"/>
          <p:cNvSpPr/>
          <p:nvPr/>
        </p:nvSpPr>
        <p:spPr>
          <a:xfrm>
            <a:off x="3833849" y="366537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8" name="marker 3"/>
          <p:cNvSpPr/>
          <p:nvPr/>
        </p:nvSpPr>
        <p:spPr>
          <a:xfrm>
            <a:off x="3017520" y="77732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로그인 (소셜 로그인은 목업)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AP-EN-1002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로그인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724752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로고와 서비스 한 줄 소개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[카카오로 시작하기]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[구글로 시작하기] · [Apple로 시작하기]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[이메일로 시작하기]. 1-3 이메일 로그인으로 이동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★[로그인 없이 시작하기]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누르면 바로 2-1 동승자 확인. 눈에 띄게 둔다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!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카카오·구글·Apple 은 아직 목업. 누르면 1-6 약관 동의로 간다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로그인하지 않으려는 사람도 이 화면에서 바로 시작할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pic>
        <p:nvPicPr>
          <p:cNvPr id="1211" name="Picture 1210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777240"/>
            <a:ext cx="2577437" cy="557784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3291840" y="777240"/>
            <a:ext cx="2577437" cy="55778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3017520" y="6391655"/>
            <a:ext cx="3126077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1-2 로그인</a:t>
            </a:r>
          </a:p>
        </p:txBody>
      </p:sp>
      <p:sp>
        <p:nvSpPr>
          <p:cNvPr id="6019" name="marker 1"/>
          <p:cNvSpPr/>
          <p:nvPr/>
        </p:nvSpPr>
        <p:spPr>
          <a:xfrm>
            <a:off x="3017520" y="277318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0" name="marker 2"/>
          <p:cNvSpPr/>
          <p:nvPr/>
        </p:nvSpPr>
        <p:spPr>
          <a:xfrm>
            <a:off x="3017520" y="404208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1" name="marker 3"/>
          <p:cNvSpPr/>
          <p:nvPr/>
        </p:nvSpPr>
        <p:spPr>
          <a:xfrm>
            <a:off x="3017520" y="447826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2" name="marker 4"/>
          <p:cNvSpPr/>
          <p:nvPr/>
        </p:nvSpPr>
        <p:spPr>
          <a:xfrm>
            <a:off x="3017520" y="535723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3" name="marker 5"/>
          <p:cNvSpPr/>
          <p:nvPr/>
        </p:nvSpPr>
        <p:spPr>
          <a:xfrm>
            <a:off x="3635585" y="576698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이메일 로그인 · 가입 · 비밀번호 재설정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AP-EN-1003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로그인 &gt; 이메일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336784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· 비밀번호 입력(Firebase Auth)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[비밀번호를 잊었어요]. 1-4 로 이동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[로그인]. 입력 전에는 회색으로 눌리지 않는다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[처음이에요, 이메일로 가입하기]. 1-5 로 이동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8자 이상, 비밀번호 확인과 일치해야 한다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[가입하기]. 가입 즉시 로그인되고 1-6 약관 동의로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가입한 이메일 입력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8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[재설정 메일 보내기]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입력을 다 하기 전에는 [로그인]·[가입하기]·[재설정 메일 보내기]가 눌리지 않아야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pic>
        <p:nvPicPr>
          <p:cNvPr id="1211" name="Picture 1210" descr="login-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55" y="777240"/>
            <a:ext cx="2429552" cy="525780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509555" y="777240"/>
            <a:ext cx="2429552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235235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1-3 이메일 로그인</a:t>
            </a:r>
          </a:p>
        </p:txBody>
      </p:sp>
      <p:sp>
        <p:nvSpPr>
          <p:cNvPr id="6024" name="marker 1"/>
          <p:cNvSpPr/>
          <p:nvPr/>
        </p:nvSpPr>
        <p:spPr>
          <a:xfrm>
            <a:off x="235235" y="193544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5" name="marker 2"/>
          <p:cNvSpPr/>
          <p:nvPr/>
        </p:nvSpPr>
        <p:spPr>
          <a:xfrm>
            <a:off x="1200534" y="312529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6" name="marker 3"/>
          <p:cNvSpPr/>
          <p:nvPr/>
        </p:nvSpPr>
        <p:spPr>
          <a:xfrm>
            <a:off x="235235" y="529943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7" name="marker 4"/>
          <p:cNvSpPr/>
          <p:nvPr/>
        </p:nvSpPr>
        <p:spPr>
          <a:xfrm>
            <a:off x="920201" y="565452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28" name="Picture 6027" descr="signup-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503" y="777240"/>
            <a:ext cx="2429552" cy="5257800"/>
          </a:xfrm>
          <a:prstGeom prst="rect">
            <a:avLst/>
          </a:prstGeom>
        </p:spPr>
      </p:pic>
      <p:sp>
        <p:nvSpPr>
          <p:cNvPr id="6029" name="Rectangle 6028"/>
          <p:cNvSpPr/>
          <p:nvPr/>
        </p:nvSpPr>
        <p:spPr>
          <a:xfrm>
            <a:off x="3311503" y="777240"/>
            <a:ext cx="2429552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30" name="TextBox 6029"/>
          <p:cNvSpPr txBox="1"/>
          <p:nvPr/>
        </p:nvSpPr>
        <p:spPr>
          <a:xfrm>
            <a:off x="3037183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1-5 이메일 가입</a:t>
            </a:r>
          </a:p>
        </p:txBody>
      </p:sp>
      <p:sp>
        <p:nvSpPr>
          <p:cNvPr id="20001" name="marker 5"/>
          <p:cNvSpPr/>
          <p:nvPr/>
        </p:nvSpPr>
        <p:spPr>
          <a:xfrm>
            <a:off x="3037183" y="252725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6"/>
          <p:cNvSpPr/>
          <p:nvPr/>
        </p:nvSpPr>
        <p:spPr>
          <a:xfrm>
            <a:off x="3037183" y="561091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31" name="Picture 6030" descr="re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451" y="777240"/>
            <a:ext cx="2429552" cy="5257800"/>
          </a:xfrm>
          <a:prstGeom prst="rect">
            <a:avLst/>
          </a:prstGeom>
        </p:spPr>
      </p:pic>
      <p:sp>
        <p:nvSpPr>
          <p:cNvPr id="6032" name="Rectangle 6031"/>
          <p:cNvSpPr/>
          <p:nvPr/>
        </p:nvSpPr>
        <p:spPr>
          <a:xfrm>
            <a:off x="6113451" y="777240"/>
            <a:ext cx="2429552" cy="52578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33" name="TextBox 6032"/>
          <p:cNvSpPr txBox="1"/>
          <p:nvPr/>
        </p:nvSpPr>
        <p:spPr>
          <a:xfrm>
            <a:off x="5839131" y="6071616"/>
            <a:ext cx="2978192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1-4 비밀번호 재설정</a:t>
            </a:r>
          </a:p>
        </p:txBody>
      </p:sp>
      <p:sp>
        <p:nvSpPr>
          <p:cNvPr id="20003" name="marker 7"/>
          <p:cNvSpPr/>
          <p:nvPr/>
        </p:nvSpPr>
        <p:spPr>
          <a:xfrm>
            <a:off x="5839131" y="193544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4" name="marker 8"/>
          <p:cNvSpPr/>
          <p:nvPr/>
        </p:nvSpPr>
        <p:spPr>
          <a:xfrm>
            <a:off x="5839131" y="561714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진입·로그인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약관 동의 · 가입 완료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AP-EN-1004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로그인 &gt; 약관 동의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312404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[전체 동의]. 선택 항목까지 한 번에 체크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[필수] 4개. &gt; 를 누르면 본문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만 14세 이상 · 서비스 이용약관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개인정보 처리방침 · ★위치기반서비스 이용약관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[선택] 새 기능·이벤트 소식 받기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[동의하고 시작하기]. 필수를 모두 체크하기 전에는 비활성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[다른 계정으로 로그인]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가입 완료 환영 문구(닉네임). 처음 한 번만 보인다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[시작하기]. 2-1 동승자 확인으로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필수 4개에 모두 동의하기 전에는 시작할 수 없어야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  <p:pic>
        <p:nvPicPr>
          <p:cNvPr id="1211" name="Picture 1210" descr="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1-6 약관 동의</a:t>
            </a:r>
          </a:p>
        </p:txBody>
      </p:sp>
      <p:sp>
        <p:nvSpPr>
          <p:cNvPr id="6032" name="marker 1"/>
          <p:cNvSpPr/>
          <p:nvPr/>
        </p:nvSpPr>
        <p:spPr>
          <a:xfrm>
            <a:off x="1126965" y="244177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3" name="marker 2"/>
          <p:cNvSpPr/>
          <p:nvPr/>
        </p:nvSpPr>
        <p:spPr>
          <a:xfrm>
            <a:off x="1126965" y="287004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4" name="marker 3"/>
          <p:cNvSpPr/>
          <p:nvPr/>
        </p:nvSpPr>
        <p:spPr>
          <a:xfrm>
            <a:off x="1126965" y="421239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5" name="marker 4"/>
          <p:cNvSpPr/>
          <p:nvPr/>
        </p:nvSpPr>
        <p:spPr>
          <a:xfrm>
            <a:off x="1126965" y="542050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6" name="marker 5"/>
          <p:cNvSpPr/>
          <p:nvPr/>
        </p:nvSpPr>
        <p:spPr>
          <a:xfrm>
            <a:off x="1857705" y="578485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37" name="Picture 6036" descr="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42" y="777240"/>
            <a:ext cx="2492931" cy="5394960"/>
          </a:xfrm>
          <a:prstGeom prst="rect">
            <a:avLst/>
          </a:prstGeom>
        </p:spPr>
      </p:pic>
      <p:sp>
        <p:nvSpPr>
          <p:cNvPr id="6038" name="Rectangle 6037"/>
          <p:cNvSpPr/>
          <p:nvPr/>
        </p:nvSpPr>
        <p:spPr>
          <a:xfrm>
            <a:off x="5158342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39" name="TextBox 6038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1-7 가입 완료</a:t>
            </a:r>
          </a:p>
        </p:txBody>
      </p:sp>
      <p:sp>
        <p:nvSpPr>
          <p:cNvPr id="20001" name="marker 6"/>
          <p:cNvSpPr/>
          <p:nvPr/>
        </p:nvSpPr>
        <p:spPr>
          <a:xfrm>
            <a:off x="5486920" y="330471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7"/>
          <p:cNvSpPr/>
          <p:nvPr/>
        </p:nvSpPr>
        <p:spPr>
          <a:xfrm>
            <a:off x="4884022" y="574011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주행 준비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동승자 확인 · 운전자 안내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AP-RD-2001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동승자 확인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'조수석에 앉아 계신가요?' 앞볼래는 운전하지 않는 동승자를 위한 앱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★'저는 조수석 동승자입니다' 체크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주행마다 묻는다(저장하지 않음)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안전 안내. 운전석 거치대에 두고 쓰지 않기, 음성 안내·자동 팝업 없음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[확인하고 시작]. 2-2 위치 권한으로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E1 — 체크 전에는 비활성, 영상 화면으로 못 간다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[제가 운전 중이에요]. 오른쪽 안내 화면으로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'운전 중에는 쓸 수 없어요'. 도로교통법 제49조 안내, 동승자에게 건네 달라고 한다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[동승자에게 건넸어요]. 다시 동승자 확인으로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체크하지 않으면 영상 화면으로 넘어갈 수 없고, 운전자라고 답하면 쓰지 않도록 안내해야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  <p:pic>
        <p:nvPicPr>
          <p:cNvPr id="1211" name="Picture 1210" descr="passe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2-1 동승자 확인</a:t>
            </a:r>
          </a:p>
        </p:txBody>
      </p:sp>
      <p:sp>
        <p:nvSpPr>
          <p:cNvPr id="6039" name="marker 1"/>
          <p:cNvSpPr/>
          <p:nvPr/>
        </p:nvSpPr>
        <p:spPr>
          <a:xfrm>
            <a:off x="1126965" y="104189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0" name="marker 2"/>
          <p:cNvSpPr/>
          <p:nvPr/>
        </p:nvSpPr>
        <p:spPr>
          <a:xfrm>
            <a:off x="1126965" y="196236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1" name="marker 3"/>
          <p:cNvSpPr/>
          <p:nvPr/>
        </p:nvSpPr>
        <p:spPr>
          <a:xfrm>
            <a:off x="1126965" y="248651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2" name="marker 4"/>
          <p:cNvSpPr/>
          <p:nvPr/>
        </p:nvSpPr>
        <p:spPr>
          <a:xfrm>
            <a:off x="1126965" y="532462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3" name="marker 5"/>
          <p:cNvSpPr/>
          <p:nvPr/>
        </p:nvSpPr>
        <p:spPr>
          <a:xfrm>
            <a:off x="1126965" y="574650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44" name="Picture 6043" descr="passenger-driv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42" y="777240"/>
            <a:ext cx="2492931" cy="5394960"/>
          </a:xfrm>
          <a:prstGeom prst="rect">
            <a:avLst/>
          </a:prstGeom>
        </p:spPr>
      </p:pic>
      <p:sp>
        <p:nvSpPr>
          <p:cNvPr id="6045" name="Rectangle 6044"/>
          <p:cNvSpPr/>
          <p:nvPr/>
        </p:nvSpPr>
        <p:spPr>
          <a:xfrm>
            <a:off x="5158342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46" name="TextBox 6045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[제가 운전 중이에요]를 눌렀을 때</a:t>
            </a:r>
          </a:p>
        </p:txBody>
      </p:sp>
      <p:sp>
        <p:nvSpPr>
          <p:cNvPr id="20001" name="marker 6"/>
          <p:cNvSpPr/>
          <p:nvPr/>
        </p:nvSpPr>
        <p:spPr>
          <a:xfrm>
            <a:off x="4884022" y="270385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7"/>
          <p:cNvSpPr/>
          <p:nvPr/>
        </p:nvSpPr>
        <p:spPr>
          <a:xfrm>
            <a:off x="4884022" y="574011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주행 준비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위치 권한 · 권한 거부(E2)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AP-RD-2002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동승자 확인 &gt; 위치 권한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72784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'내 앞 CCTV를 찾으려면 위치가 필요해요'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위치가 필요한 이유 3가지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위치·방향으로 앞쪽 5km CCTV 선별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30초 또는 500m마다 새로 고침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이동 기록은 저장하지 않음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[위치 권한 허용]. OS 권한 팝업(최초 1회)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E2 — '위치 권한이 꺼져 있어요'. 목록은 비우고 이유를 안내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[설정 열기]. OS 앱 설정으로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[설정을 바꿨어요, 다시 확인]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권한을 거부해도 앱이 멈추지 않고, 왜 필요한지와 다시 켜는 방법을 알려 줘야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  <p:pic>
        <p:nvPicPr>
          <p:cNvPr id="1211" name="Picture 1210" descr="per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2-2 위치 권한</a:t>
            </a:r>
          </a:p>
        </p:txBody>
      </p:sp>
      <p:sp>
        <p:nvSpPr>
          <p:cNvPr id="6046" name="marker 1"/>
          <p:cNvSpPr/>
          <p:nvPr/>
        </p:nvSpPr>
        <p:spPr>
          <a:xfrm>
            <a:off x="1126965" y="171946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7" name="marker 2"/>
          <p:cNvSpPr/>
          <p:nvPr/>
        </p:nvSpPr>
        <p:spPr>
          <a:xfrm>
            <a:off x="1126965" y="225000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8" name="marker 3"/>
          <p:cNvSpPr/>
          <p:nvPr/>
        </p:nvSpPr>
        <p:spPr>
          <a:xfrm>
            <a:off x="1126965" y="574650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49" name="Picture 6048" descr="permission-den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42" y="777240"/>
            <a:ext cx="2492931" cy="5394960"/>
          </a:xfrm>
          <a:prstGeom prst="rect">
            <a:avLst/>
          </a:prstGeom>
        </p:spPr>
      </p:pic>
      <p:sp>
        <p:nvSpPr>
          <p:cNvPr id="6050" name="Rectangle 6049"/>
          <p:cNvSpPr/>
          <p:nvPr/>
        </p:nvSpPr>
        <p:spPr>
          <a:xfrm>
            <a:off x="5158342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51" name="TextBox 6050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권한 거부(E2)</a:t>
            </a:r>
          </a:p>
        </p:txBody>
      </p:sp>
      <p:sp>
        <p:nvSpPr>
          <p:cNvPr id="20001" name="marker 4"/>
          <p:cNvSpPr/>
          <p:nvPr/>
        </p:nvSpPr>
        <p:spPr>
          <a:xfrm>
            <a:off x="4884022" y="162358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5"/>
          <p:cNvSpPr/>
          <p:nvPr/>
        </p:nvSpPr>
        <p:spPr>
          <a:xfrm>
            <a:off x="4884022" y="532462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3" name="marker 6"/>
          <p:cNvSpPr/>
          <p:nvPr/>
        </p:nvSpPr>
        <p:spPr>
          <a:xfrm>
            <a:off x="4884022" y="574650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홈 · 내 앞 CCTV (실제 CCTV · 목적지 부산역)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AP-DR-3001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홈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★언제 지나가나. '580m 앞 · 약 20초 후 통과' — 지금 영상의 CCTV까지 거리·시간, n/전체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★실시간 CCTV 자동 재생. 내 앞 가장 가까운 CCTV를 크게(4:3). 좌우로 넘기고, 지나치면 다음 CCTV로 자동 전환. 출처 표시(ITS·경찰청 UTIC)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★앞길 한 줄 요약. 사고·공사 등 돌발 정보 '2.8km 앞 공사 · 1차로 통제' + 막힘 여부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길 색 = 막힘 정도. 초록 원활 · 노랑 서행 · 빨강 정체. CCTV 마커(거리 표시, 누르면 그 영상)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목적지 경로. '부산역 390.3km 남음 · 경로 위 CCTV만 보여 드려요', [X] 로 취소. 없으면 '어디로 가세요?'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[공유] 지금 장면 이미지 / [크게 보기]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속도(km/h)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8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[경로 위 n]. 목적지가 없으면 [앞쪽 n](AP-DR-3005)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9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[내 위치]. 지도를 내 위치로 다시 맞춤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10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 탭. 홈 · 앞길 · 기록 · 내 정보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>
                          <a:solidFill>
                            <a:srgbClr val="3F3F3F"/>
                          </a:solidFill>
                        </a:rPr>
                        <a:t>앱을 켜기만 해도 내 앞 가장 가까운 CCTV가 재생되고, 막히는 원인을 한 줄로 읽을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  <p:pic>
        <p:nvPicPr>
          <p:cNvPr id="6063" name="Picture 6062" descr="s3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516" y="731520"/>
            <a:ext cx="2614591" cy="576072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3315516" y="731520"/>
            <a:ext cx="2614591" cy="576072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3017520" y="6528816"/>
            <a:ext cx="3210584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3-1 홈 — 실제 CCTV(서울 UTIC) · 목적지 부산역 · 밤 화면</a:t>
            </a:r>
          </a:p>
        </p:txBody>
      </p:sp>
      <p:sp>
        <p:nvSpPr>
          <p:cNvPr id="30009" name="marker 1"/>
          <p:cNvSpPr/>
          <p:nvPr/>
        </p:nvSpPr>
        <p:spPr>
          <a:xfrm>
            <a:off x="3559894" y="92490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0" name="marker 2"/>
          <p:cNvSpPr/>
          <p:nvPr/>
        </p:nvSpPr>
        <p:spPr>
          <a:xfrm>
            <a:off x="4684169" y="161619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1" name="marker 3"/>
          <p:cNvSpPr/>
          <p:nvPr/>
        </p:nvSpPr>
        <p:spPr>
          <a:xfrm>
            <a:off x="3507603" y="282594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2" name="marker 4"/>
          <p:cNvSpPr/>
          <p:nvPr/>
        </p:nvSpPr>
        <p:spPr>
          <a:xfrm>
            <a:off x="4291980" y="369005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3" name="marker 5"/>
          <p:cNvSpPr/>
          <p:nvPr/>
        </p:nvSpPr>
        <p:spPr>
          <a:xfrm>
            <a:off x="3559894" y="547587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4" name="marker 6"/>
          <p:cNvSpPr/>
          <p:nvPr/>
        </p:nvSpPr>
        <p:spPr>
          <a:xfrm>
            <a:off x="5337816" y="248029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5" name="marker 7"/>
          <p:cNvSpPr/>
          <p:nvPr/>
        </p:nvSpPr>
        <p:spPr>
          <a:xfrm>
            <a:off x="3559894" y="455415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6" name="marker 8"/>
          <p:cNvSpPr/>
          <p:nvPr/>
        </p:nvSpPr>
        <p:spPr>
          <a:xfrm>
            <a:off x="5128649" y="449655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7" name="marker 9"/>
          <p:cNvSpPr/>
          <p:nvPr/>
        </p:nvSpPr>
        <p:spPr>
          <a:xfrm>
            <a:off x="5599275" y="489980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18" name="marker 10"/>
          <p:cNvSpPr/>
          <p:nvPr/>
        </p:nvSpPr>
        <p:spPr>
          <a:xfrm>
            <a:off x="4391581" y="5994339"/>
            <a:ext cx="300000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홈 · 내 앞 부채꼴 · CCTV 크게 보기 (실제 CCTV · 밤 화면)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AP-DR-3005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홈 &gt; 크게 보기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3965088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★지도 위 노란 부채꼴 = '내 앞' 범위. 가는 방향 ±30°, 5km 안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반대 차로는 빼고 가까운 순으로 자동 재생. '440m 앞 · 약 20초 후 통과 1/5'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[앞쪽 n]. 부채꼴 안 CCTV 수. 달리는 도로를 알면(국토부 표준노드링크) 그 도로 앞 6km만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'어디로 가세요?' 목적지를 넣으면 경로 위 CCTV만(AP-DR-3003)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크게 보기. 영상을 크게 띄우고 좌우로 넘겨 앞쪽 CCTV를 차례로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넘겨 본 CCTV도 언제 지나가는지. '2.7km 앞 · 약 2분 후 통과 2/3'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[바로 앞 CCTV로]. 가장 가까운 CCTV로 돌아가기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목적지가 없어도 부채꼴 안 '내 앞' CCTV만 나오고, 크게 볼 때도 언제 지나가는지 알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  <p:pic>
        <p:nvPicPr>
          <p:cNvPr id="30026" name="Picture 30025" descr="s7_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458" y="777240"/>
            <a:ext cx="2448585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23458" y="777240"/>
            <a:ext cx="2448585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목적지 없을 때 — 내 앞 부채꼴</a:t>
            </a:r>
          </a:p>
        </p:txBody>
      </p:sp>
      <p:pic>
        <p:nvPicPr>
          <p:cNvPr id="30027" name="Picture 30026" descr="s7_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0515" y="777240"/>
            <a:ext cx="2448585" cy="5394960"/>
          </a:xfrm>
          <a:prstGeom prst="rect">
            <a:avLst/>
          </a:prstGeom>
        </p:spPr>
      </p:pic>
      <p:sp>
        <p:nvSpPr>
          <p:cNvPr id="6068" name="Rectangle 6067"/>
          <p:cNvSpPr/>
          <p:nvPr/>
        </p:nvSpPr>
        <p:spPr>
          <a:xfrm>
            <a:off x="5180515" y="777240"/>
            <a:ext cx="2448585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69" name="TextBox 6068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CCTV 크게 보며 넘기기</a:t>
            </a:r>
          </a:p>
        </p:txBody>
      </p:sp>
      <p:sp>
        <p:nvSpPr>
          <p:cNvPr id="30036" name="marker 1"/>
          <p:cNvSpPr/>
          <p:nvPr/>
        </p:nvSpPr>
        <p:spPr>
          <a:xfrm>
            <a:off x="2700807" y="385464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7" name="marker 2"/>
          <p:cNvSpPr/>
          <p:nvPr/>
        </p:nvSpPr>
        <p:spPr>
          <a:xfrm>
            <a:off x="1721373" y="94136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8" name="marker 3"/>
          <p:cNvSpPr/>
          <p:nvPr/>
        </p:nvSpPr>
        <p:spPr>
          <a:xfrm>
            <a:off x="3312954" y="423229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9" name="marker 4"/>
          <p:cNvSpPr/>
          <p:nvPr/>
        </p:nvSpPr>
        <p:spPr>
          <a:xfrm>
            <a:off x="1843803" y="520338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40" name="marker 5"/>
          <p:cNvSpPr/>
          <p:nvPr/>
        </p:nvSpPr>
        <p:spPr>
          <a:xfrm>
            <a:off x="6213006" y="309934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41" name="marker 6"/>
          <p:cNvSpPr/>
          <p:nvPr/>
        </p:nvSpPr>
        <p:spPr>
          <a:xfrm>
            <a:off x="5404973" y="90360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42" name="marker 7"/>
          <p:cNvSpPr/>
          <p:nvPr/>
        </p:nvSpPr>
        <p:spPr>
          <a:xfrm>
            <a:off x="6947581" y="90360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홈 · 정체 / 돌발 상황 (목업 시나리오 · 모의 영상)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AP-DR-3002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홈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3965088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저속이면 통과 시간 대신 거리만. '470m 거리 1/5'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원인 한 줄 요약. '2.4km 앞 통제 · 갓길 통제 / 낙하물 수거'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E3 정차·저속(4km/h). 최근 궤적으로 방향, 흔들리면 마지막 유효 방향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[주변 n]. 방향을 모르면 주변 기준으로 고른다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★정체 요약. '지금부터 4.9km 정체 · 평균 22km/h'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사고가 있으면 '2.3km 앞 사고 · 2차로 통제'처럼 원인을 앞에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[풀리는 곳]. 정체가 끝나는 지점 CCTV로 바로 이동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 위 사고 표시(빨간 세모) · 부채꼴(진행 방향 ±30°)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!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정체·사고는 그 순간 실제로 있어야 보여서 목업(모의 영상)으로 재현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사고·통제가 있으면 무엇이 몇 km 앞에서 어디까지 막는지 카드 하나로 알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  <p:pic>
        <p:nvPicPr>
          <p:cNvPr id="20004" name="Picture 20003" descr="drive-j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정체 · 저속(목업 시나리오)</a:t>
            </a:r>
          </a:p>
        </p:txBody>
      </p:sp>
      <p:pic>
        <p:nvPicPr>
          <p:cNvPr id="20005" name="Picture 20004" descr="drive-accid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342" y="777240"/>
            <a:ext cx="2492931" cy="5394960"/>
          </a:xfrm>
          <a:prstGeom prst="rect">
            <a:avLst/>
          </a:prstGeom>
        </p:spPr>
      </p:pic>
      <p:sp>
        <p:nvSpPr>
          <p:cNvPr id="6068" name="Rectangle 6067"/>
          <p:cNvSpPr/>
          <p:nvPr/>
        </p:nvSpPr>
        <p:spPr>
          <a:xfrm>
            <a:off x="5158342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69" name="TextBox 6068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정체 · 앞쪽 사고(목업 시나리오)</a:t>
            </a:r>
          </a:p>
        </p:txBody>
      </p:sp>
      <p:sp>
        <p:nvSpPr>
          <p:cNvPr id="30019" name="marker 1"/>
          <p:cNvSpPr/>
          <p:nvPr/>
        </p:nvSpPr>
        <p:spPr>
          <a:xfrm>
            <a:off x="1705852" y="94136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20" name="marker 2"/>
          <p:cNvSpPr/>
          <p:nvPr/>
        </p:nvSpPr>
        <p:spPr>
          <a:xfrm>
            <a:off x="1705852" y="277565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21" name="marker 3"/>
          <p:cNvSpPr/>
          <p:nvPr/>
        </p:nvSpPr>
        <p:spPr>
          <a:xfrm>
            <a:off x="1581206" y="439413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22" name="marker 4"/>
          <p:cNvSpPr/>
          <p:nvPr/>
        </p:nvSpPr>
        <p:spPr>
          <a:xfrm>
            <a:off x="3376116" y="434018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23" name="marker 5"/>
          <p:cNvSpPr/>
          <p:nvPr/>
        </p:nvSpPr>
        <p:spPr>
          <a:xfrm>
            <a:off x="5462909" y="277565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24" name="marker 6"/>
          <p:cNvSpPr/>
          <p:nvPr/>
        </p:nvSpPr>
        <p:spPr>
          <a:xfrm>
            <a:off x="7207961" y="288355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25" name="marker 7"/>
          <p:cNvSpPr/>
          <p:nvPr/>
        </p:nvSpPr>
        <p:spPr>
          <a:xfrm>
            <a:off x="6534869" y="471783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홈 · 목적지 검색 · 경로 비교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AP-DR-3003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홈 &gt; 어디로 가세요? &gt; 경로 고르기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721664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검색 입력. 카카오 장소 검색 자동완성, [&lt;] 로 닫기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[집] · [회사] 바로가기. 처음엔 '눌러서 등록'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최근 목적지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목적지를 넣으면 경로 위 CCTV만 가까운 순, 앞쪽 정체 구간도 알려 준다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출발(내 위치) · 목적지(부산역)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경로 비교 지도. 경로를 지도 위 선으로 보여 줌(카카오모빌리티 길찾기)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★경로별 시간·거리·통행료 + 경로 위 CCTV 수 · 막힌 구간 수 (추천·최단 시간 / 무료도로)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8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[이 경로로 CCTV 보기]. 고른 경로 위 CCTV만 홈에서 보여 준다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!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앞볼래는 길 안내를 하지 않는다 — 고른 경로 위 CCTV와 정체만 보여 줌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목적지를 넣으면 경로별 CCTV 수·막힌 구간을 비교해 고를 수 있고, CCTV 목록이 경로 위 CCTV만으로 바뀌어야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  <p:pic>
        <p:nvPicPr>
          <p:cNvPr id="1211" name="Picture 1210" descr="d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목적지 검색 시트</a:t>
            </a:r>
          </a:p>
        </p:txBody>
      </p:sp>
      <p:pic>
        <p:nvPicPr>
          <p:cNvPr id="6074" name="Picture 6073" descr="s7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515" y="777240"/>
            <a:ext cx="2448585" cy="5394960"/>
          </a:xfrm>
          <a:prstGeom prst="rect">
            <a:avLst/>
          </a:prstGeom>
        </p:spPr>
      </p:pic>
      <p:sp>
        <p:nvSpPr>
          <p:cNvPr id="30026" name="Rectangle 1211"/>
          <p:cNvSpPr/>
          <p:nvPr/>
        </p:nvSpPr>
        <p:spPr>
          <a:xfrm>
            <a:off x="5180515" y="777240"/>
            <a:ext cx="2448585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0027" name="TextBox 1212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경로 고르기(실제 · 부산역, 밤 화면)</a:t>
            </a:r>
          </a:p>
        </p:txBody>
      </p:sp>
      <p:sp>
        <p:nvSpPr>
          <p:cNvPr id="30028" name="marker 1"/>
          <p:cNvSpPr/>
          <p:nvPr/>
        </p:nvSpPr>
        <p:spPr>
          <a:xfrm>
            <a:off x="2079792" y="67161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29" name="marker 2"/>
          <p:cNvSpPr/>
          <p:nvPr/>
        </p:nvSpPr>
        <p:spPr>
          <a:xfrm>
            <a:off x="1581206" y="104926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0" name="marker 3"/>
          <p:cNvSpPr/>
          <p:nvPr/>
        </p:nvSpPr>
        <p:spPr>
          <a:xfrm>
            <a:off x="1581206" y="158876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1" name="marker 4"/>
          <p:cNvSpPr/>
          <p:nvPr/>
        </p:nvSpPr>
        <p:spPr>
          <a:xfrm>
            <a:off x="1581206" y="191245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2" name="marker 5"/>
          <p:cNvSpPr/>
          <p:nvPr/>
        </p:nvSpPr>
        <p:spPr>
          <a:xfrm>
            <a:off x="5356001" y="115716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3" name="marker 6"/>
          <p:cNvSpPr/>
          <p:nvPr/>
        </p:nvSpPr>
        <p:spPr>
          <a:xfrm>
            <a:off x="5845718" y="229010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4" name="marker 7"/>
          <p:cNvSpPr/>
          <p:nvPr/>
        </p:nvSpPr>
        <p:spPr>
          <a:xfrm>
            <a:off x="5356001" y="353094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35" name="marker 8"/>
          <p:cNvSpPr/>
          <p:nvPr/>
        </p:nvSpPr>
        <p:spPr>
          <a:xfrm>
            <a:off x="5478430" y="493363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홈 · 예외 상황 E3~E6 (목업 시나리오로 재현)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AP-DR-3004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홈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E3 '내 위치를 확인하고 있어요'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위치가 잡히면 바로 표시, 마지막 유효 방향 유지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E4 '앞쪽 5km 안에 CCTV가 없어요'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'○m 더 가면 다시 찾아요' + 남은 초·진행 막대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E5 '영상이 나오지 않아 다음 CCTV로 넘어갔어요'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12초 안에 영상이 안 나오면 다음 CCTV 자동 재생, 목록에는 '영상 없음 · 눌러서 다시 시도'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E6 '교통정보 서버에 연결하지 못했어요'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 캐시(60초) 목록 유지 + 재시도 카운트다운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★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E3·E4·E6 안내는 같은 상단 배너 형식(AP-CM-0001), E5 는 아래 알림(토스트)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어떤 예외에서도 빈 화면 없이 지금 상태와 다시 찾기까지 남은 시간을 보여 줘야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  <p:pic>
        <p:nvPicPr>
          <p:cNvPr id="20004" name="Picture 20003" descr="drive-tun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90" y="914400"/>
            <a:ext cx="2007021" cy="434340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287190" y="914400"/>
            <a:ext cx="2007021" cy="43434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2870" y="5294376"/>
            <a:ext cx="255566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E3 신호 끊김·터널</a:t>
            </a:r>
          </a:p>
        </p:txBody>
      </p:sp>
      <p:sp>
        <p:nvSpPr>
          <p:cNvPr id="6074" name="marker 1"/>
          <p:cNvSpPr/>
          <p:nvPr/>
        </p:nvSpPr>
        <p:spPr>
          <a:xfrm>
            <a:off x="240365" y="88815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005" name="Picture 20004" descr="drive-nocct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4243" y="914400"/>
            <a:ext cx="2007021" cy="4343400"/>
          </a:xfrm>
          <a:prstGeom prst="rect">
            <a:avLst/>
          </a:prstGeom>
        </p:spPr>
      </p:pic>
      <p:sp>
        <p:nvSpPr>
          <p:cNvPr id="6076" name="Rectangle 6075"/>
          <p:cNvSpPr/>
          <p:nvPr/>
        </p:nvSpPr>
        <p:spPr>
          <a:xfrm>
            <a:off x="2444243" y="914400"/>
            <a:ext cx="2007021" cy="43434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77" name="TextBox 6076"/>
          <p:cNvSpPr txBox="1"/>
          <p:nvPr/>
        </p:nvSpPr>
        <p:spPr>
          <a:xfrm>
            <a:off x="2169923" y="5294376"/>
            <a:ext cx="255566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E4 전방 CCTV 없음</a:t>
            </a:r>
          </a:p>
        </p:txBody>
      </p:sp>
      <p:sp>
        <p:nvSpPr>
          <p:cNvPr id="20001" name="marker 2"/>
          <p:cNvSpPr/>
          <p:nvPr/>
        </p:nvSpPr>
        <p:spPr>
          <a:xfrm>
            <a:off x="2397418" y="88815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78" name="Picture 6077" descr="drive-brok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1295" y="914400"/>
            <a:ext cx="2007021" cy="4343400"/>
          </a:xfrm>
          <a:prstGeom prst="rect">
            <a:avLst/>
          </a:prstGeom>
        </p:spPr>
      </p:pic>
      <p:sp>
        <p:nvSpPr>
          <p:cNvPr id="6079" name="Rectangle 6078"/>
          <p:cNvSpPr/>
          <p:nvPr/>
        </p:nvSpPr>
        <p:spPr>
          <a:xfrm>
            <a:off x="4601295" y="914400"/>
            <a:ext cx="2007021" cy="43434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80" name="TextBox 6079"/>
          <p:cNvSpPr txBox="1"/>
          <p:nvPr/>
        </p:nvSpPr>
        <p:spPr>
          <a:xfrm>
            <a:off x="4326975" y="5294376"/>
            <a:ext cx="255566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E5 영상 재생 실패(밤 화면)</a:t>
            </a:r>
          </a:p>
        </p:txBody>
      </p:sp>
      <p:sp>
        <p:nvSpPr>
          <p:cNvPr id="20002" name="marker 3"/>
          <p:cNvSpPr/>
          <p:nvPr/>
        </p:nvSpPr>
        <p:spPr>
          <a:xfrm>
            <a:off x="4554470" y="88815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006" name="Picture 20005" descr="drive-apidow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8347" y="914400"/>
            <a:ext cx="2007021" cy="4343400"/>
          </a:xfrm>
          <a:prstGeom prst="rect">
            <a:avLst/>
          </a:prstGeom>
        </p:spPr>
      </p:pic>
      <p:sp>
        <p:nvSpPr>
          <p:cNvPr id="6082" name="Rectangle 6081"/>
          <p:cNvSpPr/>
          <p:nvPr/>
        </p:nvSpPr>
        <p:spPr>
          <a:xfrm>
            <a:off x="6758347" y="914400"/>
            <a:ext cx="2007021" cy="43434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83" name="TextBox 6082"/>
          <p:cNvSpPr txBox="1"/>
          <p:nvPr/>
        </p:nvSpPr>
        <p:spPr>
          <a:xfrm>
            <a:off x="6484027" y="5294376"/>
            <a:ext cx="255566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E6 ITS 장애</a:t>
            </a:r>
          </a:p>
        </p:txBody>
      </p:sp>
      <p:sp>
        <p:nvSpPr>
          <p:cNvPr id="20003" name="marker 4"/>
          <p:cNvSpPr/>
          <p:nvPr/>
        </p:nvSpPr>
        <p:spPr>
          <a:xfrm>
            <a:off x="6711522" y="88815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앞길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앞길 요약 (실제 ITS + 돌발 예시)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AP-DR-3101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앞길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379448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갱신 시각('8초 전 갱신')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목적지까지 남은 시간(목적지가 있을 때)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[카카오맵으로] · [티맵으로]. 다른 길은 길안내 앱에 넘긴다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앞쪽 CCTV 목록(경로 거리순). 거리·소통 상태, 누르면 홈 탭에서 그 영상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★원인 요약. '2.3km 앞 사고 · 2차로 통제 / 5.6km 정체 · 평균 12km/h'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[운전자에게 보여 주기]. 전체 화면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[풀리는 곳 보기]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8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 정체로 늦어지는 시간. 앞 10km, 막히지 않을 때 대비(어림값)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9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★앞 10km 소통 띠. CCTV·돌발 위치, 누르면 홈 탭에서 그 영상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3F3F3F"/>
                          </a:solidFill>
                        </a:rPr>
                        <a:t>*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아래로: 돌발 상세(발생·해소 예정·통제 차로) · 날씨</a:t>
                      </a:r>
                      <a:endParaRPr sz="9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>
                          <a:solidFill>
                            <a:srgbClr val="3F3F3F"/>
                          </a:solidFill>
                        </a:rPr>
                        <a:t>영상을 보지 않고도 '왜 막히고, 어디까지고, 얼마나 늦어지는지'를 이 화면에서 답할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  <p:pic>
        <p:nvPicPr>
          <p:cNvPr id="1211" name="Picture 1210" descr="ahead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실제 ITS · 목적지 기흥IC</a:t>
            </a:r>
          </a:p>
        </p:txBody>
      </p:sp>
      <p:sp>
        <p:nvSpPr>
          <p:cNvPr id="6078" name="marker 1"/>
          <p:cNvSpPr/>
          <p:nvPr/>
        </p:nvSpPr>
        <p:spPr>
          <a:xfrm>
            <a:off x="3008289" y="82456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79" name="marker 2"/>
          <p:cNvSpPr/>
          <p:nvPr/>
        </p:nvSpPr>
        <p:spPr>
          <a:xfrm>
            <a:off x="1126965" y="286365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0" name="marker 3"/>
          <p:cNvSpPr/>
          <p:nvPr/>
        </p:nvSpPr>
        <p:spPr>
          <a:xfrm>
            <a:off x="1126965" y="322800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1" name="marker 4"/>
          <p:cNvSpPr/>
          <p:nvPr/>
        </p:nvSpPr>
        <p:spPr>
          <a:xfrm>
            <a:off x="1126965" y="373937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82" name="Picture 6081" descr="ahead-acci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42" y="777240"/>
            <a:ext cx="2492931" cy="5394960"/>
          </a:xfrm>
          <a:prstGeom prst="rect">
            <a:avLst/>
          </a:prstGeom>
        </p:spPr>
      </p:pic>
      <p:sp>
        <p:nvSpPr>
          <p:cNvPr id="6083" name="Rectangle 6082"/>
          <p:cNvSpPr/>
          <p:nvPr/>
        </p:nvSpPr>
        <p:spPr>
          <a:xfrm>
            <a:off x="5158342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84" name="TextBox 6083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돌발 예시(목업 시나리오)</a:t>
            </a:r>
          </a:p>
        </p:txBody>
      </p:sp>
      <p:sp>
        <p:nvSpPr>
          <p:cNvPr id="20001" name="marker 5"/>
          <p:cNvSpPr/>
          <p:nvPr/>
        </p:nvSpPr>
        <p:spPr>
          <a:xfrm>
            <a:off x="4884022" y="123365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6"/>
          <p:cNvSpPr/>
          <p:nvPr/>
        </p:nvSpPr>
        <p:spPr>
          <a:xfrm>
            <a:off x="4884022" y="175781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3" name="marker 7"/>
          <p:cNvSpPr/>
          <p:nvPr/>
        </p:nvSpPr>
        <p:spPr>
          <a:xfrm>
            <a:off x="6701425" y="158522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5" name="marker 8"/>
          <p:cNvSpPr/>
          <p:nvPr/>
        </p:nvSpPr>
        <p:spPr>
          <a:xfrm>
            <a:off x="4884022" y="226918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6" name="marker 9"/>
          <p:cNvSpPr/>
          <p:nvPr/>
        </p:nvSpPr>
        <p:spPr>
          <a:xfrm>
            <a:off x="4884022" y="436580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기록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지나온 정체와 원인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AP-DR-3201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기록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최근 7일. 정체 횟수 · 정체로 보낸 시간 · 가장 잦은 원인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★'아까 왜 막혔지?'</a:t>
                      </a:r>
                      <a:endParaRPr sz="1000"/>
                    </a:p>
                    <a:p>
                      <a:pPr marL="182880" marR="0" lvl="0" indent="-914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지나온 정체·돌발을 날짜별로 자동 기록(이 기기에만, 최근 200건)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항목. 시각 · 원인 색 점 · 도로 · 걸린 시간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[기록 지우기]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테스트 주행 정확도. 차터 KPI(정확도 90%, 20곳) 계산, [CSV 내려받기]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빈 상태 안내. 언제 무엇이 기록되는지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[기록 모드 켜기]. 테스트 주행용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주행이 끝난 뒤에도 지나온 정체의 시각·원인·길이를 다시 볼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26</a:t>
            </a:fld>
            <a:endParaRPr/>
          </a:p>
        </p:txBody>
      </p:sp>
      <p:pic>
        <p:nvPicPr>
          <p:cNvPr id="1211" name="Picture 1210" descr="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기록 있음(견본 4건)</a:t>
            </a:r>
          </a:p>
        </p:txBody>
      </p:sp>
      <p:sp>
        <p:nvSpPr>
          <p:cNvPr id="6087" name="marker 1"/>
          <p:cNvSpPr/>
          <p:nvPr/>
        </p:nvSpPr>
        <p:spPr>
          <a:xfrm>
            <a:off x="1126965" y="124005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8" name="marker 2"/>
          <p:cNvSpPr/>
          <p:nvPr/>
        </p:nvSpPr>
        <p:spPr>
          <a:xfrm>
            <a:off x="1126965" y="203267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9" name="marker 3"/>
          <p:cNvSpPr/>
          <p:nvPr/>
        </p:nvSpPr>
        <p:spPr>
          <a:xfrm>
            <a:off x="1126965" y="251208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0" name="marker 4"/>
          <p:cNvSpPr/>
          <p:nvPr/>
        </p:nvSpPr>
        <p:spPr>
          <a:xfrm>
            <a:off x="1126965" y="467262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1" name="marker 5"/>
          <p:cNvSpPr/>
          <p:nvPr/>
        </p:nvSpPr>
        <p:spPr>
          <a:xfrm>
            <a:off x="1126965" y="518399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92" name="Picture 6091" descr="log-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42" y="777240"/>
            <a:ext cx="2492931" cy="5394960"/>
          </a:xfrm>
          <a:prstGeom prst="rect">
            <a:avLst/>
          </a:prstGeom>
        </p:spPr>
      </p:pic>
      <p:sp>
        <p:nvSpPr>
          <p:cNvPr id="6093" name="Rectangle 6092"/>
          <p:cNvSpPr/>
          <p:nvPr/>
        </p:nvSpPr>
        <p:spPr>
          <a:xfrm>
            <a:off x="5158342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094" name="TextBox 6093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기록 없음</a:t>
            </a:r>
          </a:p>
        </p:txBody>
      </p:sp>
      <p:sp>
        <p:nvSpPr>
          <p:cNvPr id="20001" name="marker 6"/>
          <p:cNvSpPr/>
          <p:nvPr/>
        </p:nvSpPr>
        <p:spPr>
          <a:xfrm>
            <a:off x="4884022" y="1240052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7"/>
          <p:cNvSpPr/>
          <p:nvPr/>
        </p:nvSpPr>
        <p:spPr>
          <a:xfrm>
            <a:off x="4884022" y="267828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208" name="Google Shape;1208;p18"/>
          <p:cNvGraphicFramePr/>
          <p:nvPr/>
        </p:nvGraphicFramePr>
        <p:xfrm>
          <a:off x="31684" y="25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AI (예정)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AI 기능 · 우리 차 찾기 / 앞길 자동 기록 (예상 화면, 9~10주 개발)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AP-DR-3301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홈 / 기록 (예정)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★우리 차 찾기. GPS로 CCTV 앞을 지나는 순간을 계산 → 내 쪽 차로의 차에 '우리 차?' 표시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= Google MediaPipe 객체 검출(미리 학습된 모델). 차·버스·트럭 인식, 휴대폰 안에서 실행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★앞길 자동 기록. 경로 위 정체·사고 지점의 CCTV를 자동 캡처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판별 배지. 정체 · 서행 · 원활 — 기록 탭에 시간순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이번 여행 요약. 출발 → 도착 · 막힘 n곳 · 사고 n곳 · CCTV 캡처 n장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!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설명용 예상 화면. 9~10주 개발, 11주 앱에 붙임. 과제: CCTV 지연과 GPS 시각 맞추기, 캡처 저장은 CCTV 이용 조건 확인 후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한 대를 정확히 못 집어도 '우리 차?' 표시로 내 차를 알아볼 수 있고, 주행 뒤 막힌 곳 캡처와 판별이 기록 탭에 남아야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27</a:t>
            </a:fld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509555" y="2970828"/>
            <a:ext cx="4300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① 우리 차 찾기 — 예상 화면, 9~10주 개발</a:t>
            </a:r>
          </a:p>
        </p:txBody>
      </p:sp>
      <p:sp>
        <p:nvSpPr>
          <p:cNvPr id="6094" name="TextBox 6093"/>
          <p:cNvSpPr txBox="1"/>
          <p:nvPr/>
        </p:nvSpPr>
        <p:spPr>
          <a:xfrm>
            <a:off x="4800000" y="4837240"/>
            <a:ext cx="4270588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② 앞길 자동 기록 — 예상 화면, 9~10주 개발</a:t>
            </a:r>
          </a:p>
        </p:txBody>
      </p:sp>
      <p:pic>
        <p:nvPicPr>
          <p:cNvPr id="6095" name="Picture 6094" descr="s6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55" y="1100000"/>
            <a:ext cx="4300000" cy="1810828"/>
          </a:xfrm>
          <a:prstGeom prst="rect">
            <a:avLst/>
          </a:prstGeom>
        </p:spPr>
      </p:pic>
      <p:sp>
        <p:nvSpPr>
          <p:cNvPr id="30043" name="Rectangle 1211"/>
          <p:cNvSpPr/>
          <p:nvPr/>
        </p:nvSpPr>
        <p:spPr>
          <a:xfrm>
            <a:off x="509555" y="1100000"/>
            <a:ext cx="4300000" cy="1810828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pic>
        <p:nvPicPr>
          <p:cNvPr id="30044" name="Picture 30043" descr="s6_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000" y="777240"/>
            <a:ext cx="3670588" cy="4000000"/>
          </a:xfrm>
          <a:prstGeom prst="rect">
            <a:avLst/>
          </a:prstGeom>
        </p:spPr>
      </p:pic>
      <p:sp>
        <p:nvSpPr>
          <p:cNvPr id="30044" name="Rectangle 1211"/>
          <p:cNvSpPr/>
          <p:nvPr/>
        </p:nvSpPr>
        <p:spPr>
          <a:xfrm>
            <a:off x="5100000" y="777240"/>
            <a:ext cx="3670588" cy="400000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0045" name="TextBox 1212"/>
          <p:cNvSpPr txBox="1"/>
          <p:nvPr/>
        </p:nvSpPr>
        <p:spPr>
          <a:xfrm>
            <a:off x="509555" y="3670828"/>
            <a:ext cx="4300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② 흐름: 목적지 입력 → 경로 위 정체·사고 지점 감지</a:t>
            </a:r>
          </a:p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→ 그 CCTV 자동 캡처 + AI 판별 → 기록 탭에 시간순</a:t>
            </a:r>
          </a:p>
        </p:txBody>
      </p:sp>
      <p:sp>
        <p:nvSpPr>
          <p:cNvPr id="30046" name="marker 1"/>
          <p:cNvSpPr/>
          <p:nvPr/>
        </p:nvSpPr>
        <p:spPr>
          <a:xfrm>
            <a:off x="2160183" y="220875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47" name="marker 2"/>
          <p:cNvSpPr/>
          <p:nvPr/>
        </p:nvSpPr>
        <p:spPr>
          <a:xfrm>
            <a:off x="3106183" y="224497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48" name="marker 3"/>
          <p:cNvSpPr/>
          <p:nvPr/>
        </p:nvSpPr>
        <p:spPr>
          <a:xfrm>
            <a:off x="5471098" y="182976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49" name="marker 4"/>
          <p:cNvSpPr/>
          <p:nvPr/>
        </p:nvSpPr>
        <p:spPr>
          <a:xfrm>
            <a:off x="7967098" y="250976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50" name="marker 5"/>
          <p:cNvSpPr/>
          <p:nvPr/>
        </p:nvSpPr>
        <p:spPr>
          <a:xfrm>
            <a:off x="6131804" y="74976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내 정보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앱 정보 · 설정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AP-IF-4001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내 정보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321544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계정. 게스트('로그인 없이 쓰는 중이에요') 또는 로그인 사용자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[로그인]. 1-2 로그인으로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[새 주행 시작]. 2-1 동승자 확인부터 다시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[화면 모드]. 자동(해 기준, 기본) · 밝게 · 어둡게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[데이터 사용] · [정보 출처]. ITS·카카오·Open-Meteo(CC BY 4.0) 고지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6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약관·정책 4종. AP-IF-4002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7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앱 버전 · 팀명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★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 4번째. 주행 전(동승자 확인 전)에도 열린다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주행 전에도 열리고, 새 주행 시작과 화면 모드를 여기서 바꿀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28</a:t>
            </a:fld>
            <a:endParaRPr/>
          </a:p>
        </p:txBody>
      </p:sp>
      <p:pic>
        <p:nvPicPr>
          <p:cNvPr id="1211" name="Picture 1210" descr="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777240"/>
            <a:ext cx="2577437" cy="557784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3291840" y="777240"/>
            <a:ext cx="2577437" cy="55778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3017520" y="6391655"/>
            <a:ext cx="3126077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4-1 내 정보</a:t>
            </a:r>
          </a:p>
        </p:txBody>
      </p:sp>
      <p:sp>
        <p:nvSpPr>
          <p:cNvPr id="6094" name="marker 1"/>
          <p:cNvSpPr/>
          <p:nvPr/>
        </p:nvSpPr>
        <p:spPr>
          <a:xfrm>
            <a:off x="3017520" y="131924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5" name="marker 2"/>
          <p:cNvSpPr/>
          <p:nvPr/>
        </p:nvSpPr>
        <p:spPr>
          <a:xfrm>
            <a:off x="4957348" y="1319249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6" name="marker 3"/>
          <p:cNvSpPr/>
          <p:nvPr/>
        </p:nvSpPr>
        <p:spPr>
          <a:xfrm>
            <a:off x="3017520" y="2105698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7" name="marker 4"/>
          <p:cNvSpPr/>
          <p:nvPr/>
        </p:nvSpPr>
        <p:spPr>
          <a:xfrm>
            <a:off x="3017520" y="2462574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8" name="marker 5"/>
          <p:cNvSpPr/>
          <p:nvPr/>
        </p:nvSpPr>
        <p:spPr>
          <a:xfrm>
            <a:off x="3017520" y="313667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9" name="marker 6"/>
          <p:cNvSpPr/>
          <p:nvPr/>
        </p:nvSpPr>
        <p:spPr>
          <a:xfrm>
            <a:off x="3017520" y="4174257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00" name="marker 7"/>
          <p:cNvSpPr/>
          <p:nvPr/>
        </p:nvSpPr>
        <p:spPr>
          <a:xfrm>
            <a:off x="4032113" y="564802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8;p18"/>
          <p:cNvGraphicFramePr/>
          <p:nvPr/>
        </p:nvGraphicFramePr>
        <p:xfrm>
          <a:off x="31684" y="25632"/>
          <a:ext cx="12111625" cy="487600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25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7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latin typeface="Malgun Gothic"/>
                          <a:ea typeface="Malgun Gothic"/>
                          <a:cs typeface="Malgun Gothic"/>
                        </a:rPr>
                        <a:t>내 정보</a:t>
                      </a:r>
                      <a:endParaRPr/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약관 · 오픈소스 라이선스 (약관은 초안)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Malgun Gothic"/>
                          <a:ea typeface="Malgun Gothic"/>
                          <a:cs typeface="Malgun Gothic"/>
                        </a:rPr>
                        <a:t>AP-IF-4002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>
                          <a:latin typeface="Malgun Gothic"/>
                          <a:ea typeface="Malgun Gothic"/>
                          <a:cs typeface="Malgun Gothic"/>
                        </a:rPr>
                        <a:t>Home &gt; 내 정보 &gt; 약관·정책</a:t>
                      </a:r>
                      <a:endParaRPr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9" name="Google Shape;1209;p18"/>
          <p:cNvGraphicFramePr/>
          <p:nvPr/>
        </p:nvGraphicFramePr>
        <p:xfrm>
          <a:off x="9153495" y="838009"/>
          <a:ext cx="2965400" cy="2325464"/>
        </p:xfrm>
        <a:graphic>
          <a:graphicData uri="http://schemas.openxmlformats.org/drawingml/2006/table">
            <a:tbl>
              <a:tblPr firstRow="1" bandRow="1">
                <a:noFill/>
                <a:tableStyleId>{A26EC6E9-F500-457B-9968-DCF0B1F1A0E5}</a:tableStyleId>
              </a:tblPr>
              <a:tblGrid>
                <a:gridCol w="3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1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[&lt;] 뒤로가기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2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시행일 · 초안 안내. 출시 전 법률 검토 후 확정본으로 교체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3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목차. 누르면 해당 조항으로(4-3 개인정보 · 4-4 위치기반 약관도 같은 틀)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4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 또는 라이선스로 찾기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3F3F3F"/>
                          </a:solidFill>
                        </a:rPr>
                        <a:t>5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패키지 목록(111개). 이름·버전·라이선스, 누르면 전문. 빌드 때 자동 생성</a:t>
                      </a:r>
                      <a:endParaRPr sz="1000"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</a:rPr>
                        <a:t>Check Point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>
                          <a:solidFill>
                            <a:srgbClr val="3F3F3F"/>
                          </a:solidFill>
                        </a:rPr>
                        <a:t>약관과 오픈소스 라이선스 원문을 앱 안에서 끝까지 볼 수 있어야 한다.</a:t>
                      </a:r>
                      <a:endParaRPr sz="800" b="0">
                        <a:solidFill>
                          <a:srgbClr val="3F3F3F"/>
                        </a:solidFill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/>
                    </a:p>
                  </a:txBody>
                  <a:tcPr marL="91425" marR="91425" marT="45700" marB="457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10" name="Google Shape;1210;p18"/>
          <p:cNvSpPr txBox="1">
            <a:spLocks noGrp="1"/>
          </p:cNvSpPr>
          <p:nvPr>
            <p:ph type="sldNum" idx="12"/>
          </p:nvPr>
        </p:nvSpPr>
        <p:spPr>
          <a:xfrm>
            <a:off x="10200990" y="261382"/>
            <a:ext cx="1944162" cy="25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29</a:t>
            </a:fld>
            <a:endParaRPr/>
          </a:p>
        </p:txBody>
      </p:sp>
      <p:pic>
        <p:nvPicPr>
          <p:cNvPr id="1211" name="Picture 1210" descr="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85" y="777240"/>
            <a:ext cx="2492931" cy="5394960"/>
          </a:xfrm>
          <a:prstGeom prst="rect">
            <a:avLst/>
          </a:prstGeom>
        </p:spPr>
      </p:pic>
      <p:sp>
        <p:nvSpPr>
          <p:cNvPr id="1212" name="Rectangle 1211"/>
          <p:cNvSpPr/>
          <p:nvPr/>
        </p:nvSpPr>
        <p:spPr>
          <a:xfrm>
            <a:off x="1401285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13" name="TextBox 1212"/>
          <p:cNvSpPr txBox="1"/>
          <p:nvPr/>
        </p:nvSpPr>
        <p:spPr>
          <a:xfrm>
            <a:off x="1126965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4-2 서비스 이용약관</a:t>
            </a:r>
          </a:p>
        </p:txBody>
      </p:sp>
      <p:sp>
        <p:nvSpPr>
          <p:cNvPr id="6101" name="marker 1"/>
          <p:cNvSpPr/>
          <p:nvPr/>
        </p:nvSpPr>
        <p:spPr>
          <a:xfrm>
            <a:off x="1126965" y="735073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02" name="marker 2"/>
          <p:cNvSpPr/>
          <p:nvPr/>
        </p:nvSpPr>
        <p:spPr>
          <a:xfrm>
            <a:off x="1126965" y="1329541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03" name="marker 3"/>
          <p:cNvSpPr/>
          <p:nvPr/>
        </p:nvSpPr>
        <p:spPr>
          <a:xfrm>
            <a:off x="1126965" y="1745030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04" name="Picture 6103" descr="licen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42" y="777240"/>
            <a:ext cx="2492931" cy="5394960"/>
          </a:xfrm>
          <a:prstGeom prst="rect">
            <a:avLst/>
          </a:prstGeom>
        </p:spPr>
      </p:pic>
      <p:sp>
        <p:nvSpPr>
          <p:cNvPr id="6105" name="Rectangle 6104"/>
          <p:cNvSpPr/>
          <p:nvPr/>
        </p:nvSpPr>
        <p:spPr>
          <a:xfrm>
            <a:off x="5158342" y="777240"/>
            <a:ext cx="2492931" cy="539496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106" name="TextBox 6105"/>
          <p:cNvSpPr txBox="1"/>
          <p:nvPr/>
        </p:nvSpPr>
        <p:spPr>
          <a:xfrm>
            <a:off x="4884022" y="6208776"/>
            <a:ext cx="3041571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4-5 오픈소스 라이선스</a:t>
            </a:r>
          </a:p>
        </p:txBody>
      </p:sp>
      <p:sp>
        <p:nvSpPr>
          <p:cNvPr id="20001" name="marker 4"/>
          <p:cNvSpPr/>
          <p:nvPr/>
        </p:nvSpPr>
        <p:spPr>
          <a:xfrm>
            <a:off x="4884022" y="1968755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02" name="marker 5"/>
          <p:cNvSpPr/>
          <p:nvPr/>
        </p:nvSpPr>
        <p:spPr>
          <a:xfrm>
            <a:off x="4884022" y="2512086"/>
            <a:ext cx="237744" cy="237744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1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3661</Words>
  <Application>Microsoft Office PowerPoint</Application>
  <PresentationFormat>와이드스크린</PresentationFormat>
  <Paragraphs>882</Paragraphs>
  <Slides>27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SKCC</dc:creator>
  <cp:lastModifiedBy>주성 한</cp:lastModifiedBy>
  <cp:revision>1</cp:revision>
  <dcterms:created xsi:type="dcterms:W3CDTF">2021-02-25T00:35:12Z</dcterms:created>
  <dcterms:modified xsi:type="dcterms:W3CDTF">2026-10-14T08:29:20Z</dcterms:modified>
</cp:coreProperties>
</file>