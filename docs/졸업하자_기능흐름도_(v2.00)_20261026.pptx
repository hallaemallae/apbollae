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61" r:id="rId2"/>
    <p:sldId id="262" r:id="rId3"/>
    <p:sldId id="263" r:id="rId4"/>
    <p:sldId id="264" r:id="rId5"/>
    <p:sldId id="265" r:id="rId6"/>
    <p:sldId id="266" r:id="rId10"/>
    <p:sldId id="267" r:id="rId9"/>
    <p:sldId id="268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orient="horz" pos="259">
          <p15:clr>
            <a:srgbClr val="A4A3A4"/>
          </p15:clr>
        </p15:guide>
        <p15:guide id="3" orient="horz" pos="1620">
          <p15:clr>
            <a:srgbClr val="A4A3A4"/>
          </p15:clr>
        </p15:guide>
        <p15:guide id="4" pos="5603">
          <p15:clr>
            <a:srgbClr val="A4A3A4"/>
          </p15:clr>
        </p15:guide>
        <p15:guide id="5" pos="158">
          <p15:clr>
            <a:srgbClr val="A4A3A4"/>
          </p15:clr>
        </p15:guide>
        <p15:guide id="6" orient="horz" pos="486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" roundtripDataSignature="AMtx7mgHdws4oSNnTUo2Z7smEpzfbgan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62" y="869"/>
      </p:cViewPr>
      <p:guideLst>
        <p:guide orient="horz" pos="3072"/>
        <p:guide orient="horz" pos="259"/>
        <p:guide orient="horz" pos="1620"/>
        <p:guide pos="5603"/>
        <p:guide pos="158"/>
        <p:guide orient="horz" pos="48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8.xml"/><Relationship Id="rId9" Type="http://schemas.openxmlformats.org/officeDocument/2006/relationships/slide" Target="slides/slide7.xml"/><Relationship Id="rId10" Type="http://schemas.openxmlformats.org/officeDocument/2006/relationships/slide" Target="slides/slide6.xml"/><Relationship Id="rId11" Type="http://customschemas.google.com/relationships/presentationmetadata" Target="meta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본문_1">
  <p:cSld name="7_본문_1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7"/>
          <p:cNvSpPr/>
          <p:nvPr/>
        </p:nvSpPr>
        <p:spPr>
          <a:xfrm>
            <a:off x="4328304" y="4876015"/>
            <a:ext cx="487392" cy="2092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fld id="{00000000-1234-1234-1234-123412341234}" type="slidenum">
              <a:rPr lang="en-US" sz="1000" b="0" i="0" u="none" strike="noStrike" cap="non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r>
              <a:rPr lang="en-US" sz="1000" b="0" i="0" u="none" strike="noStrike" cap="non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 -</a:t>
            </a:r>
            <a:endParaRPr/>
          </a:p>
        </p:txBody>
      </p:sp>
      <p:pic>
        <p:nvPicPr>
          <p:cNvPr id="16" name="Google Shape;16;p7" descr="폰트, 그래픽, 로고, 그래픽 디자인이(가) 표시된 사진&#10;&#10;자동 생성된 설명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4876009"/>
            <a:ext cx="648060" cy="2575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7"/>
          <p:cNvSpPr/>
          <p:nvPr/>
        </p:nvSpPr>
        <p:spPr>
          <a:xfrm>
            <a:off x="0" y="8"/>
            <a:ext cx="9144000" cy="411163"/>
          </a:xfrm>
          <a:prstGeom prst="rect">
            <a:avLst/>
          </a:prstGeom>
          <a:solidFill>
            <a:srgbClr val="032F6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259">
          <p15:clr>
            <a:srgbClr val="FBAE40"/>
          </p15:clr>
        </p15:guide>
        <p15:guide id="4" orient="horz" pos="3049">
          <p15:clr>
            <a:srgbClr val="FBAE40"/>
          </p15:clr>
        </p15:guide>
        <p15:guide id="5" pos="159">
          <p15:clr>
            <a:srgbClr val="FBAE40"/>
          </p15:clr>
        </p15:guide>
        <p15:guide id="6" pos="5603">
          <p15:clr>
            <a:srgbClr val="FBAE40"/>
          </p15:clr>
        </p15:guide>
        <p15:guide id="7" orient="horz" pos="48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본문_2">
  <p:cSld name="1_본문_2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"/>
          <p:cNvSpPr/>
          <p:nvPr/>
        </p:nvSpPr>
        <p:spPr>
          <a:xfrm>
            <a:off x="4328304" y="4876015"/>
            <a:ext cx="487392" cy="2092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fld id="{00000000-1234-1234-1234-123412341234}" type="slidenum">
              <a:rPr lang="en-US" sz="1000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r>
              <a:rPr lang="en-US" sz="1000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 -</a:t>
            </a:r>
            <a:endParaRPr/>
          </a:p>
        </p:txBody>
      </p:sp>
      <p:pic>
        <p:nvPicPr>
          <p:cNvPr id="20" name="Google Shape;20;p8" descr="폰트, 그래픽, 로고, 그래픽 디자인이(가) 표시된 사진&#10;&#10;자동 생성된 설명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4876009"/>
            <a:ext cx="648060" cy="25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/>
          <p:nvPr/>
        </p:nvSpPr>
        <p:spPr>
          <a:xfrm>
            <a:off x="4353139" y="4926837"/>
            <a:ext cx="437735" cy="10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000" b="0" i="0" u="none" strike="noStrike" cap="non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1" name="Google Shape;11;p6"/>
          <p:cNvGrpSpPr/>
          <p:nvPr/>
        </p:nvGrpSpPr>
        <p:grpSpPr>
          <a:xfrm>
            <a:off x="4347213" y="4863425"/>
            <a:ext cx="449580" cy="228608"/>
            <a:chOff x="4742021" y="6517480"/>
            <a:chExt cx="449580" cy="261948"/>
          </a:xfrm>
        </p:grpSpPr>
        <p:pic>
          <p:nvPicPr>
            <p:cNvPr id="12" name="Google Shape;12;p6" descr="거버닝.png"/>
            <p:cNvPicPr preferRelativeResize="0"/>
            <p:nvPr/>
          </p:nvPicPr>
          <p:blipFill rotWithShape="1">
            <a:blip r:embed="rId4">
              <a:alphaModFix/>
            </a:blip>
            <a:srcRect t="76605"/>
            <a:stretch/>
          </p:blipFill>
          <p:spPr>
            <a:xfrm rot="-5400000">
              <a:off x="5037767" y="6625594"/>
              <a:ext cx="261948" cy="45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3;p6" descr="거버닝.png"/>
            <p:cNvPicPr preferRelativeResize="0"/>
            <p:nvPr/>
          </p:nvPicPr>
          <p:blipFill rotWithShape="1">
            <a:blip r:embed="rId4">
              <a:alphaModFix/>
            </a:blip>
            <a:srcRect t="76605"/>
            <a:stretch/>
          </p:blipFill>
          <p:spPr>
            <a:xfrm rot="5400000" flipH="1">
              <a:off x="4633907" y="6625594"/>
              <a:ext cx="261948" cy="4572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/>
          <p:nvPr/>
        </p:nvSpPr>
        <p:spPr>
          <a:xfrm>
            <a:off x="251520" y="-7999"/>
            <a:ext cx="4320480" cy="252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05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algun Gothic"/>
              <a:buNone/>
            </a:pPr>
            <a:r>
              <a:rPr lang="en-US" sz="17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흐름도(전체)</a:t>
            </a:r>
            <a:endParaRPr sz="1700" b="1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" name="Google Shape;77;p2"/>
          <p:cNvSpPr txBox="1"/>
          <p:nvPr/>
        </p:nvSpPr>
        <p:spPr>
          <a:xfrm>
            <a:off x="6336198" y="51472"/>
            <a:ext cx="2556284" cy="288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45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졸업하자</a:t>
            </a:r>
            <a:endParaRPr sz="17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1" name="TextBox 301"/>
          <p:cNvSpPr txBox="1"/>
          <p:nvPr/>
        </p:nvSpPr>
        <p:spPr>
          <a:xfrm>
            <a:off x="320040" y="457200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F3F73"/>
                </a:solidFill>
                <a:latin typeface="Malgun Gothic"/>
                <a:ea typeface="Malgun Gothic"/>
                <a:cs typeface="Malgun Gothic"/>
              </a:rPr>
              <a:t>기능 흐름 및 의사결정 프로세스(전체)</a:t>
            </a:r>
          </a:p>
        </p:txBody>
      </p:sp>
      <p:sp>
        <p:nvSpPr>
          <p:cNvPr id="302" name="TextBox 302"/>
          <p:cNvSpPr txBox="1"/>
          <p:nvPr/>
        </p:nvSpPr>
        <p:spPr>
          <a:xfrm>
            <a:off x="320040" y="713232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□ 앱을 켜면 ‘지금 내 앞’ CCTV가 가까운 순으로 자동 재생되는 조수석 동승자 전용 흐름</a:t>
            </a:r>
          </a:p>
        </p:txBody>
      </p:sp>
      <p:sp>
        <p:nvSpPr>
          <p:cNvPr id="303" name="TextBox 303"/>
          <p:cNvSpPr txBox="1"/>
          <p:nvPr/>
        </p:nvSpPr>
        <p:spPr>
          <a:xfrm>
            <a:off x="5577840" y="475488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F3F73"/>
                </a:solidFill>
                <a:latin typeface="Malgun Gothic"/>
                <a:ea typeface="Malgun Gothic"/>
                <a:cs typeface="Malgun Gothic"/>
              </a:rPr>
              <a:t>앞볼래 Apbollae</a:t>
            </a:r>
          </a:p>
        </p:txBody>
      </p:sp>
      <p:sp>
        <p:nvSpPr>
          <p:cNvPr id="304" name="TextBox 304"/>
          <p:cNvSpPr txBox="1"/>
          <p:nvPr/>
        </p:nvSpPr>
        <p:spPr>
          <a:xfrm>
            <a:off x="5120640" y="713232"/>
            <a:ext cx="3703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차가 막힐 때, 조수석에서 보는 내 앞 도로 CCTV</a:t>
            </a:r>
          </a:p>
        </p:txBody>
      </p:sp>
      <p:sp>
        <p:nvSpPr>
          <p:cNvPr id="305" name="Shape 305"/>
          <p:cNvSpPr/>
          <p:nvPr/>
        </p:nvSpPr>
        <p:spPr>
          <a:xfrm>
            <a:off x="320040" y="1371600"/>
            <a:ext cx="831088" cy="621792"/>
          </a:xfrm>
          <a:prstGeom prst="roundRect">
            <a:avLst>
              <a:gd name="adj" fmla="val 12000"/>
            </a:avLst>
          </a:prstGeom>
          <a:solidFill>
            <a:srgbClr val="1F3F73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앱 실행</a:t>
            </a:r>
          </a:p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로그인(선택)</a:t>
            </a:r>
          </a:p>
        </p:txBody>
      </p:sp>
      <p:sp>
        <p:nvSpPr>
          <p:cNvPr id="306" name="TextBox 306"/>
          <p:cNvSpPr txBox="1"/>
          <p:nvPr/>
        </p:nvSpPr>
        <p:spPr>
          <a:xfrm>
            <a:off x="338328" y="2066544"/>
            <a:ext cx="930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스플래시 화면</a:t>
            </a:r>
          </a:p>
          <a:p>
            <a:pPr algn="l"/>
            <a:r>
              <a:rPr sz="7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카카오·구글·이메일</a:t>
            </a:r>
          </a:p>
          <a:p>
            <a:pPr algn="l"/>
            <a:r>
              <a:rPr sz="7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또는 로그인 없이</a:t>
            </a:r>
          </a:p>
        </p:txBody>
      </p:sp>
      <p:cxnSp>
        <p:nvCxnSpPr>
          <p:cNvPr id="307" name="Connector 307"/>
          <p:cNvCxnSpPr/>
          <p:nvPr/>
        </p:nvCxnSpPr>
        <p:spPr>
          <a:xfrm>
            <a:off x="1160272" y="1682496"/>
            <a:ext cx="109728" cy="0"/>
          </a:xfrm>
          <a:prstGeom prst="line">
            <a:avLst/>
          </a:prstGeom>
          <a:ln w="12700">
            <a:solidFill>
              <a:srgbClr val="262626"/>
            </a:solidFill>
            <a:tailEnd type="triangle"/>
          </a:ln>
        </p:spPr>
      </p:cxnSp>
      <p:sp>
        <p:nvSpPr>
          <p:cNvPr id="308" name="Shape 308"/>
          <p:cNvSpPr/>
          <p:nvPr/>
        </p:nvSpPr>
        <p:spPr>
          <a:xfrm>
            <a:off x="1279144" y="1371600"/>
            <a:ext cx="831088" cy="621792"/>
          </a:xfrm>
          <a:prstGeom prst="roundRect">
            <a:avLst>
              <a:gd name="adj" fmla="val 12000"/>
            </a:avLst>
          </a:prstGeom>
          <a:solidFill>
            <a:srgbClr val="1F3F73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동승자 확인</a:t>
            </a:r>
          </a:p>
        </p:txBody>
      </p:sp>
      <p:sp>
        <p:nvSpPr>
          <p:cNvPr id="309" name="TextBox 309"/>
          <p:cNvSpPr txBox="1"/>
          <p:nvPr/>
        </p:nvSpPr>
        <p:spPr>
          <a:xfrm>
            <a:off x="1297432" y="2066544"/>
            <a:ext cx="930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‘조수석 동승자’ 체크</a:t>
            </a:r>
          </a:p>
          <a:p>
            <a:pPr algn="l"/>
            <a:r>
              <a:rPr sz="7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체크해야 영상 재생</a:t>
            </a:r>
          </a:p>
          <a:p>
            <a:pPr algn="l"/>
            <a:r>
              <a:rPr sz="7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운전석 거치 금지</a:t>
            </a:r>
          </a:p>
        </p:txBody>
      </p:sp>
      <p:cxnSp>
        <p:nvCxnSpPr>
          <p:cNvPr id="310" name="Connector 310"/>
          <p:cNvCxnSpPr/>
          <p:nvPr/>
        </p:nvCxnSpPr>
        <p:spPr>
          <a:xfrm>
            <a:off x="2119376" y="1682496"/>
            <a:ext cx="109728" cy="0"/>
          </a:xfrm>
          <a:prstGeom prst="line">
            <a:avLst/>
          </a:prstGeom>
          <a:ln w="12700">
            <a:solidFill>
              <a:srgbClr val="262626"/>
            </a:solidFill>
            <a:tailEnd type="triangle"/>
          </a:ln>
        </p:spPr>
      </p:cxnSp>
      <p:sp>
        <p:nvSpPr>
          <p:cNvPr id="311" name="Shape 311"/>
          <p:cNvSpPr/>
          <p:nvPr/>
        </p:nvSpPr>
        <p:spPr>
          <a:xfrm>
            <a:off x="2238248" y="1371600"/>
            <a:ext cx="831088" cy="621792"/>
          </a:xfrm>
          <a:prstGeom prst="roundRect">
            <a:avLst>
              <a:gd name="adj" fmla="val 12000"/>
            </a:avLst>
          </a:prstGeom>
          <a:solidFill>
            <a:srgbClr val="1F3F73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위치 권한</a:t>
            </a:r>
          </a:p>
        </p:txBody>
      </p:sp>
      <p:sp>
        <p:nvSpPr>
          <p:cNvPr id="312" name="TextBox 312"/>
          <p:cNvSpPr txBox="1"/>
          <p:nvPr/>
        </p:nvSpPr>
        <p:spPr>
          <a:xfrm>
            <a:off x="2256536" y="2066544"/>
            <a:ext cx="930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최초 1회 요청</a:t>
            </a:r>
          </a:p>
          <a:p>
            <a:pPr algn="l"/>
            <a:r>
              <a:rPr sz="7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거부 시 설정 안내</a:t>
            </a:r>
          </a:p>
        </p:txBody>
      </p:sp>
      <p:cxnSp>
        <p:nvCxnSpPr>
          <p:cNvPr id="313" name="Connector 313"/>
          <p:cNvCxnSpPr/>
          <p:nvPr/>
        </p:nvCxnSpPr>
        <p:spPr>
          <a:xfrm>
            <a:off x="3078480" y="1682496"/>
            <a:ext cx="109728" cy="0"/>
          </a:xfrm>
          <a:prstGeom prst="line">
            <a:avLst/>
          </a:prstGeom>
          <a:ln w="12700">
            <a:solidFill>
              <a:srgbClr val="262626"/>
            </a:solidFill>
            <a:tailEnd type="triangle"/>
          </a:ln>
        </p:spPr>
      </p:cxnSp>
      <p:sp>
        <p:nvSpPr>
          <p:cNvPr id="314" name="Shape 314"/>
          <p:cNvSpPr/>
          <p:nvPr/>
        </p:nvSpPr>
        <p:spPr>
          <a:xfrm>
            <a:off x="3197352" y="1371600"/>
            <a:ext cx="831088" cy="621792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위치·방향</a:t>
            </a:r>
          </a:p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산출</a:t>
            </a:r>
          </a:p>
        </p:txBody>
      </p:sp>
      <p:sp>
        <p:nvSpPr>
          <p:cNvPr id="315" name="TextBox 315"/>
          <p:cNvSpPr txBox="1"/>
          <p:nvPr/>
        </p:nvSpPr>
        <p:spPr>
          <a:xfrm>
            <a:off x="3215640" y="2066544"/>
            <a:ext cx="930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1초 주기 수신</a:t>
            </a:r>
          </a:p>
          <a:p>
            <a:pPr algn="l"/>
            <a:r>
              <a:rPr sz="7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저속 시 궤적 보정</a:t>
            </a:r>
          </a:p>
          <a:p>
            <a:pPr algn="l"/>
            <a:r>
              <a:rPr sz="7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달리는 도로 맞추기</a:t>
            </a:r>
          </a:p>
        </p:txBody>
      </p:sp>
      <p:cxnSp>
        <p:nvCxnSpPr>
          <p:cNvPr id="316" name="Connector 316"/>
          <p:cNvCxnSpPr/>
          <p:nvPr/>
        </p:nvCxnSpPr>
        <p:spPr>
          <a:xfrm>
            <a:off x="4037584" y="1682496"/>
            <a:ext cx="109728" cy="0"/>
          </a:xfrm>
          <a:prstGeom prst="line">
            <a:avLst/>
          </a:prstGeom>
          <a:ln w="12700">
            <a:solidFill>
              <a:srgbClr val="262626"/>
            </a:solidFill>
            <a:tailEnd type="triangle"/>
          </a:ln>
        </p:spPr>
      </p:cxnSp>
      <p:sp>
        <p:nvSpPr>
          <p:cNvPr id="317" name="Shape 317"/>
          <p:cNvSpPr/>
          <p:nvPr/>
        </p:nvSpPr>
        <p:spPr>
          <a:xfrm>
            <a:off x="4156456" y="1371600"/>
            <a:ext cx="831088" cy="621792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내 앞 CCTV</a:t>
            </a:r>
          </a:p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선별</a:t>
            </a:r>
          </a:p>
        </p:txBody>
      </p:sp>
      <p:sp>
        <p:nvSpPr>
          <p:cNvPr id="318" name="TextBox 318"/>
          <p:cNvSpPr txBox="1"/>
          <p:nvPr/>
        </p:nvSpPr>
        <p:spPr>
          <a:xfrm>
            <a:off x="4174744" y="2066544"/>
            <a:ext cx="930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목적지 없음:</a:t>
            </a:r>
          </a:p>
          <a:p>
            <a:pPr algn="l"/>
            <a:r>
              <a:rPr sz="7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±30°·5km 부채꼴</a:t>
            </a:r>
          </a:p>
          <a:p>
            <a:pPr algn="l"/>
            <a:r>
              <a:rPr sz="7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반대 차로 제외</a:t>
            </a:r>
          </a:p>
          <a:p>
            <a:pPr algn="l"/>
            <a:r>
              <a:rPr sz="7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목적지 있음:</a:t>
            </a:r>
          </a:p>
          <a:p>
            <a:pPr algn="l"/>
            <a:r>
              <a:rPr sz="7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경로 위 CCTV만</a:t>
            </a:r>
          </a:p>
        </p:txBody>
      </p:sp>
      <p:cxnSp>
        <p:nvCxnSpPr>
          <p:cNvPr id="319" name="Connector 319"/>
          <p:cNvCxnSpPr/>
          <p:nvPr/>
        </p:nvCxnSpPr>
        <p:spPr>
          <a:xfrm>
            <a:off x="4996688" y="1682496"/>
            <a:ext cx="109728" cy="0"/>
          </a:xfrm>
          <a:prstGeom prst="line">
            <a:avLst/>
          </a:prstGeom>
          <a:ln w="12700">
            <a:solidFill>
              <a:srgbClr val="262626"/>
            </a:solidFill>
            <a:tailEnd type="triangle"/>
          </a:ln>
        </p:spPr>
      </p:cxnSp>
      <p:sp>
        <p:nvSpPr>
          <p:cNvPr id="320" name="Shape 320"/>
          <p:cNvSpPr/>
          <p:nvPr/>
        </p:nvSpPr>
        <p:spPr>
          <a:xfrm>
            <a:off x="5115560" y="1371600"/>
            <a:ext cx="831088" cy="621792"/>
          </a:xfrm>
          <a:prstGeom prst="roundRect">
            <a:avLst>
              <a:gd name="adj" fmla="val 12000"/>
            </a:avLst>
          </a:prstGeom>
          <a:solidFill>
            <a:srgbClr val="2E7D4F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자동 재생</a:t>
            </a:r>
          </a:p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통과 시간</a:t>
            </a:r>
          </a:p>
        </p:txBody>
      </p:sp>
      <p:sp>
        <p:nvSpPr>
          <p:cNvPr id="321" name="TextBox 321"/>
          <p:cNvSpPr txBox="1"/>
          <p:nvPr/>
        </p:nvSpPr>
        <p:spPr>
          <a:xfrm>
            <a:off x="5133848" y="2066544"/>
            <a:ext cx="930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가까운 순 1순위</a:t>
            </a:r>
          </a:p>
          <a:p>
            <a:pPr algn="l"/>
            <a:r>
              <a:rPr sz="7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자동 재생</a:t>
            </a:r>
          </a:p>
          <a:p>
            <a:pPr algn="l"/>
            <a:r>
              <a:rPr sz="7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‘580m 앞 · 약 20초</a:t>
            </a:r>
          </a:p>
          <a:p>
            <a:pPr algn="l"/>
            <a:r>
              <a:rPr sz="7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후 통과’</a:t>
            </a:r>
          </a:p>
        </p:txBody>
      </p:sp>
      <p:cxnSp>
        <p:nvCxnSpPr>
          <p:cNvPr id="322" name="Connector 322"/>
          <p:cNvCxnSpPr/>
          <p:nvPr/>
        </p:nvCxnSpPr>
        <p:spPr>
          <a:xfrm>
            <a:off x="5955792" y="1682496"/>
            <a:ext cx="109728" cy="0"/>
          </a:xfrm>
          <a:prstGeom prst="line">
            <a:avLst/>
          </a:prstGeom>
          <a:ln w="12700">
            <a:solidFill>
              <a:srgbClr val="262626"/>
            </a:solidFill>
            <a:tailEnd type="triangle"/>
          </a:ln>
        </p:spPr>
      </p:cxnSp>
      <p:sp>
        <p:nvSpPr>
          <p:cNvPr id="323" name="Shape 323"/>
          <p:cNvSpPr/>
          <p:nvPr/>
        </p:nvSpPr>
        <p:spPr>
          <a:xfrm>
            <a:off x="6074664" y="1371600"/>
            <a:ext cx="831088" cy="621792"/>
          </a:xfrm>
          <a:prstGeom prst="roundRect">
            <a:avLst>
              <a:gd name="adj" fmla="val 12000"/>
            </a:avLst>
          </a:prstGeom>
          <a:solidFill>
            <a:srgbClr val="2E7D4F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앞길</a:t>
            </a:r>
          </a:p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 줄 요약</a:t>
            </a:r>
          </a:p>
        </p:txBody>
      </p:sp>
      <p:sp>
        <p:nvSpPr>
          <p:cNvPr id="324" name="TextBox 324"/>
          <p:cNvSpPr txBox="1"/>
          <p:nvPr/>
        </p:nvSpPr>
        <p:spPr>
          <a:xfrm>
            <a:off x="6092952" y="2066544"/>
            <a:ext cx="930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‘2.8km 앞 공사 ·</a:t>
            </a:r>
          </a:p>
          <a:p>
            <a:pPr algn="l"/>
            <a:r>
              <a:rPr sz="7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1차로 통제’</a:t>
            </a:r>
          </a:p>
          <a:p>
            <a:pPr algn="l"/>
            <a:r>
              <a:rPr sz="7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길 색 = 막힘 정도</a:t>
            </a:r>
          </a:p>
        </p:txBody>
      </p:sp>
      <p:cxnSp>
        <p:nvCxnSpPr>
          <p:cNvPr id="325" name="Connector 325"/>
          <p:cNvCxnSpPr/>
          <p:nvPr/>
        </p:nvCxnSpPr>
        <p:spPr>
          <a:xfrm>
            <a:off x="6914896" y="1682496"/>
            <a:ext cx="109728" cy="0"/>
          </a:xfrm>
          <a:prstGeom prst="line">
            <a:avLst/>
          </a:prstGeom>
          <a:ln w="12700">
            <a:solidFill>
              <a:srgbClr val="262626"/>
            </a:solidFill>
            <a:tailEnd type="triangle"/>
          </a:ln>
        </p:spPr>
      </p:cxnSp>
      <p:sp>
        <p:nvSpPr>
          <p:cNvPr id="326" name="Shape 326"/>
          <p:cNvSpPr/>
          <p:nvPr/>
        </p:nvSpPr>
        <p:spPr>
          <a:xfrm>
            <a:off x="7033768" y="1371600"/>
            <a:ext cx="831088" cy="621792"/>
          </a:xfrm>
          <a:prstGeom prst="roundRect">
            <a:avLst>
              <a:gd name="adj" fmla="val 12000"/>
            </a:avLst>
          </a:prstGeom>
          <a:solidFill>
            <a:srgbClr val="2E7D4F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크게 보며</a:t>
            </a:r>
          </a:p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넘기기</a:t>
            </a:r>
          </a:p>
        </p:txBody>
      </p:sp>
      <p:sp>
        <p:nvSpPr>
          <p:cNvPr id="327" name="TextBox 327"/>
          <p:cNvSpPr txBox="1"/>
          <p:nvPr/>
        </p:nvSpPr>
        <p:spPr>
          <a:xfrm>
            <a:off x="7052056" y="2066544"/>
            <a:ext cx="930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영상 누르면 크게</a:t>
            </a:r>
          </a:p>
          <a:p>
            <a:pPr algn="l"/>
            <a:r>
              <a:rPr sz="7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앞뒤 CCTV 넘기기</a:t>
            </a:r>
          </a:p>
          <a:p>
            <a:pPr algn="l"/>
            <a:r>
              <a:rPr sz="7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운전자에게 보여 주기</a:t>
            </a:r>
          </a:p>
        </p:txBody>
      </p:sp>
      <p:cxnSp>
        <p:nvCxnSpPr>
          <p:cNvPr id="328" name="Connector 328"/>
          <p:cNvCxnSpPr/>
          <p:nvPr/>
        </p:nvCxnSpPr>
        <p:spPr>
          <a:xfrm>
            <a:off x="7874000" y="1682496"/>
            <a:ext cx="109728" cy="0"/>
          </a:xfrm>
          <a:prstGeom prst="line">
            <a:avLst/>
          </a:prstGeom>
          <a:ln w="12700">
            <a:solidFill>
              <a:srgbClr val="262626"/>
            </a:solidFill>
            <a:tailEnd type="triangle"/>
          </a:ln>
        </p:spPr>
      </p:cxnSp>
      <p:sp>
        <p:nvSpPr>
          <p:cNvPr id="329" name="Shape 329"/>
          <p:cNvSpPr/>
          <p:nvPr/>
        </p:nvSpPr>
        <p:spPr>
          <a:xfrm>
            <a:off x="7992872" y="1371600"/>
            <a:ext cx="831088" cy="621792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</a:t>
            </a:r>
          </a:p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자동 갱신</a:t>
            </a:r>
          </a:p>
        </p:txBody>
      </p:sp>
      <p:sp>
        <p:nvSpPr>
          <p:cNvPr id="330" name="TextBox 330"/>
          <p:cNvSpPr txBox="1"/>
          <p:nvPr/>
        </p:nvSpPr>
        <p:spPr>
          <a:xfrm>
            <a:off x="8011160" y="2066544"/>
            <a:ext cx="930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30초 또는 500m</a:t>
            </a:r>
          </a:p>
          <a:p>
            <a:pPr algn="l"/>
            <a:r>
              <a:rPr sz="7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지나친 CCTV 제외</a:t>
            </a:r>
          </a:p>
        </p:txBody>
      </p:sp>
      <p:cxnSp>
        <p:nvCxnSpPr>
          <p:cNvPr id="331" name="Connector 331"/>
          <p:cNvCxnSpPr/>
          <p:nvPr/>
        </p:nvCxnSpPr>
        <p:spPr>
          <a:xfrm flipV="1">
            <a:off x="8408416" y="1115568"/>
            <a:ext cx="0" cy="256032"/>
          </a:xfrm>
          <a:prstGeom prst="line">
            <a:avLst/>
          </a:prstGeom>
          <a:ln w="15875">
            <a:solidFill>
              <a:srgbClr val="0E7C86"/>
            </a:solidFill>
          </a:ln>
        </p:spPr>
      </p:cxnSp>
      <p:cxnSp>
        <p:nvCxnSpPr>
          <p:cNvPr id="332" name="Connector 332"/>
          <p:cNvCxnSpPr/>
          <p:nvPr/>
        </p:nvCxnSpPr>
        <p:spPr>
          <a:xfrm flipH="1">
            <a:off x="3612896" y="1115568"/>
            <a:ext cx="4795520" cy="0"/>
          </a:xfrm>
          <a:prstGeom prst="line">
            <a:avLst/>
          </a:prstGeom>
          <a:ln w="15875">
            <a:solidFill>
              <a:srgbClr val="0E7C86"/>
            </a:solidFill>
          </a:ln>
        </p:spPr>
      </p:cxnSp>
      <p:cxnSp>
        <p:nvCxnSpPr>
          <p:cNvPr id="333" name="Connector 333"/>
          <p:cNvCxnSpPr/>
          <p:nvPr/>
        </p:nvCxnSpPr>
        <p:spPr>
          <a:xfrm>
            <a:off x="3612896" y="1115568"/>
            <a:ext cx="0" cy="256032"/>
          </a:xfrm>
          <a:prstGeom prst="line">
            <a:avLst/>
          </a:prstGeom>
          <a:ln w="15875">
            <a:solidFill>
              <a:srgbClr val="0E7C86"/>
            </a:solidFill>
            <a:tailEnd type="triangle"/>
          </a:ln>
        </p:spPr>
      </p:cxnSp>
      <p:sp>
        <p:nvSpPr>
          <p:cNvPr id="334" name="TextBox 334"/>
          <p:cNvSpPr txBox="1"/>
          <p:nvPr/>
        </p:nvSpPr>
        <p:spPr>
          <a:xfrm>
            <a:off x="3795776" y="960120"/>
            <a:ext cx="42062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30초 또는 500m 이동마다 4단계부터 반복 (지나친 CCTV는 빼고 다음 CCTV 재생)</a:t>
            </a:r>
          </a:p>
        </p:txBody>
      </p:sp>
      <p:sp>
        <p:nvSpPr>
          <p:cNvPr id="335" name="Shape 335"/>
          <p:cNvSpPr/>
          <p:nvPr/>
        </p:nvSpPr>
        <p:spPr>
          <a:xfrm>
            <a:off x="347472" y="2700000"/>
            <a:ext cx="128016" cy="128016"/>
          </a:xfrm>
          <a:prstGeom prst="rect">
            <a:avLst/>
          </a:prstGeom>
          <a:solidFill>
            <a:srgbClr val="1F3F73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336" name="TextBox 336"/>
          <p:cNvSpPr txBox="1"/>
          <p:nvPr/>
        </p:nvSpPr>
        <p:spPr>
          <a:xfrm>
            <a:off x="548640" y="2700000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준비·안전 단계</a:t>
            </a:r>
          </a:p>
        </p:txBody>
      </p:sp>
      <p:sp>
        <p:nvSpPr>
          <p:cNvPr id="337" name="Shape 337"/>
          <p:cNvSpPr/>
          <p:nvPr/>
        </p:nvSpPr>
        <p:spPr>
          <a:xfrm>
            <a:off x="1947672" y="2700000"/>
            <a:ext cx="128016" cy="128016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338" name="TextBox 338"/>
          <p:cNvSpPr txBox="1"/>
          <p:nvPr/>
        </p:nvSpPr>
        <p:spPr>
          <a:xfrm>
            <a:off x="2148840" y="2700000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탐색·선별·갱신 단계</a:t>
            </a:r>
          </a:p>
        </p:txBody>
      </p:sp>
      <p:sp>
        <p:nvSpPr>
          <p:cNvPr id="339" name="Shape 339"/>
          <p:cNvSpPr/>
          <p:nvPr/>
        </p:nvSpPr>
        <p:spPr>
          <a:xfrm>
            <a:off x="3547872" y="2700000"/>
            <a:ext cx="128016" cy="128016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340" name="TextBox 340"/>
          <p:cNvSpPr txBox="1"/>
          <p:nvPr/>
        </p:nvSpPr>
        <p:spPr>
          <a:xfrm>
            <a:off x="3749040" y="2700000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영상 확인 단계</a:t>
            </a:r>
          </a:p>
        </p:txBody>
      </p:sp>
      <p:sp>
        <p:nvSpPr>
          <p:cNvPr id="341" name="Shape 341"/>
          <p:cNvSpPr/>
          <p:nvPr/>
        </p:nvSpPr>
        <p:spPr>
          <a:xfrm>
            <a:off x="5148072" y="2700000"/>
            <a:ext cx="128016" cy="128016"/>
          </a:xfrm>
          <a:prstGeom prst="rect">
            <a:avLst/>
          </a:prstGeom>
          <a:solidFill>
            <a:srgbClr val="FFFFFF"/>
          </a:solidFill>
          <a:ln w="9525">
            <a:solidFill>
              <a:srgbClr val="C0392B"/>
            </a:solidFill>
            <a:prstDash val="dash"/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342" name="TextBox 342"/>
          <p:cNvSpPr txBox="1"/>
          <p:nvPr/>
        </p:nvSpPr>
        <p:spPr>
          <a:xfrm>
            <a:off x="5349240" y="2700000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예외 처리</a:t>
            </a:r>
          </a:p>
        </p:txBody>
      </p:sp>
      <p:sp>
        <p:nvSpPr>
          <p:cNvPr id="343" name="Shape 343"/>
          <p:cNvSpPr/>
          <p:nvPr/>
        </p:nvSpPr>
        <p:spPr>
          <a:xfrm>
            <a:off x="6748272" y="2700000"/>
            <a:ext cx="128016" cy="128016"/>
          </a:xfrm>
          <a:prstGeom prst="rect">
            <a:avLst/>
          </a:prstGeom>
          <a:solidFill>
            <a:srgbClr val="FFFFFF"/>
          </a:solidFill>
          <a:ln w="9525">
            <a:solidFill>
              <a:srgbClr val="1F3F73"/>
            </a:solidFill>
            <a:prstDash val="dash"/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344" name="TextBox 344"/>
          <p:cNvSpPr txBox="1"/>
          <p:nvPr/>
        </p:nvSpPr>
        <p:spPr>
          <a:xfrm>
            <a:off x="6949440" y="2700000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AI 기능 (9~10주 예정)</a:t>
            </a:r>
          </a:p>
        </p:txBody>
      </p:sp>
      <p:sp>
        <p:nvSpPr>
          <p:cNvPr id="345" name="Shape 345"/>
          <p:cNvSpPr/>
          <p:nvPr/>
        </p:nvSpPr>
        <p:spPr>
          <a:xfrm>
            <a:off x="320039" y="2920000"/>
            <a:ext cx="8503920" cy="7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dash"/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346" name="Shape 346"/>
          <p:cNvSpPr/>
          <p:nvPr/>
        </p:nvSpPr>
        <p:spPr>
          <a:xfrm>
            <a:off x="393192" y="2984008"/>
            <a:ext cx="694944" cy="591984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예외 처리</a:t>
            </a:r>
          </a:p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E1~E7</a:t>
            </a:r>
          </a:p>
        </p:txBody>
      </p:sp>
      <p:sp>
        <p:nvSpPr>
          <p:cNvPr id="347" name="Shape 347"/>
          <p:cNvSpPr/>
          <p:nvPr/>
        </p:nvSpPr>
        <p:spPr>
          <a:xfrm>
            <a:off x="1152144" y="2984008"/>
            <a:ext cx="1042416" cy="591984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348" name="TextBox 348"/>
          <p:cNvSpPr txBox="1"/>
          <p:nvPr/>
        </p:nvSpPr>
        <p:spPr>
          <a:xfrm>
            <a:off x="1193292" y="3020584"/>
            <a:ext cx="960120" cy="518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6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E1 동승자 미확인 (2)</a:t>
            </a:r>
          </a:p>
          <a:p>
            <a:pPr algn="l"/>
            <a:r>
              <a:rPr sz="6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영상 화면 진입 막음</a:t>
            </a:r>
          </a:p>
          <a:p>
            <a:pPr algn="l"/>
            <a:r>
              <a:rPr sz="6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운전 중이면 건네기</a:t>
            </a:r>
          </a:p>
        </p:txBody>
      </p:sp>
      <p:sp>
        <p:nvSpPr>
          <p:cNvPr id="349" name="Shape 349"/>
          <p:cNvSpPr/>
          <p:nvPr/>
        </p:nvSpPr>
        <p:spPr>
          <a:xfrm>
            <a:off x="2249424" y="2984008"/>
            <a:ext cx="1042416" cy="591984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350" name="TextBox 350"/>
          <p:cNvSpPr txBox="1"/>
          <p:nvPr/>
        </p:nvSpPr>
        <p:spPr>
          <a:xfrm>
            <a:off x="2290572" y="3020584"/>
            <a:ext cx="960120" cy="518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6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E2 위치 권한 거부 (3)</a:t>
            </a:r>
          </a:p>
          <a:p>
            <a:pPr algn="l"/>
            <a:r>
              <a:rPr sz="6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이유 안내·설정 열기</a:t>
            </a:r>
          </a:p>
          <a:p>
            <a:pPr algn="l"/>
            <a:r>
              <a:rPr sz="6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목록 비움</a:t>
            </a:r>
          </a:p>
        </p:txBody>
      </p:sp>
      <p:sp>
        <p:nvSpPr>
          <p:cNvPr id="351" name="Shape 351"/>
          <p:cNvSpPr/>
          <p:nvPr/>
        </p:nvSpPr>
        <p:spPr>
          <a:xfrm>
            <a:off x="3346704" y="2984008"/>
            <a:ext cx="1042416" cy="591984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352" name="TextBox 352"/>
          <p:cNvSpPr txBox="1"/>
          <p:nvPr/>
        </p:nvSpPr>
        <p:spPr>
          <a:xfrm>
            <a:off x="3387852" y="3020584"/>
            <a:ext cx="960120" cy="518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6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E3 방향 불확실 (4)</a:t>
            </a:r>
          </a:p>
          <a:p>
            <a:pPr algn="l"/>
            <a:r>
              <a:rPr sz="6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저속·터널: 궤적 보정</a:t>
            </a:r>
          </a:p>
          <a:p>
            <a:pPr algn="l"/>
            <a:r>
              <a:rPr sz="6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모르면 주변 5km</a:t>
            </a:r>
          </a:p>
        </p:txBody>
      </p:sp>
      <p:sp>
        <p:nvSpPr>
          <p:cNvPr id="353" name="Shape 353"/>
          <p:cNvSpPr/>
          <p:nvPr/>
        </p:nvSpPr>
        <p:spPr>
          <a:xfrm>
            <a:off x="4443984" y="2984008"/>
            <a:ext cx="1042416" cy="591984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354" name="TextBox 354"/>
          <p:cNvSpPr txBox="1"/>
          <p:nvPr/>
        </p:nvSpPr>
        <p:spPr>
          <a:xfrm>
            <a:off x="4485132" y="3020584"/>
            <a:ext cx="960120" cy="518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6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E4 앞쪽 CCTV 없음 (5)</a:t>
            </a:r>
          </a:p>
          <a:p>
            <a:pPr algn="l"/>
            <a:r>
              <a:rPr sz="6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‘CCTV가 없어요’</a:t>
            </a:r>
          </a:p>
          <a:p>
            <a:pPr algn="l"/>
            <a:r>
              <a:rPr sz="6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30초·500m 뒤 다시</a:t>
            </a:r>
          </a:p>
        </p:txBody>
      </p:sp>
      <p:sp>
        <p:nvSpPr>
          <p:cNvPr id="355" name="Shape 355"/>
          <p:cNvSpPr/>
          <p:nvPr/>
        </p:nvSpPr>
        <p:spPr>
          <a:xfrm>
            <a:off x="5541264" y="2984008"/>
            <a:ext cx="1042416" cy="591984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356" name="TextBox 356"/>
          <p:cNvSpPr txBox="1"/>
          <p:nvPr/>
        </p:nvSpPr>
        <p:spPr>
          <a:xfrm>
            <a:off x="5582412" y="3020584"/>
            <a:ext cx="960120" cy="518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6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E5 영상 재생 실패 (6)</a:t>
            </a:r>
          </a:p>
          <a:p>
            <a:pPr algn="l"/>
            <a:r>
              <a:rPr sz="6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12초 안에 안 나오면</a:t>
            </a:r>
          </a:p>
          <a:p>
            <a:pPr algn="l"/>
            <a:r>
              <a:rPr sz="6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다음 CCTV로 넘김</a:t>
            </a:r>
          </a:p>
        </p:txBody>
      </p:sp>
      <p:sp>
        <p:nvSpPr>
          <p:cNvPr id="357" name="Shape 357"/>
          <p:cNvSpPr/>
          <p:nvPr/>
        </p:nvSpPr>
        <p:spPr>
          <a:xfrm>
            <a:off x="6638544" y="2984008"/>
            <a:ext cx="1042416" cy="591984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358" name="TextBox 358"/>
          <p:cNvSpPr txBox="1"/>
          <p:nvPr/>
        </p:nvSpPr>
        <p:spPr>
          <a:xfrm>
            <a:off x="6679692" y="3020584"/>
            <a:ext cx="960120" cy="518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6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E6 서버 연결 실패 (5)</a:t>
            </a:r>
          </a:p>
          <a:p>
            <a:pPr algn="l"/>
            <a:r>
              <a:rPr sz="6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직전 목록 표시</a:t>
            </a:r>
          </a:p>
          <a:p>
            <a:pPr algn="l"/>
            <a:r>
              <a:rPr sz="6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없으면 다시 시도</a:t>
            </a:r>
          </a:p>
        </p:txBody>
      </p:sp>
      <p:sp>
        <p:nvSpPr>
          <p:cNvPr id="359" name="Shape 359"/>
          <p:cNvSpPr/>
          <p:nvPr/>
        </p:nvSpPr>
        <p:spPr>
          <a:xfrm>
            <a:off x="7735824" y="2984008"/>
            <a:ext cx="1042416" cy="591984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360" name="TextBox 360"/>
          <p:cNvSpPr txBox="1"/>
          <p:nvPr/>
        </p:nvSpPr>
        <p:spPr>
          <a:xfrm>
            <a:off x="7776972" y="3020584"/>
            <a:ext cx="960120" cy="518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6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E7 경로 받기 실패 (5)</a:t>
            </a:r>
          </a:p>
          <a:p>
            <a:pPr algn="l"/>
            <a:r>
              <a:rPr sz="6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다시 고르기 안내</a:t>
            </a:r>
          </a:p>
          <a:p>
            <a:pPr algn="l"/>
            <a:r>
              <a:rPr sz="6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부채꼴 선별로 계속</a:t>
            </a:r>
          </a:p>
        </p:txBody>
      </p:sp>
      <p:sp>
        <p:nvSpPr>
          <p:cNvPr id="361" name="Shape 361"/>
          <p:cNvSpPr/>
          <p:nvPr/>
        </p:nvSpPr>
        <p:spPr>
          <a:xfrm>
            <a:off x="320039" y="3730000"/>
            <a:ext cx="8503920" cy="4572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9525">
            <a:solidFill>
              <a:srgbClr val="C9D3E0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362" name="Shape 362"/>
          <p:cNvSpPr/>
          <p:nvPr/>
        </p:nvSpPr>
        <p:spPr>
          <a:xfrm>
            <a:off x="320040" y="373000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1F3F73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공통 지원</a:t>
            </a:r>
          </a:p>
        </p:txBody>
      </p:sp>
      <p:sp>
        <p:nvSpPr>
          <p:cNvPr id="363" name="TextBox 363"/>
          <p:cNvSpPr txBox="1"/>
          <p:nvPr/>
        </p:nvSpPr>
        <p:spPr>
          <a:xfrm>
            <a:off x="1399032" y="3762004"/>
            <a:ext cx="1356969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우리 서버(프록시)</a:t>
            </a:r>
          </a:p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API 키 숨김·캐시</a:t>
            </a:r>
          </a:p>
        </p:txBody>
      </p:sp>
      <p:cxnSp>
        <p:nvCxnSpPr>
          <p:cNvPr id="364" name="Connector 364"/>
          <p:cNvCxnSpPr/>
          <p:nvPr/>
        </p:nvCxnSpPr>
        <p:spPr>
          <a:xfrm>
            <a:off x="2810865" y="3839728"/>
            <a:ext cx="0" cy="237744"/>
          </a:xfrm>
          <a:prstGeom prst="line">
            <a:avLst/>
          </a:prstGeom>
          <a:ln w="9525">
            <a:solidFill>
              <a:srgbClr val="C9D3E0"/>
            </a:solidFill>
            <a:prstDash val="dash"/>
          </a:ln>
        </p:spPr>
      </p:cxnSp>
      <p:sp>
        <p:nvSpPr>
          <p:cNvPr id="365" name="TextBox 365"/>
          <p:cNvSpPr txBox="1"/>
          <p:nvPr/>
        </p:nvSpPr>
        <p:spPr>
          <a:xfrm>
            <a:off x="2884017" y="3762004"/>
            <a:ext cx="1356969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호출 한도 관리</a:t>
            </a:r>
          </a:p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ITS 월 1,000건 안에서</a:t>
            </a:r>
          </a:p>
        </p:txBody>
      </p:sp>
      <p:cxnSp>
        <p:nvCxnSpPr>
          <p:cNvPr id="366" name="Connector 366"/>
          <p:cNvCxnSpPr/>
          <p:nvPr/>
        </p:nvCxnSpPr>
        <p:spPr>
          <a:xfrm>
            <a:off x="4295850" y="3839728"/>
            <a:ext cx="0" cy="237744"/>
          </a:xfrm>
          <a:prstGeom prst="line">
            <a:avLst/>
          </a:prstGeom>
          <a:ln w="9525">
            <a:solidFill>
              <a:srgbClr val="C9D3E0"/>
            </a:solidFill>
            <a:prstDash val="dash"/>
          </a:ln>
        </p:spPr>
      </p:cxnSp>
      <p:sp>
        <p:nvSpPr>
          <p:cNvPr id="367" name="TextBox 367"/>
          <p:cNvSpPr txBox="1"/>
          <p:nvPr/>
        </p:nvSpPr>
        <p:spPr>
          <a:xfrm>
            <a:off x="4369002" y="3762004"/>
            <a:ext cx="1356969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지도</a:t>
            </a:r>
          </a:p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내 위치·CCTV·길 색</a:t>
            </a:r>
          </a:p>
        </p:txBody>
      </p:sp>
      <p:cxnSp>
        <p:nvCxnSpPr>
          <p:cNvPr id="368" name="Connector 368"/>
          <p:cNvCxnSpPr/>
          <p:nvPr/>
        </p:nvCxnSpPr>
        <p:spPr>
          <a:xfrm>
            <a:off x="5780835" y="3839728"/>
            <a:ext cx="0" cy="237744"/>
          </a:xfrm>
          <a:prstGeom prst="line">
            <a:avLst/>
          </a:prstGeom>
          <a:ln w="9525">
            <a:solidFill>
              <a:srgbClr val="C9D3E0"/>
            </a:solidFill>
            <a:prstDash val="dash"/>
          </a:ln>
        </p:spPr>
      </p:cxnSp>
      <p:sp>
        <p:nvSpPr>
          <p:cNvPr id="369" name="TextBox 369"/>
          <p:cNvSpPr txBox="1"/>
          <p:nvPr/>
        </p:nvSpPr>
        <p:spPr>
          <a:xfrm>
            <a:off x="5853987" y="3762004"/>
            <a:ext cx="1356969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데이터·배터리</a:t>
            </a:r>
          </a:p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영상은 한 번에 1개</a:t>
            </a:r>
          </a:p>
        </p:txBody>
      </p:sp>
      <p:cxnSp>
        <p:nvCxnSpPr>
          <p:cNvPr id="370" name="Connector 370"/>
          <p:cNvCxnSpPr/>
          <p:nvPr/>
        </p:nvCxnSpPr>
        <p:spPr>
          <a:xfrm>
            <a:off x="7265820" y="3839728"/>
            <a:ext cx="0" cy="237744"/>
          </a:xfrm>
          <a:prstGeom prst="line">
            <a:avLst/>
          </a:prstGeom>
          <a:ln w="9525">
            <a:solidFill>
              <a:srgbClr val="C9D3E0"/>
            </a:solidFill>
            <a:prstDash val="dash"/>
          </a:ln>
        </p:spPr>
      </p:cxnSp>
      <p:sp>
        <p:nvSpPr>
          <p:cNvPr id="371" name="TextBox 371"/>
          <p:cNvSpPr txBox="1"/>
          <p:nvPr/>
        </p:nvSpPr>
        <p:spPr>
          <a:xfrm>
            <a:off x="7338972" y="3762004"/>
            <a:ext cx="1356969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출처·라이선스</a:t>
            </a:r>
          </a:p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ITS·UTIC 출처·OSS 고지</a:t>
            </a:r>
          </a:p>
        </p:txBody>
      </p:sp>
      <p:sp>
        <p:nvSpPr>
          <p:cNvPr id="372" name="Shape 372"/>
          <p:cNvSpPr/>
          <p:nvPr/>
        </p:nvSpPr>
        <p:spPr>
          <a:xfrm>
            <a:off x="320039" y="4260000"/>
            <a:ext cx="8503920" cy="4572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9525">
            <a:solidFill>
              <a:srgbClr val="C9D3E0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373" name="Shape 373"/>
          <p:cNvSpPr/>
          <p:nvPr/>
        </p:nvSpPr>
        <p:spPr>
          <a:xfrm>
            <a:off x="320040" y="426000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2E7D4F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탭 화면</a:t>
            </a:r>
          </a:p>
        </p:txBody>
      </p:sp>
      <p:sp>
        <p:nvSpPr>
          <p:cNvPr id="374" name="TextBox 374"/>
          <p:cNvSpPr txBox="1"/>
          <p:nvPr/>
        </p:nvSpPr>
        <p:spPr>
          <a:xfrm>
            <a:off x="1399032" y="4292004"/>
            <a:ext cx="1356969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홈</a:t>
            </a:r>
          </a:p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내 앞 CCTV·지도·목적지</a:t>
            </a:r>
          </a:p>
        </p:txBody>
      </p:sp>
      <p:cxnSp>
        <p:nvCxnSpPr>
          <p:cNvPr id="375" name="Connector 375"/>
          <p:cNvCxnSpPr/>
          <p:nvPr/>
        </p:nvCxnSpPr>
        <p:spPr>
          <a:xfrm>
            <a:off x="2810865" y="4369728"/>
            <a:ext cx="0" cy="237744"/>
          </a:xfrm>
          <a:prstGeom prst="line">
            <a:avLst/>
          </a:prstGeom>
          <a:ln w="9525">
            <a:solidFill>
              <a:srgbClr val="C9D3E0"/>
            </a:solidFill>
            <a:prstDash val="dash"/>
          </a:ln>
        </p:spPr>
      </p:cxnSp>
      <p:sp>
        <p:nvSpPr>
          <p:cNvPr id="376" name="TextBox 376"/>
          <p:cNvSpPr txBox="1"/>
          <p:nvPr/>
        </p:nvSpPr>
        <p:spPr>
          <a:xfrm>
            <a:off x="2884017" y="4292004"/>
            <a:ext cx="1356969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앞길</a:t>
            </a:r>
          </a:p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한 줄 요약·길 색·돌발</a:t>
            </a:r>
          </a:p>
        </p:txBody>
      </p:sp>
      <p:cxnSp>
        <p:nvCxnSpPr>
          <p:cNvPr id="377" name="Connector 377"/>
          <p:cNvCxnSpPr/>
          <p:nvPr/>
        </p:nvCxnSpPr>
        <p:spPr>
          <a:xfrm>
            <a:off x="4295850" y="4369728"/>
            <a:ext cx="0" cy="237744"/>
          </a:xfrm>
          <a:prstGeom prst="line">
            <a:avLst/>
          </a:prstGeom>
          <a:ln w="9525">
            <a:solidFill>
              <a:srgbClr val="C9D3E0"/>
            </a:solidFill>
            <a:prstDash val="dash"/>
          </a:ln>
        </p:spPr>
      </p:cxnSp>
      <p:sp>
        <p:nvSpPr>
          <p:cNvPr id="378" name="TextBox 378"/>
          <p:cNvSpPr txBox="1"/>
          <p:nvPr/>
        </p:nvSpPr>
        <p:spPr>
          <a:xfrm>
            <a:off x="4369002" y="4292004"/>
            <a:ext cx="1356969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기록</a:t>
            </a:r>
          </a:p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지나온 정체·돌발</a:t>
            </a:r>
          </a:p>
        </p:txBody>
      </p:sp>
      <p:cxnSp>
        <p:nvCxnSpPr>
          <p:cNvPr id="379" name="Connector 379"/>
          <p:cNvCxnSpPr/>
          <p:nvPr/>
        </p:nvCxnSpPr>
        <p:spPr>
          <a:xfrm>
            <a:off x="5780835" y="4369728"/>
            <a:ext cx="0" cy="237744"/>
          </a:xfrm>
          <a:prstGeom prst="line">
            <a:avLst/>
          </a:prstGeom>
          <a:ln w="9525">
            <a:solidFill>
              <a:srgbClr val="C9D3E0"/>
            </a:solidFill>
            <a:prstDash val="dash"/>
          </a:ln>
        </p:spPr>
      </p:cxnSp>
      <p:sp>
        <p:nvSpPr>
          <p:cNvPr id="380" name="TextBox 380"/>
          <p:cNvSpPr txBox="1"/>
          <p:nvPr/>
        </p:nvSpPr>
        <p:spPr>
          <a:xfrm>
            <a:off x="5853987" y="4292004"/>
            <a:ext cx="1356969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내 정보</a:t>
            </a:r>
          </a:p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약관·라이선스·밤 모드</a:t>
            </a:r>
          </a:p>
        </p:txBody>
      </p:sp>
      <p:cxnSp>
        <p:nvCxnSpPr>
          <p:cNvPr id="381" name="Connector 381"/>
          <p:cNvCxnSpPr/>
          <p:nvPr/>
        </p:nvCxnSpPr>
        <p:spPr>
          <a:xfrm>
            <a:off x="7265820" y="4369728"/>
            <a:ext cx="0" cy="237744"/>
          </a:xfrm>
          <a:prstGeom prst="line">
            <a:avLst/>
          </a:prstGeom>
          <a:ln w="9525">
            <a:solidFill>
              <a:srgbClr val="C9D3E0"/>
            </a:solidFill>
            <a:prstDash val="dash"/>
          </a:ln>
        </p:spPr>
      </p:cxnSp>
      <p:sp>
        <p:nvSpPr>
          <p:cNvPr id="382" name="Shape 382"/>
          <p:cNvSpPr/>
          <p:nvPr/>
        </p:nvSpPr>
        <p:spPr>
          <a:xfrm>
            <a:off x="7284108" y="4305720"/>
            <a:ext cx="1466697" cy="365760"/>
          </a:xfrm>
          <a:prstGeom prst="rect">
            <a:avLst/>
          </a:prstGeom>
          <a:noFill/>
          <a:ln w="9525">
            <a:solidFill>
              <a:srgbClr val="1F3F73"/>
            </a:solidFill>
            <a:prstDash val="dash"/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383" name="TextBox 383"/>
          <p:cNvSpPr txBox="1"/>
          <p:nvPr/>
        </p:nvSpPr>
        <p:spPr>
          <a:xfrm>
            <a:off x="7338972" y="4292004"/>
            <a:ext cx="1356969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AI (9~10주 예정)</a:t>
            </a:r>
          </a:p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우리 차 찾기·자동 기록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/>
          <p:nvPr/>
        </p:nvSpPr>
        <p:spPr>
          <a:xfrm>
            <a:off x="251520" y="5853"/>
            <a:ext cx="4320480" cy="252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05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algun Gothic"/>
              <a:buNone/>
            </a:pPr>
            <a:r>
              <a:rPr lang="en-US" sz="17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흐름도(실행·로그인·동승자 확인)</a:t>
            </a:r>
            <a:endParaRPr sz="1700" b="1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" name="Google Shape;77;p2"/>
          <p:cNvSpPr txBox="1"/>
          <p:nvPr/>
        </p:nvSpPr>
        <p:spPr>
          <a:xfrm>
            <a:off x="6336198" y="51472"/>
            <a:ext cx="2556284" cy="288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45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졸업하자</a:t>
            </a:r>
            <a:endParaRPr sz="17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" name="Terminator 79"/>
          <p:cNvSpPr/>
          <p:nvPr/>
        </p:nvSpPr>
        <p:spPr>
          <a:xfrm>
            <a:off x="4617720" y="562356"/>
            <a:ext cx="237744" cy="155448"/>
          </a:xfrm>
          <a:prstGeom prst="flowChartTerminator">
            <a:avLst/>
          </a:prstGeom>
          <a:solidFill>
            <a:srgbClr val="D9D9D9"/>
          </a:solidFill>
          <a:ln w="9525">
            <a:solidFill>
              <a:srgbClr val="7F7F7F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892040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시작/끝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221224" y="562356"/>
            <a:ext cx="237744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495544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처리</a:t>
            </a:r>
          </a:p>
        </p:txBody>
      </p:sp>
      <p:sp>
        <p:nvSpPr>
          <p:cNvPr id="84" name="Decision 83"/>
          <p:cNvSpPr/>
          <p:nvPr/>
        </p:nvSpPr>
        <p:spPr>
          <a:xfrm>
            <a:off x="5824728" y="562356"/>
            <a:ext cx="237744" cy="155448"/>
          </a:xfrm>
          <a:prstGeom prst="flowChartDecision">
            <a:avLst/>
          </a:prstGeom>
          <a:solidFill>
            <a:srgbClr val="FFF4D6"/>
          </a:solidFill>
          <a:ln w="9525">
            <a:solidFill>
              <a:srgbClr val="E08A00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099048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86" name="Data 85"/>
          <p:cNvSpPr/>
          <p:nvPr/>
        </p:nvSpPr>
        <p:spPr>
          <a:xfrm>
            <a:off x="6428231" y="562356"/>
            <a:ext cx="237744" cy="155448"/>
          </a:xfrm>
          <a:prstGeom prst="flowChartInputOutput">
            <a:avLst/>
          </a:prstGeom>
          <a:solidFill>
            <a:srgbClr val="E4F3F4"/>
          </a:solidFill>
          <a:ln w="9525">
            <a:solidFill>
              <a:srgbClr val="0E7C86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702551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88" name="Document 87"/>
          <p:cNvSpPr/>
          <p:nvPr/>
        </p:nvSpPr>
        <p:spPr>
          <a:xfrm>
            <a:off x="7031736" y="562356"/>
            <a:ext cx="237744" cy="155448"/>
          </a:xfrm>
          <a:prstGeom prst="flowChartDocument">
            <a:avLst/>
          </a:prstGeom>
          <a:solidFill>
            <a:srgbClr val="EAF0F8"/>
          </a:solidFill>
          <a:ln w="9525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306055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화면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635240" y="562356"/>
            <a:ext cx="237744" cy="155448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909560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예외</a:t>
            </a:r>
          </a:p>
        </p:txBody>
      </p:sp>
      <p:sp>
        <p:nvSpPr>
          <p:cNvPr id="92" name="Magnetic Disk 91"/>
          <p:cNvSpPr/>
          <p:nvPr/>
        </p:nvSpPr>
        <p:spPr>
          <a:xfrm>
            <a:off x="8238744" y="562356"/>
            <a:ext cx="237744" cy="155448"/>
          </a:xfrm>
          <a:prstGeom prst="flowChartMagneticDisk">
            <a:avLst/>
          </a:prstGeom>
          <a:solidFill>
            <a:srgbClr val="DDE7F3"/>
          </a:solidFill>
          <a:ln w="9525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513064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데이터</a:t>
            </a:r>
          </a:p>
        </p:txBody>
      </p:sp>
      <p:sp>
        <p:nvSpPr>
          <p:cNvPr id="301" name="TextBox 301"/>
          <p:cNvSpPr txBox="1"/>
          <p:nvPr/>
        </p:nvSpPr>
        <p:spPr>
          <a:xfrm>
            <a:off x="320040" y="457200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F3F73"/>
                </a:solidFill>
                <a:latin typeface="Malgun Gothic"/>
                <a:ea typeface="Malgun Gothic"/>
                <a:cs typeface="Malgun Gothic"/>
              </a:rPr>
              <a:t>실행 → 로그인(선택) → 동승자 확인 → 위치 권한</a:t>
            </a:r>
          </a:p>
        </p:txBody>
      </p:sp>
      <p:sp>
        <p:nvSpPr>
          <p:cNvPr id="302" name="TextBox 302"/>
          <p:cNvSpPr txBox="1"/>
          <p:nvPr/>
        </p:nvSpPr>
        <p:spPr>
          <a:xfrm>
            <a:off x="320040" y="713232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□ 확인 전에는 영상을 재생하지 않는 조수석 동승자 안전 절차 (로그인은 선택)</a:t>
            </a:r>
          </a:p>
        </p:txBody>
      </p:sp>
      <p:sp>
        <p:nvSpPr>
          <p:cNvPr id="303" name="term 303"/>
          <p:cNvSpPr/>
          <p:nvPr/>
        </p:nvSpPr>
        <p:spPr>
          <a:xfrm>
            <a:off x="365760" y="1170432"/>
            <a:ext cx="1234440" cy="402336"/>
          </a:xfrm>
          <a:prstGeom prst="flowChartTerminator">
            <a:avLst/>
          </a:prstGeom>
          <a:solidFill>
            <a:srgbClr val="D9D9D9"/>
          </a:solidFill>
          <a:ln w="12700">
            <a:solidFill>
              <a:srgbClr val="7F7F7F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앞볼래 실행</a:t>
            </a:r>
          </a:p>
        </p:txBody>
      </p:sp>
      <p:sp>
        <p:nvSpPr>
          <p:cNvPr id="304" name="dec 304"/>
          <p:cNvSpPr/>
          <p:nvPr/>
        </p:nvSpPr>
        <p:spPr>
          <a:xfrm>
            <a:off x="1783080" y="1078992"/>
            <a:ext cx="1234440" cy="585216"/>
          </a:xfrm>
          <a:prstGeom prst="flowChartDecision">
            <a:avLst/>
          </a:prstGeom>
          <a:solidFill>
            <a:srgbClr val="FFF4D6"/>
          </a:solidFill>
          <a:ln w="12700">
            <a:solidFill>
              <a:srgbClr val="E08A00"/>
            </a:solidFill>
          </a:ln>
        </p:spPr>
        <p:txBody>
          <a:bodyPr wrap="none" lIns="36576" tIns="9144" rIns="36576" bIns="9144" rtlCol="0" anchor="ctr"/>
          <a:lstStyle/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로그인 상태?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(로그인은 선택)</a:t>
            </a:r>
          </a:p>
        </p:txBody>
      </p:sp>
      <p:sp>
        <p:nvSpPr>
          <p:cNvPr id="305" name="data 305"/>
          <p:cNvSpPr/>
          <p:nvPr/>
        </p:nvSpPr>
        <p:spPr>
          <a:xfrm>
            <a:off x="3200400" y="1115568"/>
            <a:ext cx="1234440" cy="512064"/>
          </a:xfrm>
          <a:prstGeom prst="flowChartInputOutput">
            <a:avLst/>
          </a:prstGeom>
          <a:solidFill>
            <a:srgbClr val="E4F3F4"/>
          </a:solidFill>
          <a:ln w="12700">
            <a:solidFill>
              <a:srgbClr val="0E7C86"/>
            </a:solidFill>
          </a:ln>
        </p:spPr>
        <p:txBody>
          <a:bodyPr wrap="none" lIns="36576" tIns="9144" rIns="36576" bIns="9144" rtlCol="0" anchor="ctr"/>
          <a:lstStyle/>
          <a:p>
            <a:pPr algn="ctr"/>
            <a:r>
              <a:rPr sz="7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로그인 화면 (L1)</a:t>
            </a:r>
          </a:p>
          <a:p>
            <a:pPr algn="ctr"/>
            <a:r>
              <a:rPr sz="7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카카오·구글·이메일</a:t>
            </a:r>
          </a:p>
          <a:p>
            <a:pPr algn="ctr"/>
            <a:r>
              <a:rPr sz="7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로그인 없이 시작</a:t>
            </a:r>
          </a:p>
        </p:txBody>
      </p:sp>
      <p:sp>
        <p:nvSpPr>
          <p:cNvPr id="306" name="doc 306"/>
          <p:cNvSpPr/>
          <p:nvPr/>
        </p:nvSpPr>
        <p:spPr>
          <a:xfrm>
            <a:off x="4617720" y="1115568"/>
            <a:ext cx="1234440" cy="512064"/>
          </a:xfrm>
          <a:prstGeom prst="flowChartDocument">
            <a:avLst/>
          </a:prstGeom>
          <a:solidFill>
            <a:srgbClr val="EAF0F8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동승자 확인 화면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‘저는 조수석 동승자’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체크 · 거치 금지 안내</a:t>
            </a:r>
          </a:p>
        </p:txBody>
      </p:sp>
      <p:sp>
        <p:nvSpPr>
          <p:cNvPr id="307" name="dec 307"/>
          <p:cNvSpPr/>
          <p:nvPr/>
        </p:nvSpPr>
        <p:spPr>
          <a:xfrm>
            <a:off x="6035040" y="1078992"/>
            <a:ext cx="1234440" cy="585216"/>
          </a:xfrm>
          <a:prstGeom prst="flowChartDecision">
            <a:avLst/>
          </a:prstGeom>
          <a:solidFill>
            <a:srgbClr val="FFF4D6"/>
          </a:solidFill>
          <a:ln w="12700">
            <a:solidFill>
              <a:srgbClr val="E08A00"/>
            </a:solidFill>
          </a:ln>
        </p:spPr>
        <p:txBody>
          <a:bodyPr wrap="none" lIns="36576" tIns="9144" rIns="36576" bIns="9144" rtlCol="0" anchor="ctr"/>
          <a:lstStyle/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체크하고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시작?</a:t>
            </a:r>
          </a:p>
        </p:txBody>
      </p:sp>
      <p:sp>
        <p:nvSpPr>
          <p:cNvPr id="308" name="exc 308"/>
          <p:cNvSpPr/>
          <p:nvPr/>
        </p:nvSpPr>
        <p:spPr>
          <a:xfrm>
            <a:off x="7452360" y="1115568"/>
            <a:ext cx="1234440" cy="512064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E1. 영상 화면 못 감</a:t>
            </a:r>
          </a:p>
          <a:p>
            <a:pPr algn="ctr"/>
            <a:r>
              <a:rPr sz="750" b="0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확인 화면 유지</a:t>
            </a:r>
          </a:p>
          <a:p>
            <a:pPr algn="ctr"/>
            <a:r>
              <a:rPr sz="750" b="0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운전 중 → 건네기 안내</a:t>
            </a:r>
          </a:p>
        </p:txBody>
      </p:sp>
      <p:cxnSp>
        <p:nvCxnSpPr>
          <p:cNvPr id="309" name="Connector 309"/>
          <p:cNvCxnSpPr/>
          <p:nvPr/>
        </p:nvCxnSpPr>
        <p:spPr>
          <a:xfrm>
            <a:off x="1600200" y="1371600"/>
            <a:ext cx="18288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10" name="Connector 310"/>
          <p:cNvCxnSpPr/>
          <p:nvPr/>
        </p:nvCxnSpPr>
        <p:spPr>
          <a:xfrm>
            <a:off x="3017520" y="1371600"/>
            <a:ext cx="18288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11" name="Connector 311"/>
          <p:cNvCxnSpPr/>
          <p:nvPr/>
        </p:nvCxnSpPr>
        <p:spPr>
          <a:xfrm>
            <a:off x="4434840" y="1371600"/>
            <a:ext cx="18288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12" name="Connector 312"/>
          <p:cNvCxnSpPr/>
          <p:nvPr/>
        </p:nvCxnSpPr>
        <p:spPr>
          <a:xfrm>
            <a:off x="5852160" y="1371600"/>
            <a:ext cx="18288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13" name="Connector 313"/>
          <p:cNvCxnSpPr/>
          <p:nvPr/>
        </p:nvCxnSpPr>
        <p:spPr>
          <a:xfrm>
            <a:off x="7269480" y="1371600"/>
            <a:ext cx="18288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sp>
        <p:nvSpPr>
          <p:cNvPr id="314" name="TextBox 314"/>
          <p:cNvSpPr txBox="1"/>
          <p:nvPr/>
        </p:nvSpPr>
        <p:spPr>
          <a:xfrm>
            <a:off x="3044952" y="1216152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N</a:t>
            </a:r>
          </a:p>
        </p:txBody>
      </p:sp>
      <p:sp>
        <p:nvSpPr>
          <p:cNvPr id="315" name="TextBox 315"/>
          <p:cNvSpPr txBox="1"/>
          <p:nvPr/>
        </p:nvSpPr>
        <p:spPr>
          <a:xfrm>
            <a:off x="7296912" y="1216152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N</a:t>
            </a:r>
          </a:p>
        </p:txBody>
      </p:sp>
      <p:cxnSp>
        <p:nvCxnSpPr>
          <p:cNvPr id="316" name="Connector 316"/>
          <p:cNvCxnSpPr/>
          <p:nvPr/>
        </p:nvCxnSpPr>
        <p:spPr>
          <a:xfrm flipV="1">
            <a:off x="8069580" y="978408"/>
            <a:ext cx="0" cy="137160"/>
          </a:xfrm>
          <a:prstGeom prst="line">
            <a:avLst/>
          </a:prstGeom>
          <a:ln w="12700">
            <a:solidFill>
              <a:srgbClr val="C0392B"/>
            </a:solidFill>
          </a:ln>
        </p:spPr>
      </p:cxnSp>
      <p:cxnSp>
        <p:nvCxnSpPr>
          <p:cNvPr id="317" name="Connector 317"/>
          <p:cNvCxnSpPr/>
          <p:nvPr/>
        </p:nvCxnSpPr>
        <p:spPr>
          <a:xfrm flipH="1">
            <a:off x="5234940" y="978408"/>
            <a:ext cx="2834640" cy="0"/>
          </a:xfrm>
          <a:prstGeom prst="line">
            <a:avLst/>
          </a:prstGeom>
          <a:ln w="12700">
            <a:solidFill>
              <a:srgbClr val="C0392B"/>
            </a:solidFill>
          </a:ln>
        </p:spPr>
      </p:cxnSp>
      <p:cxnSp>
        <p:nvCxnSpPr>
          <p:cNvPr id="318" name="Connector 318"/>
          <p:cNvCxnSpPr/>
          <p:nvPr/>
        </p:nvCxnSpPr>
        <p:spPr>
          <a:xfrm>
            <a:off x="5234940" y="978408"/>
            <a:ext cx="0" cy="137160"/>
          </a:xfrm>
          <a:prstGeom prst="line">
            <a:avLst/>
          </a:prstGeom>
          <a:ln w="12700">
            <a:solidFill>
              <a:srgbClr val="C0392B"/>
            </a:solidFill>
            <a:tailEnd type="triangle"/>
          </a:ln>
        </p:spPr>
      </p:cxnSp>
      <p:sp>
        <p:nvSpPr>
          <p:cNvPr id="319" name="TextBox 319"/>
          <p:cNvSpPr txBox="1"/>
          <p:nvPr/>
        </p:nvSpPr>
        <p:spPr>
          <a:xfrm>
            <a:off x="5534940" y="841248"/>
            <a:ext cx="22000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재확인 요청</a:t>
            </a:r>
          </a:p>
        </p:txBody>
      </p:sp>
      <p:cxnSp>
        <p:nvCxnSpPr>
          <p:cNvPr id="320" name="Connector 320"/>
          <p:cNvCxnSpPr/>
          <p:nvPr/>
        </p:nvCxnSpPr>
        <p:spPr>
          <a:xfrm flipV="1">
            <a:off x="2400300" y="978408"/>
            <a:ext cx="0" cy="100584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cxnSp>
        <p:nvCxnSpPr>
          <p:cNvPr id="321" name="Connector 321"/>
          <p:cNvCxnSpPr/>
          <p:nvPr/>
        </p:nvCxnSpPr>
        <p:spPr>
          <a:xfrm>
            <a:off x="2400300" y="978408"/>
            <a:ext cx="2834640" cy="0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sp>
        <p:nvSpPr>
          <p:cNvPr id="322" name="TextBox 322"/>
          <p:cNvSpPr txBox="1"/>
          <p:nvPr/>
        </p:nvSpPr>
        <p:spPr>
          <a:xfrm>
            <a:off x="2628900" y="1005840"/>
            <a:ext cx="14000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Y (로그인됨·둘러보기)</a:t>
            </a:r>
          </a:p>
        </p:txBody>
      </p:sp>
      <p:sp>
        <p:nvSpPr>
          <p:cNvPr id="323" name="proc 323"/>
          <p:cNvSpPr/>
          <p:nvPr/>
        </p:nvSpPr>
        <p:spPr>
          <a:xfrm>
            <a:off x="3200400" y="1810000"/>
            <a:ext cx="123444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약관 동의 → 가입 완료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(새로 가입 시 L2·L3)</a:t>
            </a:r>
          </a:p>
        </p:txBody>
      </p:sp>
      <p:cxnSp>
        <p:nvCxnSpPr>
          <p:cNvPr id="324" name="Connector 324"/>
          <p:cNvCxnSpPr/>
          <p:nvPr/>
        </p:nvCxnSpPr>
        <p:spPr>
          <a:xfrm>
            <a:off x="3817620" y="1627632"/>
            <a:ext cx="0" cy="182368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sp>
        <p:nvSpPr>
          <p:cNvPr id="325" name="TextBox 325"/>
          <p:cNvSpPr txBox="1"/>
          <p:nvPr/>
        </p:nvSpPr>
        <p:spPr>
          <a:xfrm>
            <a:off x="3872484" y="1660000"/>
            <a:ext cx="7000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새로 가입</a:t>
            </a:r>
          </a:p>
        </p:txBody>
      </p:sp>
      <p:cxnSp>
        <p:nvCxnSpPr>
          <p:cNvPr id="326" name="Connector 326"/>
          <p:cNvCxnSpPr/>
          <p:nvPr/>
        </p:nvCxnSpPr>
        <p:spPr>
          <a:xfrm>
            <a:off x="4434840" y="2020000"/>
            <a:ext cx="800100" cy="0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cxnSp>
        <p:nvCxnSpPr>
          <p:cNvPr id="327" name="Connector 327"/>
          <p:cNvCxnSpPr/>
          <p:nvPr/>
        </p:nvCxnSpPr>
        <p:spPr>
          <a:xfrm flipV="1">
            <a:off x="5234940" y="1601600"/>
            <a:ext cx="0" cy="41840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28" name="Connector 328"/>
          <p:cNvCxnSpPr/>
          <p:nvPr/>
        </p:nvCxnSpPr>
        <p:spPr>
          <a:xfrm>
            <a:off x="6652260" y="1664208"/>
            <a:ext cx="0" cy="665792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cxnSp>
        <p:nvCxnSpPr>
          <p:cNvPr id="329" name="Connector 329"/>
          <p:cNvCxnSpPr/>
          <p:nvPr/>
        </p:nvCxnSpPr>
        <p:spPr>
          <a:xfrm flipH="1">
            <a:off x="2400300" y="2330000"/>
            <a:ext cx="4251960" cy="0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cxnSp>
        <p:nvCxnSpPr>
          <p:cNvPr id="330" name="Connector 330"/>
          <p:cNvCxnSpPr/>
          <p:nvPr/>
        </p:nvCxnSpPr>
        <p:spPr>
          <a:xfrm>
            <a:off x="2400300" y="2330000"/>
            <a:ext cx="0" cy="111448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sp>
        <p:nvSpPr>
          <p:cNvPr id="331" name="TextBox 331"/>
          <p:cNvSpPr txBox="1"/>
          <p:nvPr/>
        </p:nvSpPr>
        <p:spPr>
          <a:xfrm>
            <a:off x="6707124" y="1700784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Y</a:t>
            </a:r>
          </a:p>
        </p:txBody>
      </p:sp>
      <p:sp>
        <p:nvSpPr>
          <p:cNvPr id="332" name="dec 332"/>
          <p:cNvSpPr/>
          <p:nvPr/>
        </p:nvSpPr>
        <p:spPr>
          <a:xfrm>
            <a:off x="1783080" y="2441448"/>
            <a:ext cx="1234440" cy="603504"/>
          </a:xfrm>
          <a:prstGeom prst="flowChartDecision">
            <a:avLst/>
          </a:prstGeom>
          <a:solidFill>
            <a:srgbClr val="FFF4D6"/>
          </a:solidFill>
          <a:ln w="12700">
            <a:solidFill>
              <a:srgbClr val="E08A00"/>
            </a:solidFill>
          </a:ln>
        </p:spPr>
        <p:txBody>
          <a:bodyPr wrap="none" lIns="36576" tIns="9144" rIns="36576" bIns="9144" rtlCol="0" anchor="ctr"/>
          <a:lstStyle/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위치 권한 허용?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(최초 1회 요청)</a:t>
            </a:r>
          </a:p>
        </p:txBody>
      </p:sp>
      <p:sp>
        <p:nvSpPr>
          <p:cNvPr id="333" name="proc 333"/>
          <p:cNvSpPr/>
          <p:nvPr/>
        </p:nvSpPr>
        <p:spPr>
          <a:xfrm>
            <a:off x="3200400" y="2514600"/>
            <a:ext cx="1234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위치 수신 시작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좌표·방향·속도 1초</a:t>
            </a:r>
          </a:p>
        </p:txBody>
      </p:sp>
      <p:sp>
        <p:nvSpPr>
          <p:cNvPr id="334" name="doc 334"/>
          <p:cNvSpPr/>
          <p:nvPr/>
        </p:nvSpPr>
        <p:spPr>
          <a:xfrm>
            <a:off x="4617720" y="2487168"/>
            <a:ext cx="1234440" cy="512064"/>
          </a:xfrm>
          <a:prstGeom prst="flowChartDocument">
            <a:avLst/>
          </a:prstGeom>
          <a:solidFill>
            <a:srgbClr val="EAF0F8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홈 화면 진입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지도 + 내 앞 CCTV</a:t>
            </a:r>
          </a:p>
        </p:txBody>
      </p:sp>
      <p:sp>
        <p:nvSpPr>
          <p:cNvPr id="335" name="term 335"/>
          <p:cNvSpPr/>
          <p:nvPr/>
        </p:nvSpPr>
        <p:spPr>
          <a:xfrm>
            <a:off x="6035040" y="2542032"/>
            <a:ext cx="1234440" cy="402336"/>
          </a:xfrm>
          <a:prstGeom prst="flowChartTerminator">
            <a:avLst/>
          </a:prstGeom>
          <a:solidFill>
            <a:srgbClr val="D9D9D9"/>
          </a:solidFill>
          <a:ln w="12700">
            <a:solidFill>
              <a:srgbClr val="7F7F7F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끝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내 앞 CCTV 선별</a:t>
            </a:r>
          </a:p>
        </p:txBody>
      </p:sp>
      <p:cxnSp>
        <p:nvCxnSpPr>
          <p:cNvPr id="336" name="Connector 336"/>
          <p:cNvCxnSpPr/>
          <p:nvPr/>
        </p:nvCxnSpPr>
        <p:spPr>
          <a:xfrm>
            <a:off x="3017520" y="2743200"/>
            <a:ext cx="18288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37" name="Connector 337"/>
          <p:cNvCxnSpPr/>
          <p:nvPr/>
        </p:nvCxnSpPr>
        <p:spPr>
          <a:xfrm>
            <a:off x="4434840" y="2743200"/>
            <a:ext cx="18288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38" name="Connector 338"/>
          <p:cNvCxnSpPr/>
          <p:nvPr/>
        </p:nvCxnSpPr>
        <p:spPr>
          <a:xfrm>
            <a:off x="5852160" y="2743200"/>
            <a:ext cx="18288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sp>
        <p:nvSpPr>
          <p:cNvPr id="339" name="TextBox 339"/>
          <p:cNvSpPr txBox="1"/>
          <p:nvPr/>
        </p:nvSpPr>
        <p:spPr>
          <a:xfrm>
            <a:off x="3044952" y="2587752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Y</a:t>
            </a:r>
          </a:p>
        </p:txBody>
      </p:sp>
      <p:sp>
        <p:nvSpPr>
          <p:cNvPr id="340" name="Shape 340"/>
          <p:cNvSpPr/>
          <p:nvPr/>
        </p:nvSpPr>
        <p:spPr>
          <a:xfrm>
            <a:off x="7452360" y="2423160"/>
            <a:ext cx="1234440" cy="77724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9525">
            <a:solidFill>
              <a:srgbClr val="C9D3E0"/>
            </a:solidFill>
          </a:ln>
        </p:spPr>
        <p:txBody>
          <a:bodyPr wrap="square" lIns="36576" tIns="9144" rIns="36576" bIns="9144" rtlCol="0" anchor="ctr"/>
          <a:lstStyle/>
          <a:p>
            <a:pPr algn="l"/>
            <a:r>
              <a:rPr sz="700" b="1">
                <a:solidFill>
                  <a:srgbClr val="1F3F73"/>
                </a:solidFill>
                <a:latin typeface="Malgun Gothic"/>
                <a:ea typeface="Malgun Gothic"/>
                <a:cs typeface="Malgun Gothic"/>
              </a:rPr>
              <a:t>관련 기능</a:t>
            </a:r>
          </a:p>
          <a:p>
            <a:pPr algn="l"/>
            <a:r>
              <a:rPr sz="700" b="0">
                <a:solidFill>
                  <a:srgbClr val="1F3F73"/>
                </a:solidFill>
                <a:latin typeface="Malgun Gothic"/>
                <a:ea typeface="Malgun Gothic"/>
                <a:cs typeface="Malgun Gothic"/>
              </a:rPr>
              <a:t>F-07 동승자 확인 절차</a:t>
            </a:r>
          </a:p>
          <a:p>
            <a:pPr algn="l"/>
            <a:r>
              <a:rPr sz="700" b="0">
                <a:solidFill>
                  <a:srgbClr val="1F3F73"/>
                </a:solidFill>
                <a:latin typeface="Malgun Gothic"/>
                <a:ea typeface="Malgun Gothic"/>
                <a:cs typeface="Malgun Gothic"/>
              </a:rPr>
              <a:t>F-06 위치·진행 방향 수신</a:t>
            </a:r>
          </a:p>
          <a:p>
            <a:pPr algn="l"/>
            <a:r>
              <a:rPr sz="700" b="0">
                <a:solidFill>
                  <a:srgbClr val="1F3F73"/>
                </a:solidFill>
                <a:latin typeface="Malgun Gothic"/>
                <a:ea typeface="Malgun Gothic"/>
                <a:cs typeface="Malgun Gothic"/>
              </a:rPr>
              <a:t>F-09 로그인(선택) L1~L3</a:t>
            </a:r>
          </a:p>
          <a:p>
            <a:pPr algn="l"/>
            <a:r>
              <a:rPr sz="700" b="0">
                <a:solidFill>
                  <a:srgbClr val="1F3F73"/>
                </a:solidFill>
                <a:latin typeface="Malgun Gothic"/>
                <a:ea typeface="Malgun Gothic"/>
                <a:cs typeface="Malgun Gothic"/>
              </a:rPr>
              <a:t>(FR-01~03 · FR-13)</a:t>
            </a:r>
          </a:p>
        </p:txBody>
      </p:sp>
      <p:sp>
        <p:nvSpPr>
          <p:cNvPr id="341" name="exc 341"/>
          <p:cNvSpPr/>
          <p:nvPr/>
        </p:nvSpPr>
        <p:spPr>
          <a:xfrm>
            <a:off x="1691640" y="3227832"/>
            <a:ext cx="1417320" cy="45720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E2. 권한 필요 이유 안내</a:t>
            </a:r>
          </a:p>
          <a:p>
            <a:pPr algn="ctr"/>
            <a:r>
              <a:rPr sz="750" b="0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설정 열기 · 목록 비움</a:t>
            </a:r>
          </a:p>
        </p:txBody>
      </p:sp>
      <p:cxnSp>
        <p:nvCxnSpPr>
          <p:cNvPr id="342" name="Connector 342"/>
          <p:cNvCxnSpPr/>
          <p:nvPr/>
        </p:nvCxnSpPr>
        <p:spPr>
          <a:xfrm>
            <a:off x="2400300" y="3044952"/>
            <a:ext cx="0" cy="182880"/>
          </a:xfrm>
          <a:prstGeom prst="line">
            <a:avLst/>
          </a:prstGeom>
          <a:ln w="12700">
            <a:solidFill>
              <a:srgbClr val="C0392B"/>
            </a:solidFill>
            <a:tailEnd type="triangle"/>
          </a:ln>
        </p:spPr>
      </p:cxnSp>
      <p:sp>
        <p:nvSpPr>
          <p:cNvPr id="343" name="TextBox 343"/>
          <p:cNvSpPr txBox="1"/>
          <p:nvPr/>
        </p:nvSpPr>
        <p:spPr>
          <a:xfrm>
            <a:off x="2455164" y="3072384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N</a:t>
            </a:r>
          </a:p>
        </p:txBody>
      </p:sp>
      <p:cxnSp>
        <p:nvCxnSpPr>
          <p:cNvPr id="344" name="Connector 344"/>
          <p:cNvCxnSpPr/>
          <p:nvPr/>
        </p:nvCxnSpPr>
        <p:spPr>
          <a:xfrm flipH="1">
            <a:off x="982980" y="3456432"/>
            <a:ext cx="708660" cy="0"/>
          </a:xfrm>
          <a:prstGeom prst="line">
            <a:avLst/>
          </a:prstGeom>
          <a:ln w="12700">
            <a:solidFill>
              <a:srgbClr val="C0392B"/>
            </a:solidFill>
          </a:ln>
        </p:spPr>
      </p:cxnSp>
      <p:cxnSp>
        <p:nvCxnSpPr>
          <p:cNvPr id="345" name="Connector 345"/>
          <p:cNvCxnSpPr/>
          <p:nvPr/>
        </p:nvCxnSpPr>
        <p:spPr>
          <a:xfrm flipV="1">
            <a:off x="982980" y="2743200"/>
            <a:ext cx="0" cy="713232"/>
          </a:xfrm>
          <a:prstGeom prst="line">
            <a:avLst/>
          </a:prstGeom>
          <a:ln w="12700">
            <a:solidFill>
              <a:srgbClr val="C0392B"/>
            </a:solidFill>
          </a:ln>
        </p:spPr>
      </p:cxnSp>
      <p:cxnSp>
        <p:nvCxnSpPr>
          <p:cNvPr id="346" name="Connector 346"/>
          <p:cNvCxnSpPr/>
          <p:nvPr/>
        </p:nvCxnSpPr>
        <p:spPr>
          <a:xfrm>
            <a:off x="982980" y="2743200"/>
            <a:ext cx="800100" cy="0"/>
          </a:xfrm>
          <a:prstGeom prst="line">
            <a:avLst/>
          </a:prstGeom>
          <a:ln w="12700">
            <a:solidFill>
              <a:srgbClr val="C0392B"/>
            </a:solidFill>
            <a:tailEnd type="triangle"/>
          </a:ln>
        </p:spPr>
      </p:cxnSp>
      <p:sp>
        <p:nvSpPr>
          <p:cNvPr id="347" name="TextBox 347"/>
          <p:cNvSpPr txBox="1"/>
          <p:nvPr/>
        </p:nvSpPr>
        <p:spPr>
          <a:xfrm>
            <a:off x="416052" y="3502151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설정 후</a:t>
            </a:r>
          </a:p>
          <a:p>
            <a:pPr algn="r"/>
            <a:r>
              <a:rPr sz="700" b="1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복귀</a:t>
            </a:r>
          </a:p>
        </p:txBody>
      </p:sp>
      <p:sp>
        <p:nvSpPr>
          <p:cNvPr id="348" name="Shape 348"/>
          <p:cNvSpPr/>
          <p:nvPr/>
        </p:nvSpPr>
        <p:spPr>
          <a:xfrm>
            <a:off x="320039" y="3977639"/>
            <a:ext cx="8503920" cy="50292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9525">
            <a:solidFill>
              <a:srgbClr val="C9D3E0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349" name="Shape 349"/>
          <p:cNvSpPr/>
          <p:nvPr/>
        </p:nvSpPr>
        <p:spPr>
          <a:xfrm>
            <a:off x="320040" y="3977639"/>
            <a:ext cx="914400" cy="502920"/>
          </a:xfrm>
          <a:prstGeom prst="roundRect">
            <a:avLst>
              <a:gd name="adj" fmla="val 12000"/>
            </a:avLst>
          </a:prstGeom>
          <a:solidFill>
            <a:srgbClr val="1F3F73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안전 설계</a:t>
            </a:r>
          </a:p>
        </p:txBody>
      </p:sp>
      <p:sp>
        <p:nvSpPr>
          <p:cNvPr id="350" name="TextBox 350"/>
          <p:cNvSpPr txBox="1"/>
          <p:nvPr/>
        </p:nvSpPr>
        <p:spPr>
          <a:xfrm>
            <a:off x="1399032" y="4032503"/>
            <a:ext cx="172821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확인 전 재생 0%</a:t>
            </a:r>
          </a:p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체크 전 영상 화면 못 감</a:t>
            </a:r>
          </a:p>
        </p:txBody>
      </p:sp>
      <p:cxnSp>
        <p:nvCxnSpPr>
          <p:cNvPr id="351" name="Connector 351"/>
          <p:cNvCxnSpPr/>
          <p:nvPr/>
        </p:nvCxnSpPr>
        <p:spPr>
          <a:xfrm>
            <a:off x="3182112" y="4087367"/>
            <a:ext cx="0" cy="283464"/>
          </a:xfrm>
          <a:prstGeom prst="line">
            <a:avLst/>
          </a:prstGeom>
          <a:ln w="9525">
            <a:solidFill>
              <a:srgbClr val="C9D3E0"/>
            </a:solidFill>
            <a:prstDash val="dash"/>
          </a:ln>
        </p:spPr>
      </p:cxnSp>
      <p:sp>
        <p:nvSpPr>
          <p:cNvPr id="352" name="TextBox 352"/>
          <p:cNvSpPr txBox="1"/>
          <p:nvPr/>
        </p:nvSpPr>
        <p:spPr>
          <a:xfrm>
            <a:off x="3255264" y="4032503"/>
            <a:ext cx="172821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매 실행 확인</a:t>
            </a:r>
          </a:p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앱을 켤 때마다 확인</a:t>
            </a:r>
          </a:p>
        </p:txBody>
      </p:sp>
      <p:cxnSp>
        <p:nvCxnSpPr>
          <p:cNvPr id="353" name="Connector 353"/>
          <p:cNvCxnSpPr/>
          <p:nvPr/>
        </p:nvCxnSpPr>
        <p:spPr>
          <a:xfrm>
            <a:off x="5038344" y="4087367"/>
            <a:ext cx="0" cy="283464"/>
          </a:xfrm>
          <a:prstGeom prst="line">
            <a:avLst/>
          </a:prstGeom>
          <a:ln w="9525">
            <a:solidFill>
              <a:srgbClr val="C9D3E0"/>
            </a:solidFill>
            <a:prstDash val="dash"/>
          </a:ln>
        </p:spPr>
      </p:cxnSp>
      <p:sp>
        <p:nvSpPr>
          <p:cNvPr id="354" name="TextBox 354"/>
          <p:cNvSpPr txBox="1"/>
          <p:nvPr/>
        </p:nvSpPr>
        <p:spPr>
          <a:xfrm>
            <a:off x="5111496" y="4032503"/>
            <a:ext cx="172821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거치 금지 안내</a:t>
            </a:r>
          </a:p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운전석 거치 사용 금지</a:t>
            </a:r>
          </a:p>
        </p:txBody>
      </p:sp>
      <p:cxnSp>
        <p:nvCxnSpPr>
          <p:cNvPr id="355" name="Connector 355"/>
          <p:cNvCxnSpPr/>
          <p:nvPr/>
        </p:nvCxnSpPr>
        <p:spPr>
          <a:xfrm>
            <a:off x="6894576" y="4087367"/>
            <a:ext cx="0" cy="283464"/>
          </a:xfrm>
          <a:prstGeom prst="line">
            <a:avLst/>
          </a:prstGeom>
          <a:ln w="9525">
            <a:solidFill>
              <a:srgbClr val="C9D3E0"/>
            </a:solidFill>
            <a:prstDash val="dash"/>
          </a:ln>
        </p:spPr>
      </p:cxnSp>
      <p:sp>
        <p:nvSpPr>
          <p:cNvPr id="356" name="TextBox 356"/>
          <p:cNvSpPr txBox="1"/>
          <p:nvPr/>
        </p:nvSpPr>
        <p:spPr>
          <a:xfrm>
            <a:off x="6967728" y="4032503"/>
            <a:ext cx="172821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운전자 기능 없음</a:t>
            </a:r>
          </a:p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음성 안내·자동 팝업 없음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/>
          <p:nvPr/>
        </p:nvSpPr>
        <p:spPr>
          <a:xfrm>
            <a:off x="251520" y="5853"/>
            <a:ext cx="4320480" cy="252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05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algun Gothic"/>
              <a:buNone/>
            </a:pPr>
            <a:r>
              <a:rPr lang="en-US" sz="17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흐름도(내 앞 CCTV 선별)</a:t>
            </a:r>
            <a:endParaRPr sz="17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" name="Google Shape;77;p2"/>
          <p:cNvSpPr txBox="1"/>
          <p:nvPr/>
        </p:nvSpPr>
        <p:spPr>
          <a:xfrm>
            <a:off x="6336198" y="51472"/>
            <a:ext cx="2556284" cy="288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45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졸업하자</a:t>
            </a:r>
            <a:endParaRPr sz="17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" name="Terminator 79"/>
          <p:cNvSpPr/>
          <p:nvPr/>
        </p:nvSpPr>
        <p:spPr>
          <a:xfrm>
            <a:off x="4617720" y="562356"/>
            <a:ext cx="237744" cy="155448"/>
          </a:xfrm>
          <a:prstGeom prst="flowChartTerminator">
            <a:avLst/>
          </a:prstGeom>
          <a:solidFill>
            <a:srgbClr val="D9D9D9"/>
          </a:solidFill>
          <a:ln w="9525">
            <a:solidFill>
              <a:srgbClr val="7F7F7F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892040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시작/끝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221224" y="562356"/>
            <a:ext cx="237744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495544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처리</a:t>
            </a:r>
          </a:p>
        </p:txBody>
      </p:sp>
      <p:sp>
        <p:nvSpPr>
          <p:cNvPr id="84" name="Decision 83"/>
          <p:cNvSpPr/>
          <p:nvPr/>
        </p:nvSpPr>
        <p:spPr>
          <a:xfrm>
            <a:off x="5824728" y="562356"/>
            <a:ext cx="237744" cy="155448"/>
          </a:xfrm>
          <a:prstGeom prst="flowChartDecision">
            <a:avLst/>
          </a:prstGeom>
          <a:solidFill>
            <a:srgbClr val="FFF4D6"/>
          </a:solidFill>
          <a:ln w="9525">
            <a:solidFill>
              <a:srgbClr val="E08A00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099048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86" name="Data 85"/>
          <p:cNvSpPr/>
          <p:nvPr/>
        </p:nvSpPr>
        <p:spPr>
          <a:xfrm>
            <a:off x="6428231" y="562356"/>
            <a:ext cx="237744" cy="155448"/>
          </a:xfrm>
          <a:prstGeom prst="flowChartInputOutput">
            <a:avLst/>
          </a:prstGeom>
          <a:solidFill>
            <a:srgbClr val="E4F3F4"/>
          </a:solidFill>
          <a:ln w="9525">
            <a:solidFill>
              <a:srgbClr val="0E7C86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702551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88" name="Document 87"/>
          <p:cNvSpPr/>
          <p:nvPr/>
        </p:nvSpPr>
        <p:spPr>
          <a:xfrm>
            <a:off x="7031736" y="562356"/>
            <a:ext cx="237744" cy="155448"/>
          </a:xfrm>
          <a:prstGeom prst="flowChartDocument">
            <a:avLst/>
          </a:prstGeom>
          <a:solidFill>
            <a:srgbClr val="EAF0F8"/>
          </a:solidFill>
          <a:ln w="9525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306055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화면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635240" y="562356"/>
            <a:ext cx="237744" cy="155448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909560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예외</a:t>
            </a:r>
          </a:p>
        </p:txBody>
      </p:sp>
      <p:sp>
        <p:nvSpPr>
          <p:cNvPr id="92" name="Magnetic Disk 91"/>
          <p:cNvSpPr/>
          <p:nvPr/>
        </p:nvSpPr>
        <p:spPr>
          <a:xfrm>
            <a:off x="8238744" y="562356"/>
            <a:ext cx="237744" cy="155448"/>
          </a:xfrm>
          <a:prstGeom prst="flowChartMagneticDisk">
            <a:avLst/>
          </a:prstGeom>
          <a:solidFill>
            <a:srgbClr val="DDE7F3"/>
          </a:solidFill>
          <a:ln w="9525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513064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데이터</a:t>
            </a:r>
          </a:p>
        </p:txBody>
      </p:sp>
      <p:sp>
        <p:nvSpPr>
          <p:cNvPr id="301" name="TextBox 301"/>
          <p:cNvSpPr txBox="1"/>
          <p:nvPr/>
        </p:nvSpPr>
        <p:spPr>
          <a:xfrm>
            <a:off x="320040" y="457200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F3F73"/>
                </a:solidFill>
                <a:latin typeface="Malgun Gothic"/>
                <a:ea typeface="Malgun Gothic"/>
                <a:cs typeface="Malgun Gothic"/>
              </a:rPr>
              <a:t>위치·방향 산출 → 내 앞 CCTV 선별</a:t>
            </a:r>
          </a:p>
        </p:txBody>
      </p:sp>
      <p:sp>
        <p:nvSpPr>
          <p:cNvPr id="302" name="TextBox 302"/>
          <p:cNvSpPr txBox="1"/>
          <p:nvPr/>
        </p:nvSpPr>
        <p:spPr>
          <a:xfrm>
            <a:off x="320040" y="713232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□ 목적지가 없으면 진행 방향 부채꼴, 있으면 경로 위 CCTV만 골라 가까운 순으로 정렬</a:t>
            </a:r>
          </a:p>
        </p:txBody>
      </p:sp>
      <p:sp>
        <p:nvSpPr>
          <p:cNvPr id="303" name="term 303"/>
          <p:cNvSpPr/>
          <p:nvPr/>
        </p:nvSpPr>
        <p:spPr>
          <a:xfrm>
            <a:off x="365760" y="1124712"/>
            <a:ext cx="1234440" cy="402336"/>
          </a:xfrm>
          <a:prstGeom prst="flowChartTerminator">
            <a:avLst/>
          </a:prstGeom>
          <a:solidFill>
            <a:srgbClr val="D9D9D9"/>
          </a:solidFill>
          <a:ln w="12700">
            <a:solidFill>
              <a:srgbClr val="7F7F7F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위치 수신(1초 주기)</a:t>
            </a:r>
          </a:p>
        </p:txBody>
      </p:sp>
      <p:sp>
        <p:nvSpPr>
          <p:cNvPr id="304" name="data 304"/>
          <p:cNvSpPr/>
          <p:nvPr/>
        </p:nvSpPr>
        <p:spPr>
          <a:xfrm>
            <a:off x="1783080" y="1097280"/>
            <a:ext cx="1234440" cy="457200"/>
          </a:xfrm>
          <a:prstGeom prst="flowChartInputOutput">
            <a:avLst/>
          </a:prstGeom>
          <a:solidFill>
            <a:srgbClr val="E4F3F4"/>
          </a:solidFill>
          <a:ln w="12700">
            <a:solidFill>
              <a:srgbClr val="0E7C86"/>
            </a:solidFill>
          </a:ln>
        </p:spPr>
        <p:txBody>
          <a:bodyPr wrap="none" lIns="36576" tIns="9144" rIns="36576" bIns="9144" rtlCol="0" anchor="ctr"/>
          <a:lstStyle/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좌표·방향·속도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(휴대폰 GPS)</a:t>
            </a:r>
          </a:p>
        </p:txBody>
      </p:sp>
      <p:sp>
        <p:nvSpPr>
          <p:cNvPr id="305" name="dec 305"/>
          <p:cNvSpPr/>
          <p:nvPr/>
        </p:nvSpPr>
        <p:spPr>
          <a:xfrm>
            <a:off x="3200400" y="1033272"/>
            <a:ext cx="1234440" cy="585216"/>
          </a:xfrm>
          <a:prstGeom prst="flowChartDecision">
            <a:avLst/>
          </a:prstGeom>
          <a:solidFill>
            <a:srgbClr val="FFF4D6"/>
          </a:solidFill>
          <a:ln w="12700">
            <a:solidFill>
              <a:srgbClr val="E08A00"/>
            </a:solidFill>
          </a:ln>
        </p:spPr>
        <p:txBody>
          <a:bodyPr wrap="none" lIns="36576" tIns="9144" rIns="36576" bIns="9144" rtlCol="0" anchor="ctr"/>
          <a:lstStyle/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방향 값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믿을 만?</a:t>
            </a:r>
          </a:p>
        </p:txBody>
      </p:sp>
      <p:sp>
        <p:nvSpPr>
          <p:cNvPr id="306" name="proc 306"/>
          <p:cNvSpPr/>
          <p:nvPr/>
        </p:nvSpPr>
        <p:spPr>
          <a:xfrm>
            <a:off x="4617720" y="1097280"/>
            <a:ext cx="1234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진행 방향 확정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예: 경부고속도로 하행</a:t>
            </a:r>
          </a:p>
        </p:txBody>
      </p:sp>
      <p:sp>
        <p:nvSpPr>
          <p:cNvPr id="307" name="proc 307"/>
          <p:cNvSpPr/>
          <p:nvPr/>
        </p:nvSpPr>
        <p:spPr>
          <a:xfrm>
            <a:off x="6035040" y="1097280"/>
            <a:ext cx="1234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CCTV 목록 조회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우리 서버 경유</a:t>
            </a:r>
          </a:p>
        </p:txBody>
      </p:sp>
      <p:sp>
        <p:nvSpPr>
          <p:cNvPr id="308" name="disk 308"/>
          <p:cNvSpPr/>
          <p:nvPr/>
        </p:nvSpPr>
        <p:spPr>
          <a:xfrm>
            <a:off x="7452360" y="1051560"/>
            <a:ext cx="1234440" cy="548640"/>
          </a:xfrm>
          <a:prstGeom prst="flowChartMagneticDisk">
            <a:avLst/>
          </a:prstGeom>
          <a:solidFill>
            <a:srgbClr val="DDE7F3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CCTV·돌발 목록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ITS·UTIC · 서버 캐시</a:t>
            </a:r>
          </a:p>
        </p:txBody>
      </p:sp>
      <p:cxnSp>
        <p:nvCxnSpPr>
          <p:cNvPr id="309" name="Connector 309"/>
          <p:cNvCxnSpPr/>
          <p:nvPr/>
        </p:nvCxnSpPr>
        <p:spPr>
          <a:xfrm>
            <a:off x="1600200" y="1325880"/>
            <a:ext cx="18288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10" name="Connector 310"/>
          <p:cNvCxnSpPr/>
          <p:nvPr/>
        </p:nvCxnSpPr>
        <p:spPr>
          <a:xfrm>
            <a:off x="3017520" y="1325880"/>
            <a:ext cx="18288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11" name="Connector 311"/>
          <p:cNvCxnSpPr/>
          <p:nvPr/>
        </p:nvCxnSpPr>
        <p:spPr>
          <a:xfrm>
            <a:off x="4434840" y="1325880"/>
            <a:ext cx="18288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12" name="Connector 312"/>
          <p:cNvCxnSpPr/>
          <p:nvPr/>
        </p:nvCxnSpPr>
        <p:spPr>
          <a:xfrm>
            <a:off x="5852160" y="1325880"/>
            <a:ext cx="18288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13" name="Connector 313"/>
          <p:cNvCxnSpPr/>
          <p:nvPr/>
        </p:nvCxnSpPr>
        <p:spPr>
          <a:xfrm>
            <a:off x="7269480" y="1325880"/>
            <a:ext cx="182880" cy="0"/>
          </a:xfrm>
          <a:prstGeom prst="line">
            <a:avLst/>
          </a:prstGeom>
          <a:ln w="12700">
            <a:solidFill>
              <a:srgbClr val="1F3F73"/>
            </a:solidFill>
            <a:headEnd type="triangle"/>
            <a:tailEnd type="triangle"/>
          </a:ln>
        </p:spPr>
      </p:cxnSp>
      <p:sp>
        <p:nvSpPr>
          <p:cNvPr id="314" name="TextBox 314"/>
          <p:cNvSpPr txBox="1"/>
          <p:nvPr/>
        </p:nvSpPr>
        <p:spPr>
          <a:xfrm>
            <a:off x="4462272" y="1170432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Y</a:t>
            </a:r>
          </a:p>
        </p:txBody>
      </p:sp>
      <p:sp>
        <p:nvSpPr>
          <p:cNvPr id="315" name="exc 315"/>
          <p:cNvSpPr/>
          <p:nvPr/>
        </p:nvSpPr>
        <p:spPr>
          <a:xfrm>
            <a:off x="3154679" y="1720000"/>
            <a:ext cx="1325880" cy="40000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E3. 정차·저속·터널</a:t>
            </a:r>
          </a:p>
          <a:p>
            <a:pPr algn="ctr"/>
            <a:r>
              <a:rPr sz="750" b="0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궤적·마지막 방향 사용</a:t>
            </a:r>
          </a:p>
          <a:p>
            <a:pPr algn="ctr"/>
            <a:r>
              <a:rPr sz="750" b="0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끝내 모르면 주변 5km</a:t>
            </a:r>
          </a:p>
        </p:txBody>
      </p:sp>
      <p:cxnSp>
        <p:nvCxnSpPr>
          <p:cNvPr id="316" name="Connector 316"/>
          <p:cNvCxnSpPr/>
          <p:nvPr/>
        </p:nvCxnSpPr>
        <p:spPr>
          <a:xfrm>
            <a:off x="3817620" y="1618488"/>
            <a:ext cx="0" cy="101512"/>
          </a:xfrm>
          <a:prstGeom prst="line">
            <a:avLst/>
          </a:prstGeom>
          <a:ln w="12700">
            <a:solidFill>
              <a:srgbClr val="C0392B"/>
            </a:solidFill>
            <a:tailEnd type="triangle"/>
          </a:ln>
        </p:spPr>
      </p:cxnSp>
      <p:sp>
        <p:nvSpPr>
          <p:cNvPr id="317" name="TextBox 317"/>
          <p:cNvSpPr txBox="1"/>
          <p:nvPr/>
        </p:nvSpPr>
        <p:spPr>
          <a:xfrm>
            <a:off x="3872484" y="1585000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N</a:t>
            </a:r>
          </a:p>
        </p:txBody>
      </p:sp>
      <p:cxnSp>
        <p:nvCxnSpPr>
          <p:cNvPr id="318" name="Connector 318"/>
          <p:cNvCxnSpPr/>
          <p:nvPr/>
        </p:nvCxnSpPr>
        <p:spPr>
          <a:xfrm>
            <a:off x="4480559" y="1920000"/>
            <a:ext cx="754381" cy="0"/>
          </a:xfrm>
          <a:prstGeom prst="line">
            <a:avLst/>
          </a:prstGeom>
          <a:ln w="12700">
            <a:solidFill>
              <a:srgbClr val="C0392B"/>
            </a:solidFill>
          </a:ln>
        </p:spPr>
      </p:cxnSp>
      <p:cxnSp>
        <p:nvCxnSpPr>
          <p:cNvPr id="319" name="Connector 319"/>
          <p:cNvCxnSpPr/>
          <p:nvPr/>
        </p:nvCxnSpPr>
        <p:spPr>
          <a:xfrm flipV="1">
            <a:off x="5234940" y="1554480"/>
            <a:ext cx="0" cy="365520"/>
          </a:xfrm>
          <a:prstGeom prst="line">
            <a:avLst/>
          </a:prstGeom>
          <a:ln w="12700">
            <a:solidFill>
              <a:srgbClr val="C0392B"/>
            </a:solidFill>
            <a:tailEnd type="triangle"/>
          </a:ln>
        </p:spPr>
      </p:cxnSp>
      <p:cxnSp>
        <p:nvCxnSpPr>
          <p:cNvPr id="320" name="Connector 320"/>
          <p:cNvCxnSpPr/>
          <p:nvPr/>
        </p:nvCxnSpPr>
        <p:spPr>
          <a:xfrm>
            <a:off x="6652260" y="1554480"/>
            <a:ext cx="0" cy="672912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sp>
        <p:nvSpPr>
          <p:cNvPr id="321" name="dec 321"/>
          <p:cNvSpPr/>
          <p:nvPr/>
        </p:nvSpPr>
        <p:spPr>
          <a:xfrm>
            <a:off x="6035040" y="2227392"/>
            <a:ext cx="1234440" cy="585216"/>
          </a:xfrm>
          <a:prstGeom prst="flowChartDecision">
            <a:avLst/>
          </a:prstGeom>
          <a:solidFill>
            <a:srgbClr val="FFF4D6"/>
          </a:solidFill>
          <a:ln w="12700">
            <a:solidFill>
              <a:srgbClr val="E08A00"/>
            </a:solidFill>
          </a:ln>
        </p:spPr>
        <p:txBody>
          <a:bodyPr wrap="none" lIns="36576" tIns="9144" rIns="36576" bIns="9144" rtlCol="0" anchor="ctr"/>
          <a:lstStyle/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목적지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있음?</a:t>
            </a:r>
          </a:p>
        </p:txBody>
      </p:sp>
      <p:sp>
        <p:nvSpPr>
          <p:cNvPr id="322" name="proc 322"/>
          <p:cNvSpPr/>
          <p:nvPr/>
        </p:nvSpPr>
        <p:spPr>
          <a:xfrm>
            <a:off x="7452360" y="2263968"/>
            <a:ext cx="1234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경로 위 CCTV만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경로 따라 앞 5km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반대 방향 제외</a:t>
            </a:r>
          </a:p>
        </p:txBody>
      </p:sp>
      <p:sp>
        <p:nvSpPr>
          <p:cNvPr id="323" name="proc 323"/>
          <p:cNvSpPr/>
          <p:nvPr/>
        </p:nvSpPr>
        <p:spPr>
          <a:xfrm>
            <a:off x="4617720" y="2263968"/>
            <a:ext cx="1234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부채꼴 선별 (Turf.js)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방향 ±30° · 5km 안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반대 차로 제외</a:t>
            </a:r>
          </a:p>
        </p:txBody>
      </p:sp>
      <p:sp>
        <p:nvSpPr>
          <p:cNvPr id="324" name="dec 324"/>
          <p:cNvSpPr/>
          <p:nvPr/>
        </p:nvSpPr>
        <p:spPr>
          <a:xfrm>
            <a:off x="3200400" y="2227392"/>
            <a:ext cx="1234440" cy="585216"/>
          </a:xfrm>
          <a:prstGeom prst="flowChartDecision">
            <a:avLst/>
          </a:prstGeom>
          <a:solidFill>
            <a:srgbClr val="FFF4D6"/>
          </a:solidFill>
          <a:ln w="12700">
            <a:solidFill>
              <a:srgbClr val="E08A00"/>
            </a:solidFill>
          </a:ln>
        </p:spPr>
        <p:txBody>
          <a:bodyPr wrap="none" lIns="36576" tIns="9144" rIns="36576" bIns="9144" rtlCol="0" anchor="ctr"/>
          <a:lstStyle/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내 앞 CCTV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있음?</a:t>
            </a:r>
          </a:p>
        </p:txBody>
      </p:sp>
      <p:sp>
        <p:nvSpPr>
          <p:cNvPr id="325" name="proc 325"/>
          <p:cNvSpPr/>
          <p:nvPr/>
        </p:nvSpPr>
        <p:spPr>
          <a:xfrm>
            <a:off x="1783080" y="2291400"/>
            <a:ext cx="1234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가까운 순 정렬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최대 5개</a:t>
            </a:r>
          </a:p>
        </p:txBody>
      </p:sp>
      <p:sp>
        <p:nvSpPr>
          <p:cNvPr id="326" name="term 326"/>
          <p:cNvSpPr/>
          <p:nvPr/>
        </p:nvSpPr>
        <p:spPr>
          <a:xfrm>
            <a:off x="365760" y="2318832"/>
            <a:ext cx="1234440" cy="402336"/>
          </a:xfrm>
          <a:prstGeom prst="flowChartTerminator">
            <a:avLst/>
          </a:prstGeom>
          <a:solidFill>
            <a:srgbClr val="D9D9D9"/>
          </a:solidFill>
          <a:ln w="12700">
            <a:solidFill>
              <a:srgbClr val="7F7F7F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끝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목록·자동 재생</a:t>
            </a:r>
          </a:p>
        </p:txBody>
      </p:sp>
      <p:cxnSp>
        <p:nvCxnSpPr>
          <p:cNvPr id="327" name="Connector 327"/>
          <p:cNvCxnSpPr/>
          <p:nvPr/>
        </p:nvCxnSpPr>
        <p:spPr>
          <a:xfrm>
            <a:off x="7269480" y="2520000"/>
            <a:ext cx="18288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sp>
        <p:nvSpPr>
          <p:cNvPr id="328" name="TextBox 328"/>
          <p:cNvSpPr txBox="1"/>
          <p:nvPr/>
        </p:nvSpPr>
        <p:spPr>
          <a:xfrm>
            <a:off x="7296912" y="2364552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Y</a:t>
            </a:r>
          </a:p>
        </p:txBody>
      </p:sp>
      <p:cxnSp>
        <p:nvCxnSpPr>
          <p:cNvPr id="329" name="Connector 329"/>
          <p:cNvCxnSpPr/>
          <p:nvPr/>
        </p:nvCxnSpPr>
        <p:spPr>
          <a:xfrm flipH="1">
            <a:off x="5852160" y="2520000"/>
            <a:ext cx="18288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sp>
        <p:nvSpPr>
          <p:cNvPr id="330" name="TextBox 330"/>
          <p:cNvSpPr txBox="1"/>
          <p:nvPr/>
        </p:nvSpPr>
        <p:spPr>
          <a:xfrm>
            <a:off x="5870448" y="2364552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N</a:t>
            </a:r>
          </a:p>
        </p:txBody>
      </p:sp>
      <p:cxnSp>
        <p:nvCxnSpPr>
          <p:cNvPr id="331" name="Connector 331"/>
          <p:cNvCxnSpPr/>
          <p:nvPr/>
        </p:nvCxnSpPr>
        <p:spPr>
          <a:xfrm flipH="1">
            <a:off x="4434840" y="2520000"/>
            <a:ext cx="18288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32" name="Connector 332"/>
          <p:cNvCxnSpPr/>
          <p:nvPr/>
        </p:nvCxnSpPr>
        <p:spPr>
          <a:xfrm flipH="1">
            <a:off x="3017520" y="2520000"/>
            <a:ext cx="18288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sp>
        <p:nvSpPr>
          <p:cNvPr id="333" name="TextBox 333"/>
          <p:cNvSpPr txBox="1"/>
          <p:nvPr/>
        </p:nvSpPr>
        <p:spPr>
          <a:xfrm>
            <a:off x="3044952" y="2364552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Y</a:t>
            </a:r>
          </a:p>
        </p:txBody>
      </p:sp>
      <p:cxnSp>
        <p:nvCxnSpPr>
          <p:cNvPr id="334" name="Connector 334"/>
          <p:cNvCxnSpPr/>
          <p:nvPr/>
        </p:nvCxnSpPr>
        <p:spPr>
          <a:xfrm flipH="1">
            <a:off x="1600200" y="2520000"/>
            <a:ext cx="18288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35" name="Connector 335"/>
          <p:cNvCxnSpPr/>
          <p:nvPr/>
        </p:nvCxnSpPr>
        <p:spPr>
          <a:xfrm>
            <a:off x="8069580" y="2776032"/>
            <a:ext cx="0" cy="123968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cxnSp>
        <p:nvCxnSpPr>
          <p:cNvPr id="336" name="Connector 336"/>
          <p:cNvCxnSpPr/>
          <p:nvPr/>
        </p:nvCxnSpPr>
        <p:spPr>
          <a:xfrm flipH="1">
            <a:off x="4526280" y="2900000"/>
            <a:ext cx="3543300" cy="0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cxnSp>
        <p:nvCxnSpPr>
          <p:cNvPr id="337" name="Connector 337"/>
          <p:cNvCxnSpPr/>
          <p:nvPr/>
        </p:nvCxnSpPr>
        <p:spPr>
          <a:xfrm flipV="1">
            <a:off x="4526280" y="2529144"/>
            <a:ext cx="0" cy="370856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sp>
        <p:nvSpPr>
          <p:cNvPr id="338" name="TextBox 338"/>
          <p:cNvSpPr txBox="1"/>
          <p:nvPr/>
        </p:nvSpPr>
        <p:spPr>
          <a:xfrm>
            <a:off x="5835040" y="2930000"/>
            <a:ext cx="18000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목적지 있을 때도 같은 판단</a:t>
            </a:r>
          </a:p>
        </p:txBody>
      </p:sp>
      <p:sp>
        <p:nvSpPr>
          <p:cNvPr id="339" name="exc 339"/>
          <p:cNvSpPr/>
          <p:nvPr/>
        </p:nvSpPr>
        <p:spPr>
          <a:xfrm>
            <a:off x="3131820" y="3020000"/>
            <a:ext cx="1371600" cy="420624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E4. 앞쪽 CCTV 없음</a:t>
            </a:r>
          </a:p>
          <a:p>
            <a:pPr algn="ctr"/>
            <a:r>
              <a:rPr sz="750" b="0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‘CCTV가 없어요’ 안내</a:t>
            </a:r>
          </a:p>
          <a:p>
            <a:pPr algn="ctr"/>
            <a:r>
              <a:rPr sz="750" b="0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30초·500m 뒤 다시 찾기</a:t>
            </a:r>
          </a:p>
        </p:txBody>
      </p:sp>
      <p:cxnSp>
        <p:nvCxnSpPr>
          <p:cNvPr id="340" name="Connector 340"/>
          <p:cNvCxnSpPr/>
          <p:nvPr/>
        </p:nvCxnSpPr>
        <p:spPr>
          <a:xfrm>
            <a:off x="3817620" y="2812608"/>
            <a:ext cx="0" cy="207392"/>
          </a:xfrm>
          <a:prstGeom prst="line">
            <a:avLst/>
          </a:prstGeom>
          <a:ln w="12700">
            <a:solidFill>
              <a:srgbClr val="C0392B"/>
            </a:solidFill>
            <a:tailEnd type="triangle"/>
          </a:ln>
        </p:spPr>
      </p:cxnSp>
      <p:sp>
        <p:nvSpPr>
          <p:cNvPr id="341" name="TextBox 341"/>
          <p:cNvSpPr txBox="1"/>
          <p:nvPr/>
        </p:nvSpPr>
        <p:spPr>
          <a:xfrm>
            <a:off x="3872484" y="2830000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N</a:t>
            </a:r>
          </a:p>
        </p:txBody>
      </p:sp>
      <p:sp>
        <p:nvSpPr>
          <p:cNvPr id="342" name="Shape 342"/>
          <p:cNvSpPr/>
          <p:nvPr/>
        </p:nvSpPr>
        <p:spPr>
          <a:xfrm>
            <a:off x="7452360" y="3080000"/>
            <a:ext cx="1234440" cy="64008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9525">
            <a:solidFill>
              <a:srgbClr val="C9D3E0"/>
            </a:solidFill>
          </a:ln>
        </p:spPr>
        <p:txBody>
          <a:bodyPr wrap="square" lIns="36576" tIns="9144" rIns="36576" bIns="9144" rtlCol="0" anchor="ctr"/>
          <a:lstStyle/>
          <a:p>
            <a:pPr algn="l"/>
            <a:r>
              <a:rPr sz="700" b="1">
                <a:solidFill>
                  <a:srgbClr val="1F3F73"/>
                </a:solidFill>
                <a:latin typeface="Malgun Gothic"/>
                <a:ea typeface="Malgun Gothic"/>
                <a:cs typeface="Malgun Gothic"/>
              </a:rPr>
              <a:t>관련 기능</a:t>
            </a:r>
          </a:p>
          <a:p>
            <a:pPr algn="l"/>
            <a:r>
              <a:rPr sz="700" b="0">
                <a:solidFill>
                  <a:srgbClr val="1F3F73"/>
                </a:solidFill>
                <a:latin typeface="Malgun Gothic"/>
                <a:ea typeface="Malgun Gothic"/>
                <a:cs typeface="Malgun Gothic"/>
              </a:rPr>
              <a:t>F-06 위치 수신·내 앞 선별</a:t>
            </a:r>
          </a:p>
          <a:p>
            <a:pPr algn="l"/>
            <a:r>
              <a:rPr sz="700" b="0">
                <a:solidFill>
                  <a:srgbClr val="1F3F73"/>
                </a:solidFill>
                <a:latin typeface="Malgun Gothic"/>
                <a:ea typeface="Malgun Gothic"/>
                <a:cs typeface="Malgun Gothic"/>
              </a:rPr>
              <a:t>F-05 경로 위 CCTV</a:t>
            </a:r>
          </a:p>
          <a:p>
            <a:pPr algn="l"/>
            <a:r>
              <a:rPr sz="700" b="0">
                <a:solidFill>
                  <a:srgbClr val="1F3F73"/>
                </a:solidFill>
                <a:latin typeface="Malgun Gothic"/>
                <a:ea typeface="Malgun Gothic"/>
                <a:cs typeface="Malgun Gothic"/>
              </a:rPr>
              <a:t>(FR-02~04 · 09 · 10)</a:t>
            </a:r>
          </a:p>
        </p:txBody>
      </p:sp>
      <p:sp>
        <p:nvSpPr>
          <p:cNvPr id="343" name="Shape 343"/>
          <p:cNvSpPr/>
          <p:nvPr/>
        </p:nvSpPr>
        <p:spPr>
          <a:xfrm>
            <a:off x="320039" y="4023360"/>
            <a:ext cx="8503920" cy="50292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9525">
            <a:solidFill>
              <a:srgbClr val="C9D3E0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344" name="Shape 344"/>
          <p:cNvSpPr/>
          <p:nvPr/>
        </p:nvSpPr>
        <p:spPr>
          <a:xfrm>
            <a:off x="320040" y="4023360"/>
            <a:ext cx="914400" cy="50292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선별 기준</a:t>
            </a:r>
          </a:p>
        </p:txBody>
      </p:sp>
      <p:sp>
        <p:nvSpPr>
          <p:cNvPr id="345" name="TextBox 345"/>
          <p:cNvSpPr txBox="1"/>
          <p:nvPr/>
        </p:nvSpPr>
        <p:spPr>
          <a:xfrm>
            <a:off x="1399032" y="4078224"/>
            <a:ext cx="1356969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목적지 없을 때</a:t>
            </a:r>
          </a:p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방향 ±30° · 5km 부채꼴</a:t>
            </a:r>
          </a:p>
        </p:txBody>
      </p:sp>
      <p:cxnSp>
        <p:nvCxnSpPr>
          <p:cNvPr id="346" name="Connector 346"/>
          <p:cNvCxnSpPr/>
          <p:nvPr/>
        </p:nvCxnSpPr>
        <p:spPr>
          <a:xfrm>
            <a:off x="2810865" y="4133088"/>
            <a:ext cx="0" cy="283464"/>
          </a:xfrm>
          <a:prstGeom prst="line">
            <a:avLst/>
          </a:prstGeom>
          <a:ln w="9525">
            <a:solidFill>
              <a:srgbClr val="C9D3E0"/>
            </a:solidFill>
            <a:prstDash val="dash"/>
          </a:ln>
        </p:spPr>
      </p:cxnSp>
      <p:sp>
        <p:nvSpPr>
          <p:cNvPr id="347" name="TextBox 347"/>
          <p:cNvSpPr txBox="1"/>
          <p:nvPr/>
        </p:nvSpPr>
        <p:spPr>
          <a:xfrm>
            <a:off x="2884017" y="4078224"/>
            <a:ext cx="1356969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반대 차로 제외</a:t>
            </a:r>
          </a:p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방향 표기·도로 지도로</a:t>
            </a:r>
          </a:p>
        </p:txBody>
      </p:sp>
      <p:cxnSp>
        <p:nvCxnSpPr>
          <p:cNvPr id="348" name="Connector 348"/>
          <p:cNvCxnSpPr/>
          <p:nvPr/>
        </p:nvCxnSpPr>
        <p:spPr>
          <a:xfrm>
            <a:off x="4295850" y="4133088"/>
            <a:ext cx="0" cy="283464"/>
          </a:xfrm>
          <a:prstGeom prst="line">
            <a:avLst/>
          </a:prstGeom>
          <a:ln w="9525">
            <a:solidFill>
              <a:srgbClr val="C9D3E0"/>
            </a:solidFill>
            <a:prstDash val="dash"/>
          </a:ln>
        </p:spPr>
      </p:cxnSp>
      <p:sp>
        <p:nvSpPr>
          <p:cNvPr id="349" name="TextBox 349"/>
          <p:cNvSpPr txBox="1"/>
          <p:nvPr/>
        </p:nvSpPr>
        <p:spPr>
          <a:xfrm>
            <a:off x="4369002" y="4078224"/>
            <a:ext cx="1356969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도로를 알면</a:t>
            </a:r>
          </a:p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그 도로 앞 6km만</a:t>
            </a:r>
          </a:p>
        </p:txBody>
      </p:sp>
      <p:cxnSp>
        <p:nvCxnSpPr>
          <p:cNvPr id="350" name="Connector 350"/>
          <p:cNvCxnSpPr/>
          <p:nvPr/>
        </p:nvCxnSpPr>
        <p:spPr>
          <a:xfrm>
            <a:off x="5780835" y="4133088"/>
            <a:ext cx="0" cy="283464"/>
          </a:xfrm>
          <a:prstGeom prst="line">
            <a:avLst/>
          </a:prstGeom>
          <a:ln w="9525">
            <a:solidFill>
              <a:srgbClr val="C9D3E0"/>
            </a:solidFill>
            <a:prstDash val="dash"/>
          </a:ln>
        </p:spPr>
      </p:cxnSp>
      <p:sp>
        <p:nvSpPr>
          <p:cNvPr id="351" name="TextBox 351"/>
          <p:cNvSpPr txBox="1"/>
          <p:nvPr/>
        </p:nvSpPr>
        <p:spPr>
          <a:xfrm>
            <a:off x="5853987" y="4078224"/>
            <a:ext cx="1356969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목적지 있을 때</a:t>
            </a:r>
          </a:p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경로 위 CCTV만</a:t>
            </a:r>
          </a:p>
        </p:txBody>
      </p:sp>
      <p:cxnSp>
        <p:nvCxnSpPr>
          <p:cNvPr id="352" name="Connector 352"/>
          <p:cNvCxnSpPr/>
          <p:nvPr/>
        </p:nvCxnSpPr>
        <p:spPr>
          <a:xfrm>
            <a:off x="7265820" y="4133088"/>
            <a:ext cx="0" cy="283464"/>
          </a:xfrm>
          <a:prstGeom prst="line">
            <a:avLst/>
          </a:prstGeom>
          <a:ln w="9525">
            <a:solidFill>
              <a:srgbClr val="C9D3E0"/>
            </a:solidFill>
            <a:prstDash val="dash"/>
          </a:ln>
        </p:spPr>
      </p:cxnSp>
      <p:sp>
        <p:nvSpPr>
          <p:cNvPr id="353" name="TextBox 353"/>
          <p:cNvSpPr txBox="1"/>
          <p:nvPr/>
        </p:nvSpPr>
        <p:spPr>
          <a:xfrm>
            <a:off x="7338972" y="4078224"/>
            <a:ext cx="1356969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정확도 90%</a:t>
            </a:r>
          </a:p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실제 주행 20곳 검증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/>
          <p:nvPr/>
        </p:nvSpPr>
        <p:spPr>
          <a:xfrm>
            <a:off x="251520" y="-8002"/>
            <a:ext cx="4320480" cy="252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05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algun Gothic"/>
              <a:buNone/>
            </a:pPr>
            <a:r>
              <a:rPr lang="en-US" sz="17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흐름도(영상 재생·자동 갱신)</a:t>
            </a:r>
            <a:endParaRPr sz="1700" b="1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" name="Google Shape;77;p2"/>
          <p:cNvSpPr txBox="1"/>
          <p:nvPr/>
        </p:nvSpPr>
        <p:spPr>
          <a:xfrm>
            <a:off x="6336198" y="51472"/>
            <a:ext cx="2556284" cy="288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45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졸업하자</a:t>
            </a:r>
            <a:endParaRPr sz="17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" name="Terminator 79"/>
          <p:cNvSpPr/>
          <p:nvPr/>
        </p:nvSpPr>
        <p:spPr>
          <a:xfrm>
            <a:off x="4617720" y="562356"/>
            <a:ext cx="237744" cy="155448"/>
          </a:xfrm>
          <a:prstGeom prst="flowChartTerminator">
            <a:avLst/>
          </a:prstGeom>
          <a:solidFill>
            <a:srgbClr val="D9D9D9"/>
          </a:solidFill>
          <a:ln w="9525">
            <a:solidFill>
              <a:srgbClr val="7F7F7F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892040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시작/끝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221224" y="562356"/>
            <a:ext cx="237744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495544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처리</a:t>
            </a:r>
          </a:p>
        </p:txBody>
      </p:sp>
      <p:sp>
        <p:nvSpPr>
          <p:cNvPr id="84" name="Decision 83"/>
          <p:cNvSpPr/>
          <p:nvPr/>
        </p:nvSpPr>
        <p:spPr>
          <a:xfrm>
            <a:off x="5824728" y="562356"/>
            <a:ext cx="237744" cy="155448"/>
          </a:xfrm>
          <a:prstGeom prst="flowChartDecision">
            <a:avLst/>
          </a:prstGeom>
          <a:solidFill>
            <a:srgbClr val="FFF4D6"/>
          </a:solidFill>
          <a:ln w="9525">
            <a:solidFill>
              <a:srgbClr val="E08A00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099048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86" name="Data 85"/>
          <p:cNvSpPr/>
          <p:nvPr/>
        </p:nvSpPr>
        <p:spPr>
          <a:xfrm>
            <a:off x="6428231" y="562356"/>
            <a:ext cx="237744" cy="155448"/>
          </a:xfrm>
          <a:prstGeom prst="flowChartInputOutput">
            <a:avLst/>
          </a:prstGeom>
          <a:solidFill>
            <a:srgbClr val="E4F3F4"/>
          </a:solidFill>
          <a:ln w="9525">
            <a:solidFill>
              <a:srgbClr val="0E7C86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702551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88" name="Document 87"/>
          <p:cNvSpPr/>
          <p:nvPr/>
        </p:nvSpPr>
        <p:spPr>
          <a:xfrm>
            <a:off x="7031736" y="562356"/>
            <a:ext cx="237744" cy="155448"/>
          </a:xfrm>
          <a:prstGeom prst="flowChartDocument">
            <a:avLst/>
          </a:prstGeom>
          <a:solidFill>
            <a:srgbClr val="EAF0F8"/>
          </a:solidFill>
          <a:ln w="9525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306055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화면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635240" y="562356"/>
            <a:ext cx="237744" cy="155448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909560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예외</a:t>
            </a:r>
          </a:p>
        </p:txBody>
      </p:sp>
      <p:sp>
        <p:nvSpPr>
          <p:cNvPr id="92" name="Magnetic Disk 91"/>
          <p:cNvSpPr/>
          <p:nvPr/>
        </p:nvSpPr>
        <p:spPr>
          <a:xfrm>
            <a:off x="8238744" y="562356"/>
            <a:ext cx="237744" cy="155448"/>
          </a:xfrm>
          <a:prstGeom prst="flowChartMagneticDisk">
            <a:avLst/>
          </a:prstGeom>
          <a:solidFill>
            <a:srgbClr val="DDE7F3"/>
          </a:solidFill>
          <a:ln w="9525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513064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데이터</a:t>
            </a:r>
          </a:p>
        </p:txBody>
      </p:sp>
      <p:sp>
        <p:nvSpPr>
          <p:cNvPr id="301" name="TextBox 301"/>
          <p:cNvSpPr txBox="1"/>
          <p:nvPr/>
        </p:nvSpPr>
        <p:spPr>
          <a:xfrm>
            <a:off x="320040" y="457200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F3F73"/>
                </a:solidFill>
                <a:latin typeface="Malgun Gothic"/>
                <a:ea typeface="Malgun Gothic"/>
                <a:cs typeface="Malgun Gothic"/>
              </a:rPr>
              <a:t>자동 재생 → 통과 시간·앞길 요약 → 자동 갱신</a:t>
            </a:r>
          </a:p>
        </p:txBody>
      </p:sp>
      <p:sp>
        <p:nvSpPr>
          <p:cNvPr id="302" name="TextBox 302"/>
          <p:cNvSpPr txBox="1"/>
          <p:nvPr/>
        </p:nvSpPr>
        <p:spPr>
          <a:xfrm>
            <a:off x="320040" y="713232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□ 추가 조작 없이 바로 앞 CCTV를 재생하고, 언제 지나가는지와 앞길 상황을 함께 보여 줌</a:t>
            </a:r>
          </a:p>
        </p:txBody>
      </p:sp>
      <p:sp>
        <p:nvSpPr>
          <p:cNvPr id="303" name="term 303"/>
          <p:cNvSpPr/>
          <p:nvPr/>
        </p:nvSpPr>
        <p:spPr>
          <a:xfrm>
            <a:off x="365760" y="1124712"/>
            <a:ext cx="1234440" cy="402336"/>
          </a:xfrm>
          <a:prstGeom prst="flowChartTerminator">
            <a:avLst/>
          </a:prstGeom>
          <a:solidFill>
            <a:srgbClr val="D9D9D9"/>
          </a:solidFill>
          <a:ln w="12700">
            <a:solidFill>
              <a:srgbClr val="7F7F7F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선별 목록 수신</a:t>
            </a:r>
          </a:p>
        </p:txBody>
      </p:sp>
      <p:sp>
        <p:nvSpPr>
          <p:cNvPr id="304" name="doc 304"/>
          <p:cNvSpPr/>
          <p:nvPr/>
        </p:nvSpPr>
        <p:spPr>
          <a:xfrm>
            <a:off x="1783080" y="1069848"/>
            <a:ext cx="1234440" cy="512064"/>
          </a:xfrm>
          <a:prstGeom prst="flowChartDocument">
            <a:avLst/>
          </a:prstGeom>
          <a:solidFill>
            <a:srgbClr val="EAF0F8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홈 화면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지도 + 내 앞 CCTV</a:t>
            </a:r>
          </a:p>
        </p:txBody>
      </p:sp>
      <p:sp>
        <p:nvSpPr>
          <p:cNvPr id="305" name="proc 305"/>
          <p:cNvSpPr/>
          <p:nvPr/>
        </p:nvSpPr>
        <p:spPr>
          <a:xfrm>
            <a:off x="3200400" y="1097280"/>
            <a:ext cx="1234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1순위 CCTV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자동 재생 (hls.js)</a:t>
            </a:r>
          </a:p>
        </p:txBody>
      </p:sp>
      <p:sp>
        <p:nvSpPr>
          <p:cNvPr id="306" name="dec 306"/>
          <p:cNvSpPr/>
          <p:nvPr/>
        </p:nvSpPr>
        <p:spPr>
          <a:xfrm>
            <a:off x="4617720" y="1033272"/>
            <a:ext cx="1234440" cy="585216"/>
          </a:xfrm>
          <a:prstGeom prst="flowChartDecision">
            <a:avLst/>
          </a:prstGeom>
          <a:solidFill>
            <a:srgbClr val="FFF4D6"/>
          </a:solidFill>
          <a:ln w="12700">
            <a:solidFill>
              <a:srgbClr val="E08A00"/>
            </a:solidFill>
          </a:ln>
        </p:spPr>
        <p:txBody>
          <a:bodyPr wrap="none" lIns="36576" tIns="9144" rIns="36576" bIns="9144" rtlCol="0" anchor="ctr"/>
          <a:lstStyle/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영상 나옴?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(12초 안)</a:t>
            </a:r>
          </a:p>
        </p:txBody>
      </p:sp>
      <p:sp>
        <p:nvSpPr>
          <p:cNvPr id="307" name="proc 307"/>
          <p:cNvSpPr/>
          <p:nvPr/>
        </p:nvSpPr>
        <p:spPr>
          <a:xfrm>
            <a:off x="6035040" y="1069848"/>
            <a:ext cx="1234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통과 시간 표시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‘580m 앞 ·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약 20초 후 통과’</a:t>
            </a:r>
          </a:p>
        </p:txBody>
      </p:sp>
      <p:sp>
        <p:nvSpPr>
          <p:cNvPr id="308" name="hil 308"/>
          <p:cNvSpPr/>
          <p:nvPr/>
        </p:nvSpPr>
        <p:spPr>
          <a:xfrm>
            <a:off x="7452360" y="1042416"/>
            <a:ext cx="1234440" cy="566928"/>
          </a:xfrm>
          <a:prstGeom prst="rect">
            <a:avLst/>
          </a:prstGeom>
          <a:solidFill>
            <a:srgbClr val="FFF4D6"/>
          </a:solidFill>
          <a:ln w="12700">
            <a:solidFill>
              <a:srgbClr val="E08A00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앞길 한 줄 요약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‘2.8km 앞 공사 ·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1차로 통제’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+ 길 색 = 막힘 정도</a:t>
            </a:r>
          </a:p>
        </p:txBody>
      </p:sp>
      <p:cxnSp>
        <p:nvCxnSpPr>
          <p:cNvPr id="309" name="Connector 309"/>
          <p:cNvCxnSpPr/>
          <p:nvPr/>
        </p:nvCxnSpPr>
        <p:spPr>
          <a:xfrm>
            <a:off x="1600200" y="1325880"/>
            <a:ext cx="18288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10" name="Connector 310"/>
          <p:cNvCxnSpPr/>
          <p:nvPr/>
        </p:nvCxnSpPr>
        <p:spPr>
          <a:xfrm>
            <a:off x="3017520" y="1325880"/>
            <a:ext cx="18288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11" name="Connector 311"/>
          <p:cNvCxnSpPr/>
          <p:nvPr/>
        </p:nvCxnSpPr>
        <p:spPr>
          <a:xfrm>
            <a:off x="4434840" y="1325880"/>
            <a:ext cx="18288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12" name="Connector 312"/>
          <p:cNvCxnSpPr/>
          <p:nvPr/>
        </p:nvCxnSpPr>
        <p:spPr>
          <a:xfrm>
            <a:off x="5852160" y="1325880"/>
            <a:ext cx="18288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13" name="Connector 313"/>
          <p:cNvCxnSpPr/>
          <p:nvPr/>
        </p:nvCxnSpPr>
        <p:spPr>
          <a:xfrm>
            <a:off x="7269480" y="1325880"/>
            <a:ext cx="18288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sp>
        <p:nvSpPr>
          <p:cNvPr id="314" name="TextBox 314"/>
          <p:cNvSpPr txBox="1"/>
          <p:nvPr/>
        </p:nvSpPr>
        <p:spPr>
          <a:xfrm>
            <a:off x="5879592" y="1170432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Y</a:t>
            </a:r>
          </a:p>
        </p:txBody>
      </p:sp>
      <p:sp>
        <p:nvSpPr>
          <p:cNvPr id="315" name="exc 315"/>
          <p:cNvSpPr/>
          <p:nvPr/>
        </p:nvSpPr>
        <p:spPr>
          <a:xfrm>
            <a:off x="4526280" y="1801368"/>
            <a:ext cx="1417320" cy="45720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E5. 다음 CCTV로 넘김</a:t>
            </a:r>
          </a:p>
          <a:p>
            <a:pPr algn="ctr"/>
            <a:r>
              <a:rPr sz="750" b="0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안 나온 CCTV는 건너뜀</a:t>
            </a:r>
          </a:p>
        </p:txBody>
      </p:sp>
      <p:cxnSp>
        <p:nvCxnSpPr>
          <p:cNvPr id="316" name="Connector 316"/>
          <p:cNvCxnSpPr/>
          <p:nvPr/>
        </p:nvCxnSpPr>
        <p:spPr>
          <a:xfrm>
            <a:off x="5234940" y="1618488"/>
            <a:ext cx="0" cy="182880"/>
          </a:xfrm>
          <a:prstGeom prst="line">
            <a:avLst/>
          </a:prstGeom>
          <a:ln w="12700">
            <a:solidFill>
              <a:srgbClr val="C0392B"/>
            </a:solidFill>
            <a:tailEnd type="triangle"/>
          </a:ln>
        </p:spPr>
      </p:cxnSp>
      <p:sp>
        <p:nvSpPr>
          <p:cNvPr id="317" name="TextBox 317"/>
          <p:cNvSpPr txBox="1"/>
          <p:nvPr/>
        </p:nvSpPr>
        <p:spPr>
          <a:xfrm>
            <a:off x="5289804" y="1655064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N</a:t>
            </a:r>
          </a:p>
        </p:txBody>
      </p:sp>
      <p:cxnSp>
        <p:nvCxnSpPr>
          <p:cNvPr id="318" name="Connector 318"/>
          <p:cNvCxnSpPr/>
          <p:nvPr/>
        </p:nvCxnSpPr>
        <p:spPr>
          <a:xfrm flipH="1">
            <a:off x="3817620" y="2029968"/>
            <a:ext cx="708660" cy="0"/>
          </a:xfrm>
          <a:prstGeom prst="line">
            <a:avLst/>
          </a:prstGeom>
          <a:ln w="12700">
            <a:solidFill>
              <a:srgbClr val="C0392B"/>
            </a:solidFill>
          </a:ln>
        </p:spPr>
      </p:cxnSp>
      <p:cxnSp>
        <p:nvCxnSpPr>
          <p:cNvPr id="319" name="Connector 319"/>
          <p:cNvCxnSpPr/>
          <p:nvPr/>
        </p:nvCxnSpPr>
        <p:spPr>
          <a:xfrm flipV="1">
            <a:off x="3817620" y="1554480"/>
            <a:ext cx="0" cy="475488"/>
          </a:xfrm>
          <a:prstGeom prst="line">
            <a:avLst/>
          </a:prstGeom>
          <a:ln w="12700">
            <a:solidFill>
              <a:srgbClr val="C0392B"/>
            </a:solidFill>
            <a:tailEnd type="triangle"/>
          </a:ln>
        </p:spPr>
      </p:cxnSp>
      <p:cxnSp>
        <p:nvCxnSpPr>
          <p:cNvPr id="320" name="Connector 320"/>
          <p:cNvCxnSpPr/>
          <p:nvPr/>
        </p:nvCxnSpPr>
        <p:spPr>
          <a:xfrm>
            <a:off x="8069580" y="1609344"/>
            <a:ext cx="0" cy="996696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sp>
        <p:nvSpPr>
          <p:cNvPr id="321" name="data 321"/>
          <p:cNvSpPr/>
          <p:nvPr/>
        </p:nvSpPr>
        <p:spPr>
          <a:xfrm>
            <a:off x="7452360" y="2606040"/>
            <a:ext cx="1234440" cy="457200"/>
          </a:xfrm>
          <a:prstGeom prst="flowChartInputOutput">
            <a:avLst/>
          </a:prstGeom>
          <a:solidFill>
            <a:srgbClr val="E4F3F4"/>
          </a:solidFill>
          <a:ln w="12700">
            <a:solidFill>
              <a:srgbClr val="0E7C86"/>
            </a:solidFill>
          </a:ln>
        </p:spPr>
        <p:txBody>
          <a:bodyPr wrap="none" lIns="36576" tIns="9144" rIns="36576" bIns="9144" rtlCol="0" anchor="ctr"/>
          <a:lstStyle/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영상 누르기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크게 보기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앞뒤로 넘기기</a:t>
            </a:r>
          </a:p>
        </p:txBody>
      </p:sp>
      <p:sp>
        <p:nvSpPr>
          <p:cNvPr id="322" name="proc 322"/>
          <p:cNvSpPr/>
          <p:nvPr/>
        </p:nvSpPr>
        <p:spPr>
          <a:xfrm>
            <a:off x="6035040" y="2578608"/>
            <a:ext cx="1234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막힌 이유·범위 확인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운전자에게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크게 보여 주기</a:t>
            </a:r>
          </a:p>
        </p:txBody>
      </p:sp>
      <p:sp>
        <p:nvSpPr>
          <p:cNvPr id="323" name="dec 323"/>
          <p:cNvSpPr/>
          <p:nvPr/>
        </p:nvSpPr>
        <p:spPr>
          <a:xfrm>
            <a:off x="4617720" y="2532888"/>
            <a:ext cx="1234440" cy="603504"/>
          </a:xfrm>
          <a:prstGeom prst="flowChartDecision">
            <a:avLst/>
          </a:prstGeom>
          <a:solidFill>
            <a:srgbClr val="FFF4D6"/>
          </a:solidFill>
          <a:ln w="12700">
            <a:solidFill>
              <a:srgbClr val="E08A00"/>
            </a:solidFill>
          </a:ln>
        </p:spPr>
        <p:txBody>
          <a:bodyPr wrap="none" lIns="36576" tIns="9144" rIns="36576" bIns="9144" rtlCol="0" anchor="ctr"/>
          <a:lstStyle/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30초 경과 또는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500m 이동?</a:t>
            </a:r>
          </a:p>
        </p:txBody>
      </p:sp>
      <p:sp>
        <p:nvSpPr>
          <p:cNvPr id="324" name="proc 324"/>
          <p:cNvSpPr/>
          <p:nvPr/>
        </p:nvSpPr>
        <p:spPr>
          <a:xfrm>
            <a:off x="3200400" y="2578608"/>
            <a:ext cx="1234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지나친 CCTV 제외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다음 CCTV 바로 재생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다시 선별 요청</a:t>
            </a:r>
          </a:p>
        </p:txBody>
      </p:sp>
      <p:sp>
        <p:nvSpPr>
          <p:cNvPr id="325" name="term 325"/>
          <p:cNvSpPr/>
          <p:nvPr/>
        </p:nvSpPr>
        <p:spPr>
          <a:xfrm>
            <a:off x="1783080" y="2633472"/>
            <a:ext cx="1234440" cy="402336"/>
          </a:xfrm>
          <a:prstGeom prst="flowChartTerminator">
            <a:avLst/>
          </a:prstGeom>
          <a:solidFill>
            <a:srgbClr val="D9D9D9"/>
          </a:solidFill>
          <a:ln w="12700">
            <a:solidFill>
              <a:srgbClr val="7F7F7F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위치·방향 산출로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반복</a:t>
            </a:r>
          </a:p>
        </p:txBody>
      </p:sp>
      <p:cxnSp>
        <p:nvCxnSpPr>
          <p:cNvPr id="326" name="Connector 326"/>
          <p:cNvCxnSpPr/>
          <p:nvPr/>
        </p:nvCxnSpPr>
        <p:spPr>
          <a:xfrm flipH="1">
            <a:off x="7269480" y="2834640"/>
            <a:ext cx="18288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27" name="Connector 327"/>
          <p:cNvCxnSpPr/>
          <p:nvPr/>
        </p:nvCxnSpPr>
        <p:spPr>
          <a:xfrm flipH="1">
            <a:off x="5852160" y="2834640"/>
            <a:ext cx="18288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28" name="Connector 328"/>
          <p:cNvCxnSpPr/>
          <p:nvPr/>
        </p:nvCxnSpPr>
        <p:spPr>
          <a:xfrm flipH="1">
            <a:off x="4434840" y="2834640"/>
            <a:ext cx="18288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29" name="Connector 329"/>
          <p:cNvCxnSpPr/>
          <p:nvPr/>
        </p:nvCxnSpPr>
        <p:spPr>
          <a:xfrm flipH="1">
            <a:off x="3017520" y="2834640"/>
            <a:ext cx="18288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sp>
        <p:nvSpPr>
          <p:cNvPr id="330" name="TextBox 330"/>
          <p:cNvSpPr txBox="1"/>
          <p:nvPr/>
        </p:nvSpPr>
        <p:spPr>
          <a:xfrm>
            <a:off x="4462272" y="2679192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Y</a:t>
            </a:r>
          </a:p>
        </p:txBody>
      </p:sp>
      <p:cxnSp>
        <p:nvCxnSpPr>
          <p:cNvPr id="331" name="Connector 331"/>
          <p:cNvCxnSpPr/>
          <p:nvPr/>
        </p:nvCxnSpPr>
        <p:spPr>
          <a:xfrm>
            <a:off x="5234940" y="3136392"/>
            <a:ext cx="0" cy="265176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cxnSp>
        <p:nvCxnSpPr>
          <p:cNvPr id="332" name="Connector 332"/>
          <p:cNvCxnSpPr/>
          <p:nvPr/>
        </p:nvCxnSpPr>
        <p:spPr>
          <a:xfrm>
            <a:off x="5234940" y="3401568"/>
            <a:ext cx="2834640" cy="0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cxnSp>
        <p:nvCxnSpPr>
          <p:cNvPr id="333" name="Connector 333"/>
          <p:cNvCxnSpPr/>
          <p:nvPr/>
        </p:nvCxnSpPr>
        <p:spPr>
          <a:xfrm flipV="1">
            <a:off x="8069580" y="3063240"/>
            <a:ext cx="0" cy="338328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sp>
        <p:nvSpPr>
          <p:cNvPr id="334" name="TextBox 334"/>
          <p:cNvSpPr txBox="1"/>
          <p:nvPr/>
        </p:nvSpPr>
        <p:spPr>
          <a:xfrm>
            <a:off x="5289804" y="3163824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N</a:t>
            </a:r>
          </a:p>
        </p:txBody>
      </p:sp>
      <p:sp>
        <p:nvSpPr>
          <p:cNvPr id="335" name="TextBox 335"/>
          <p:cNvSpPr txBox="1"/>
          <p:nvPr/>
        </p:nvSpPr>
        <p:spPr>
          <a:xfrm>
            <a:off x="6103620" y="3438144"/>
            <a:ext cx="10972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계속 시청</a:t>
            </a:r>
          </a:p>
        </p:txBody>
      </p:sp>
      <p:sp>
        <p:nvSpPr>
          <p:cNvPr id="336" name="Shape 336"/>
          <p:cNvSpPr/>
          <p:nvPr/>
        </p:nvSpPr>
        <p:spPr>
          <a:xfrm>
            <a:off x="365760" y="2697480"/>
            <a:ext cx="1234440" cy="77724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9525">
            <a:solidFill>
              <a:srgbClr val="C9D3E0"/>
            </a:solidFill>
          </a:ln>
        </p:spPr>
        <p:txBody>
          <a:bodyPr wrap="square" lIns="36576" tIns="9144" rIns="36576" bIns="9144" rtlCol="0" anchor="ctr"/>
          <a:lstStyle/>
          <a:p>
            <a:pPr algn="l"/>
            <a:r>
              <a:rPr sz="700" b="1">
                <a:solidFill>
                  <a:srgbClr val="1F3F73"/>
                </a:solidFill>
                <a:latin typeface="Malgun Gothic"/>
                <a:ea typeface="Malgun Gothic"/>
                <a:cs typeface="Malgun Gothic"/>
              </a:rPr>
              <a:t>관련 기능</a:t>
            </a:r>
          </a:p>
          <a:p>
            <a:pPr algn="l"/>
            <a:r>
              <a:rPr sz="700" b="0">
                <a:solidFill>
                  <a:srgbClr val="1F3F73"/>
                </a:solidFill>
                <a:latin typeface="Malgun Gothic"/>
                <a:ea typeface="Malgun Gothic"/>
                <a:cs typeface="Malgun Gothic"/>
              </a:rPr>
              <a:t>F-02 목록·자동 재생</a:t>
            </a:r>
          </a:p>
          <a:p>
            <a:pPr algn="l"/>
            <a:r>
              <a:rPr sz="700" b="0">
                <a:solidFill>
                  <a:srgbClr val="1F3F73"/>
                </a:solidFill>
                <a:latin typeface="Malgun Gothic"/>
                <a:ea typeface="Malgun Gothic"/>
                <a:cs typeface="Malgun Gothic"/>
              </a:rPr>
              <a:t>F-03 앞길 요약(돌발)</a:t>
            </a:r>
          </a:p>
          <a:p>
            <a:pPr algn="l"/>
            <a:r>
              <a:rPr sz="700" b="0">
                <a:solidFill>
                  <a:srgbClr val="1F3F73"/>
                </a:solidFill>
                <a:latin typeface="Malgun Gothic"/>
                <a:ea typeface="Malgun Gothic"/>
                <a:cs typeface="Malgun Gothic"/>
              </a:rPr>
              <a:t>F-01·08 통과시간·크게보기</a:t>
            </a:r>
          </a:p>
          <a:p>
            <a:pPr algn="l"/>
            <a:r>
              <a:rPr sz="700" b="0">
                <a:solidFill>
                  <a:srgbClr val="1F3F73"/>
                </a:solidFill>
                <a:latin typeface="Malgun Gothic"/>
                <a:ea typeface="Malgun Gothic"/>
                <a:cs typeface="Malgun Gothic"/>
              </a:rPr>
              <a:t>(FR-05~08 · FR-17~19)</a:t>
            </a:r>
          </a:p>
        </p:txBody>
      </p:sp>
      <p:sp>
        <p:nvSpPr>
          <p:cNvPr id="337" name="Shape 337"/>
          <p:cNvSpPr/>
          <p:nvPr/>
        </p:nvSpPr>
        <p:spPr>
          <a:xfrm>
            <a:off x="320039" y="4023360"/>
            <a:ext cx="8503920" cy="50292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9525">
            <a:solidFill>
              <a:srgbClr val="C9D3E0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338" name="Shape 338"/>
          <p:cNvSpPr/>
          <p:nvPr/>
        </p:nvSpPr>
        <p:spPr>
          <a:xfrm>
            <a:off x="320040" y="4023360"/>
            <a:ext cx="914400" cy="502920"/>
          </a:xfrm>
          <a:prstGeom prst="roundRect">
            <a:avLst>
              <a:gd name="adj" fmla="val 12000"/>
            </a:avLst>
          </a:prstGeom>
          <a:solidFill>
            <a:srgbClr val="2E7D4F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재생 정책</a:t>
            </a:r>
          </a:p>
        </p:txBody>
      </p:sp>
      <p:sp>
        <p:nvSpPr>
          <p:cNvPr id="339" name="TextBox 339"/>
          <p:cNvSpPr txBox="1"/>
          <p:nvPr/>
        </p:nvSpPr>
        <p:spPr>
          <a:xfrm>
            <a:off x="1399032" y="4078224"/>
            <a:ext cx="172821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한 번에 1개</a:t>
            </a:r>
          </a:p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나머지 CCTV는 대기</a:t>
            </a:r>
          </a:p>
        </p:txBody>
      </p:sp>
      <p:cxnSp>
        <p:nvCxnSpPr>
          <p:cNvPr id="340" name="Connector 340"/>
          <p:cNvCxnSpPr/>
          <p:nvPr/>
        </p:nvCxnSpPr>
        <p:spPr>
          <a:xfrm>
            <a:off x="3182112" y="4133088"/>
            <a:ext cx="0" cy="283464"/>
          </a:xfrm>
          <a:prstGeom prst="line">
            <a:avLst/>
          </a:prstGeom>
          <a:ln w="9525">
            <a:solidFill>
              <a:srgbClr val="C9D3E0"/>
            </a:solidFill>
            <a:prstDash val="dash"/>
          </a:ln>
        </p:spPr>
      </p:cxnSp>
      <p:sp>
        <p:nvSpPr>
          <p:cNvPr id="341" name="TextBox 341"/>
          <p:cNvSpPr txBox="1"/>
          <p:nvPr/>
        </p:nvSpPr>
        <p:spPr>
          <a:xfrm>
            <a:off x="3255264" y="4078224"/>
            <a:ext cx="172821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첫 영상 5초</a:t>
            </a:r>
          </a:p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앱 실행 → 첫 영상 목표</a:t>
            </a:r>
          </a:p>
        </p:txBody>
      </p:sp>
      <p:cxnSp>
        <p:nvCxnSpPr>
          <p:cNvPr id="342" name="Connector 342"/>
          <p:cNvCxnSpPr/>
          <p:nvPr/>
        </p:nvCxnSpPr>
        <p:spPr>
          <a:xfrm>
            <a:off x="5038344" y="4133088"/>
            <a:ext cx="0" cy="283464"/>
          </a:xfrm>
          <a:prstGeom prst="line">
            <a:avLst/>
          </a:prstGeom>
          <a:ln w="9525">
            <a:solidFill>
              <a:srgbClr val="C9D3E0"/>
            </a:solidFill>
            <a:prstDash val="dash"/>
          </a:ln>
        </p:spPr>
      </p:cxnSp>
      <p:sp>
        <p:nvSpPr>
          <p:cNvPr id="343" name="TextBox 343"/>
          <p:cNvSpPr txBox="1"/>
          <p:nvPr/>
        </p:nvSpPr>
        <p:spPr>
          <a:xfrm>
            <a:off x="5111496" y="4078224"/>
            <a:ext cx="172821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데이터 안내</a:t>
            </a:r>
          </a:p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첫 재생 때 한 번 알림</a:t>
            </a:r>
          </a:p>
        </p:txBody>
      </p:sp>
      <p:cxnSp>
        <p:nvCxnSpPr>
          <p:cNvPr id="344" name="Connector 344"/>
          <p:cNvCxnSpPr/>
          <p:nvPr/>
        </p:nvCxnSpPr>
        <p:spPr>
          <a:xfrm>
            <a:off x="6894576" y="4133088"/>
            <a:ext cx="0" cy="283464"/>
          </a:xfrm>
          <a:prstGeom prst="line">
            <a:avLst/>
          </a:prstGeom>
          <a:ln w="9525">
            <a:solidFill>
              <a:srgbClr val="C9D3E0"/>
            </a:solidFill>
            <a:prstDash val="dash"/>
          </a:ln>
        </p:spPr>
      </p:cxnSp>
      <p:sp>
        <p:nvSpPr>
          <p:cNvPr id="345" name="TextBox 345"/>
          <p:cNvSpPr txBox="1"/>
          <p:nvPr/>
        </p:nvSpPr>
        <p:spPr>
          <a:xfrm>
            <a:off x="6967728" y="4078224"/>
            <a:ext cx="172821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녹화·저장 안 함</a:t>
            </a:r>
          </a:p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실시간으로만 보기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/>
          <p:nvPr/>
        </p:nvSpPr>
        <p:spPr>
          <a:xfrm>
            <a:off x="251520" y="5853"/>
            <a:ext cx="4320480" cy="252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05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algun Gothic"/>
              <a:buNone/>
            </a:pPr>
            <a:r>
              <a:rPr lang="en-US" sz="17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흐름도(서버 프록시·캐시)</a:t>
            </a:r>
            <a:endParaRPr sz="1700" b="1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" name="Google Shape;77;p2"/>
          <p:cNvSpPr txBox="1"/>
          <p:nvPr/>
        </p:nvSpPr>
        <p:spPr>
          <a:xfrm>
            <a:off x="6336198" y="51472"/>
            <a:ext cx="2556284" cy="288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45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졸업하자</a:t>
            </a:r>
            <a:endParaRPr sz="17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" name="Terminator 79"/>
          <p:cNvSpPr/>
          <p:nvPr/>
        </p:nvSpPr>
        <p:spPr>
          <a:xfrm>
            <a:off x="4617720" y="562356"/>
            <a:ext cx="237744" cy="155448"/>
          </a:xfrm>
          <a:prstGeom prst="flowChartTerminator">
            <a:avLst/>
          </a:prstGeom>
          <a:solidFill>
            <a:srgbClr val="D9D9D9"/>
          </a:solidFill>
          <a:ln w="9525">
            <a:solidFill>
              <a:srgbClr val="7F7F7F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892040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시작/끝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221224" y="562356"/>
            <a:ext cx="237744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495544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처리</a:t>
            </a:r>
          </a:p>
        </p:txBody>
      </p:sp>
      <p:sp>
        <p:nvSpPr>
          <p:cNvPr id="84" name="Decision 83"/>
          <p:cNvSpPr/>
          <p:nvPr/>
        </p:nvSpPr>
        <p:spPr>
          <a:xfrm>
            <a:off x="5824728" y="562356"/>
            <a:ext cx="237744" cy="155448"/>
          </a:xfrm>
          <a:prstGeom prst="flowChartDecision">
            <a:avLst/>
          </a:prstGeom>
          <a:solidFill>
            <a:srgbClr val="FFF4D6"/>
          </a:solidFill>
          <a:ln w="9525">
            <a:solidFill>
              <a:srgbClr val="E08A00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099048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86" name="Data 85"/>
          <p:cNvSpPr/>
          <p:nvPr/>
        </p:nvSpPr>
        <p:spPr>
          <a:xfrm>
            <a:off x="6428231" y="562356"/>
            <a:ext cx="237744" cy="155448"/>
          </a:xfrm>
          <a:prstGeom prst="flowChartInputOutput">
            <a:avLst/>
          </a:prstGeom>
          <a:solidFill>
            <a:srgbClr val="E4F3F4"/>
          </a:solidFill>
          <a:ln w="9525">
            <a:solidFill>
              <a:srgbClr val="0E7C86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702551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88" name="Document 87"/>
          <p:cNvSpPr/>
          <p:nvPr/>
        </p:nvSpPr>
        <p:spPr>
          <a:xfrm>
            <a:off x="7031736" y="562356"/>
            <a:ext cx="237744" cy="155448"/>
          </a:xfrm>
          <a:prstGeom prst="flowChartDocument">
            <a:avLst/>
          </a:prstGeom>
          <a:solidFill>
            <a:srgbClr val="EAF0F8"/>
          </a:solidFill>
          <a:ln w="9525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306055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화면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635240" y="562356"/>
            <a:ext cx="237744" cy="155448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909560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예외</a:t>
            </a:r>
          </a:p>
        </p:txBody>
      </p:sp>
      <p:sp>
        <p:nvSpPr>
          <p:cNvPr id="92" name="Magnetic Disk 91"/>
          <p:cNvSpPr/>
          <p:nvPr/>
        </p:nvSpPr>
        <p:spPr>
          <a:xfrm>
            <a:off x="8238744" y="562356"/>
            <a:ext cx="237744" cy="155448"/>
          </a:xfrm>
          <a:prstGeom prst="flowChartMagneticDisk">
            <a:avLst/>
          </a:prstGeom>
          <a:solidFill>
            <a:srgbClr val="DDE7F3"/>
          </a:solidFill>
          <a:ln w="9525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513064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데이터</a:t>
            </a:r>
          </a:p>
        </p:txBody>
      </p:sp>
      <p:sp>
        <p:nvSpPr>
          <p:cNvPr id="301" name="TextBox 301"/>
          <p:cNvSpPr txBox="1"/>
          <p:nvPr/>
        </p:nvSpPr>
        <p:spPr>
          <a:xfrm>
            <a:off x="320040" y="457200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F3F73"/>
                </a:solidFill>
                <a:latin typeface="Malgun Gothic"/>
                <a:ea typeface="Malgun Gothic"/>
                <a:cs typeface="Malgun Gothic"/>
              </a:rPr>
              <a:t>앱 ↔ 우리 서버(프록시) ↔ ITS · UTIC</a:t>
            </a:r>
          </a:p>
        </p:txBody>
      </p:sp>
      <p:sp>
        <p:nvSpPr>
          <p:cNvPr id="302" name="TextBox 302"/>
          <p:cNvSpPr txBox="1"/>
          <p:nvPr/>
        </p:nvSpPr>
        <p:spPr>
          <a:xfrm>
            <a:off x="320040" y="713232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□ API 키는 서버에만 두고, 받은 데이터는 캐시해 다시 써서 ITS 호출 한도를 지킴</a:t>
            </a:r>
          </a:p>
        </p:txBody>
      </p:sp>
      <p:sp>
        <p:nvSpPr>
          <p:cNvPr id="303" name="Shape 303"/>
          <p:cNvSpPr/>
          <p:nvPr/>
        </p:nvSpPr>
        <p:spPr>
          <a:xfrm>
            <a:off x="320039" y="960120"/>
            <a:ext cx="8503920" cy="1005839"/>
          </a:xfrm>
          <a:prstGeom prst="rect">
            <a:avLst/>
          </a:prstGeom>
          <a:solidFill>
            <a:srgbClr val="F7F9FC"/>
          </a:solidFill>
          <a:ln w="9525">
            <a:solidFill>
              <a:srgbClr val="D5DCE6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304" name="Shape 304"/>
          <p:cNvSpPr/>
          <p:nvPr/>
        </p:nvSpPr>
        <p:spPr>
          <a:xfrm>
            <a:off x="320040" y="960120"/>
            <a:ext cx="822960" cy="1005839"/>
          </a:xfrm>
          <a:prstGeom prst="rect">
            <a:avLst/>
          </a:prstGeom>
          <a:solidFill>
            <a:srgbClr val="1F3F73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앱</a:t>
            </a:r>
          </a:p>
          <a:p>
            <a:pPr algn="ctr"/>
            <a:r>
              <a: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(휴대폰)</a:t>
            </a:r>
          </a:p>
        </p:txBody>
      </p:sp>
      <p:sp>
        <p:nvSpPr>
          <p:cNvPr id="305" name="Shape 305"/>
          <p:cNvSpPr/>
          <p:nvPr/>
        </p:nvSpPr>
        <p:spPr>
          <a:xfrm>
            <a:off x="320039" y="2011680"/>
            <a:ext cx="8503920" cy="1600200"/>
          </a:xfrm>
          <a:prstGeom prst="rect">
            <a:avLst/>
          </a:prstGeom>
          <a:solidFill>
            <a:srgbClr val="F7F9FC"/>
          </a:solidFill>
          <a:ln w="9525">
            <a:solidFill>
              <a:srgbClr val="D5DCE6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306" name="Shape 306"/>
          <p:cNvSpPr/>
          <p:nvPr/>
        </p:nvSpPr>
        <p:spPr>
          <a:xfrm>
            <a:off x="320040" y="2011680"/>
            <a:ext cx="822960" cy="16002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우리 서버</a:t>
            </a:r>
          </a:p>
          <a:p>
            <a:pPr algn="ctr"/>
            <a:r>
              <a: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(프록시)</a:t>
            </a:r>
          </a:p>
          <a:p>
            <a:pPr algn="ctr"/>
            <a:r>
              <a: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 algn="ctr"/>
            <a:r>
              <a: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지금: 내 PC</a:t>
            </a:r>
          </a:p>
          <a:p>
            <a:pPr algn="ctr"/>
            <a:r>
              <a: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→ 9~10주</a:t>
            </a:r>
          </a:p>
          <a:p>
            <a:pPr algn="ctr"/>
            <a:r>
              <a: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국내 IP 서버</a:t>
            </a:r>
          </a:p>
        </p:txBody>
      </p:sp>
      <p:sp>
        <p:nvSpPr>
          <p:cNvPr id="307" name="Shape 307"/>
          <p:cNvSpPr/>
          <p:nvPr/>
        </p:nvSpPr>
        <p:spPr>
          <a:xfrm>
            <a:off x="320039" y="3657600"/>
            <a:ext cx="8503920" cy="566928"/>
          </a:xfrm>
          <a:prstGeom prst="rect">
            <a:avLst/>
          </a:prstGeom>
          <a:solidFill>
            <a:srgbClr val="F7F9FC"/>
          </a:solidFill>
          <a:ln w="9525">
            <a:solidFill>
              <a:srgbClr val="D5DCE6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308" name="Shape 308"/>
          <p:cNvSpPr/>
          <p:nvPr/>
        </p:nvSpPr>
        <p:spPr>
          <a:xfrm>
            <a:off x="320040" y="3657600"/>
            <a:ext cx="822960" cy="566928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외부 데이터</a:t>
            </a:r>
          </a:p>
          <a:p>
            <a:pPr algn="ctr"/>
            <a:r>
              <a: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ITS · UTIC</a:t>
            </a:r>
          </a:p>
        </p:txBody>
      </p:sp>
      <p:sp>
        <p:nvSpPr>
          <p:cNvPr id="309" name="proc 309"/>
          <p:cNvSpPr/>
          <p:nvPr/>
        </p:nvSpPr>
        <p:spPr>
          <a:xfrm>
            <a:off x="1234440" y="123444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CCTV·돌발 조회 요청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지금 위치 주변</a:t>
            </a:r>
          </a:p>
        </p:txBody>
      </p:sp>
      <p:sp>
        <p:nvSpPr>
          <p:cNvPr id="310" name="proc 310"/>
          <p:cNvSpPr/>
          <p:nvPr/>
        </p:nvSpPr>
        <p:spPr>
          <a:xfrm>
            <a:off x="6428231" y="1207008"/>
            <a:ext cx="10972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목록 수신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내 앞 선별 (앱 안)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지도·앞길 요약</a:t>
            </a:r>
          </a:p>
        </p:txBody>
      </p:sp>
      <p:sp>
        <p:nvSpPr>
          <p:cNvPr id="311" name="proc 311"/>
          <p:cNvSpPr/>
          <p:nvPr/>
        </p:nvSpPr>
        <p:spPr>
          <a:xfrm>
            <a:off x="7726679" y="123444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1순위 영상 재생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hls.js</a:t>
            </a:r>
          </a:p>
        </p:txBody>
      </p:sp>
      <p:cxnSp>
        <p:nvCxnSpPr>
          <p:cNvPr id="312" name="Connector 312"/>
          <p:cNvCxnSpPr/>
          <p:nvPr/>
        </p:nvCxnSpPr>
        <p:spPr>
          <a:xfrm>
            <a:off x="7525511" y="1463040"/>
            <a:ext cx="201168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sp>
        <p:nvSpPr>
          <p:cNvPr id="313" name="dec 313"/>
          <p:cNvSpPr/>
          <p:nvPr/>
        </p:nvSpPr>
        <p:spPr>
          <a:xfrm>
            <a:off x="2532888" y="2212848"/>
            <a:ext cx="1097280" cy="548640"/>
          </a:xfrm>
          <a:prstGeom prst="flowChartDecision">
            <a:avLst/>
          </a:prstGeom>
          <a:solidFill>
            <a:srgbClr val="FFF4D6"/>
          </a:solidFill>
          <a:ln w="12700">
            <a:solidFill>
              <a:srgbClr val="E08A00"/>
            </a:solidFill>
          </a:ln>
        </p:spPr>
        <p:txBody>
          <a:bodyPr wrap="none" lIns="36576" tIns="9144" rIns="36576" bIns="9144" rtlCol="0" anchor="ctr"/>
          <a:lstStyle/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캐시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유효?</a:t>
            </a:r>
          </a:p>
        </p:txBody>
      </p:sp>
      <p:cxnSp>
        <p:nvCxnSpPr>
          <p:cNvPr id="314" name="Connector 314"/>
          <p:cNvCxnSpPr/>
          <p:nvPr/>
        </p:nvCxnSpPr>
        <p:spPr>
          <a:xfrm>
            <a:off x="1783080" y="1691640"/>
            <a:ext cx="0" cy="795528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cxnSp>
        <p:nvCxnSpPr>
          <p:cNvPr id="315" name="Connector 315"/>
          <p:cNvCxnSpPr/>
          <p:nvPr/>
        </p:nvCxnSpPr>
        <p:spPr>
          <a:xfrm>
            <a:off x="1783080" y="2487168"/>
            <a:ext cx="749808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sp>
        <p:nvSpPr>
          <p:cNvPr id="316" name="exc 316"/>
          <p:cNvSpPr/>
          <p:nvPr/>
        </p:nvSpPr>
        <p:spPr>
          <a:xfrm>
            <a:off x="3785615" y="2258568"/>
            <a:ext cx="1188720" cy="45720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E6. 직전 데이터 반환</a:t>
            </a:r>
          </a:p>
          <a:p>
            <a:pPr algn="ctr"/>
            <a:r>
              <a:rPr sz="750" b="0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+ ‘오래됨’ 표시</a:t>
            </a:r>
          </a:p>
        </p:txBody>
      </p:sp>
      <p:sp>
        <p:nvSpPr>
          <p:cNvPr id="317" name="proc 317"/>
          <p:cNvSpPr/>
          <p:nvPr/>
        </p:nvSpPr>
        <p:spPr>
          <a:xfrm>
            <a:off x="5129783" y="2258568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응답 반환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(API 키 미포함)</a:t>
            </a:r>
          </a:p>
        </p:txBody>
      </p:sp>
      <p:cxnSp>
        <p:nvCxnSpPr>
          <p:cNvPr id="318" name="Connector 318"/>
          <p:cNvCxnSpPr/>
          <p:nvPr/>
        </p:nvCxnSpPr>
        <p:spPr>
          <a:xfrm flipV="1">
            <a:off x="3081528" y="2103120"/>
            <a:ext cx="0" cy="109728"/>
          </a:xfrm>
          <a:prstGeom prst="line">
            <a:avLst/>
          </a:prstGeom>
          <a:ln w="12700">
            <a:solidFill>
              <a:srgbClr val="0E7C86"/>
            </a:solidFill>
          </a:ln>
        </p:spPr>
      </p:cxnSp>
      <p:cxnSp>
        <p:nvCxnSpPr>
          <p:cNvPr id="319" name="Connector 319"/>
          <p:cNvCxnSpPr/>
          <p:nvPr/>
        </p:nvCxnSpPr>
        <p:spPr>
          <a:xfrm>
            <a:off x="3081528" y="2103120"/>
            <a:ext cx="2596895" cy="0"/>
          </a:xfrm>
          <a:prstGeom prst="line">
            <a:avLst/>
          </a:prstGeom>
          <a:ln w="12700">
            <a:solidFill>
              <a:srgbClr val="0E7C86"/>
            </a:solidFill>
          </a:ln>
        </p:spPr>
      </p:cxnSp>
      <p:cxnSp>
        <p:nvCxnSpPr>
          <p:cNvPr id="320" name="Connector 320"/>
          <p:cNvCxnSpPr/>
          <p:nvPr/>
        </p:nvCxnSpPr>
        <p:spPr>
          <a:xfrm>
            <a:off x="5678423" y="2103120"/>
            <a:ext cx="0" cy="155448"/>
          </a:xfrm>
          <a:prstGeom prst="line">
            <a:avLst/>
          </a:prstGeom>
          <a:ln w="12700">
            <a:solidFill>
              <a:srgbClr val="0E7C86"/>
            </a:solidFill>
            <a:tailEnd type="triangle"/>
          </a:ln>
        </p:spPr>
      </p:cxnSp>
      <p:sp>
        <p:nvSpPr>
          <p:cNvPr id="321" name="TextBox 321"/>
          <p:cNvSpPr txBox="1"/>
          <p:nvPr/>
        </p:nvSpPr>
        <p:spPr>
          <a:xfrm>
            <a:off x="3172968" y="2130552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Y (캐시 적중)</a:t>
            </a:r>
          </a:p>
        </p:txBody>
      </p:sp>
      <p:cxnSp>
        <p:nvCxnSpPr>
          <p:cNvPr id="322" name="Connector 322"/>
          <p:cNvCxnSpPr/>
          <p:nvPr/>
        </p:nvCxnSpPr>
        <p:spPr>
          <a:xfrm>
            <a:off x="4974335" y="2487168"/>
            <a:ext cx="155448" cy="0"/>
          </a:xfrm>
          <a:prstGeom prst="line">
            <a:avLst/>
          </a:prstGeom>
          <a:ln w="12700">
            <a:solidFill>
              <a:srgbClr val="C0392B"/>
            </a:solidFill>
            <a:tailEnd type="triangle"/>
          </a:ln>
        </p:spPr>
      </p:cxnSp>
      <p:cxnSp>
        <p:nvCxnSpPr>
          <p:cNvPr id="323" name="Connector 323"/>
          <p:cNvCxnSpPr/>
          <p:nvPr/>
        </p:nvCxnSpPr>
        <p:spPr>
          <a:xfrm>
            <a:off x="6227063" y="2487168"/>
            <a:ext cx="749808" cy="0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cxnSp>
        <p:nvCxnSpPr>
          <p:cNvPr id="324" name="Connector 324"/>
          <p:cNvCxnSpPr/>
          <p:nvPr/>
        </p:nvCxnSpPr>
        <p:spPr>
          <a:xfrm flipV="1">
            <a:off x="6976871" y="1719072"/>
            <a:ext cx="0" cy="768096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sp>
        <p:nvSpPr>
          <p:cNvPr id="325" name="proc 325"/>
          <p:cNvSpPr/>
          <p:nvPr/>
        </p:nvSpPr>
        <p:spPr>
          <a:xfrm>
            <a:off x="2532888" y="292608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ITS·UTIC 호출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월 한도 안에서만</a:t>
            </a:r>
          </a:p>
        </p:txBody>
      </p:sp>
      <p:cxnSp>
        <p:nvCxnSpPr>
          <p:cNvPr id="326" name="Connector 326"/>
          <p:cNvCxnSpPr/>
          <p:nvPr/>
        </p:nvCxnSpPr>
        <p:spPr>
          <a:xfrm>
            <a:off x="3081528" y="2761488"/>
            <a:ext cx="0" cy="164592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sp>
        <p:nvSpPr>
          <p:cNvPr id="327" name="TextBox 327"/>
          <p:cNvSpPr txBox="1"/>
          <p:nvPr/>
        </p:nvSpPr>
        <p:spPr>
          <a:xfrm>
            <a:off x="3136392" y="2779776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N</a:t>
            </a:r>
          </a:p>
        </p:txBody>
      </p:sp>
      <p:sp>
        <p:nvSpPr>
          <p:cNvPr id="328" name="dec 328"/>
          <p:cNvSpPr/>
          <p:nvPr/>
        </p:nvSpPr>
        <p:spPr>
          <a:xfrm>
            <a:off x="3831335" y="2880360"/>
            <a:ext cx="1097280" cy="548640"/>
          </a:xfrm>
          <a:prstGeom prst="flowChartDecision">
            <a:avLst/>
          </a:prstGeom>
          <a:solidFill>
            <a:srgbClr val="FFF4D6"/>
          </a:solidFill>
          <a:ln w="12700">
            <a:solidFill>
              <a:srgbClr val="E08A00"/>
            </a:solidFill>
          </a:ln>
        </p:spPr>
        <p:txBody>
          <a:bodyPr wrap="none" lIns="36576" tIns="9144" rIns="36576" bIns="9144" rtlCol="0" anchor="ctr"/>
          <a:lstStyle/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응답 정상?</a:t>
            </a:r>
          </a:p>
        </p:txBody>
      </p:sp>
      <p:cxnSp>
        <p:nvCxnSpPr>
          <p:cNvPr id="329" name="Connector 329"/>
          <p:cNvCxnSpPr/>
          <p:nvPr/>
        </p:nvCxnSpPr>
        <p:spPr>
          <a:xfrm>
            <a:off x="3630168" y="3154680"/>
            <a:ext cx="201167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30" name="Connector 330"/>
          <p:cNvCxnSpPr/>
          <p:nvPr/>
        </p:nvCxnSpPr>
        <p:spPr>
          <a:xfrm flipV="1">
            <a:off x="4379975" y="2715768"/>
            <a:ext cx="0" cy="164592"/>
          </a:xfrm>
          <a:prstGeom prst="line">
            <a:avLst/>
          </a:prstGeom>
          <a:ln w="12700">
            <a:solidFill>
              <a:srgbClr val="C0392B"/>
            </a:solidFill>
            <a:tailEnd type="triangle"/>
          </a:ln>
        </p:spPr>
      </p:cxnSp>
      <p:sp>
        <p:nvSpPr>
          <p:cNvPr id="331" name="TextBox 331"/>
          <p:cNvSpPr txBox="1"/>
          <p:nvPr/>
        </p:nvSpPr>
        <p:spPr>
          <a:xfrm>
            <a:off x="4434839" y="2724912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N</a:t>
            </a:r>
          </a:p>
        </p:txBody>
      </p:sp>
      <p:sp>
        <p:nvSpPr>
          <p:cNvPr id="332" name="proc 332"/>
          <p:cNvSpPr/>
          <p:nvPr/>
        </p:nvSpPr>
        <p:spPr>
          <a:xfrm>
            <a:off x="5129783" y="292608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캐시 저장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CCTV 100분·돌발 60초</a:t>
            </a:r>
          </a:p>
        </p:txBody>
      </p:sp>
      <p:cxnSp>
        <p:nvCxnSpPr>
          <p:cNvPr id="333" name="Connector 333"/>
          <p:cNvCxnSpPr/>
          <p:nvPr/>
        </p:nvCxnSpPr>
        <p:spPr>
          <a:xfrm>
            <a:off x="4928615" y="3154680"/>
            <a:ext cx="201168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sp>
        <p:nvSpPr>
          <p:cNvPr id="334" name="TextBox 334"/>
          <p:cNvSpPr txBox="1"/>
          <p:nvPr/>
        </p:nvSpPr>
        <p:spPr>
          <a:xfrm>
            <a:off x="4956047" y="2999232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Y</a:t>
            </a:r>
          </a:p>
        </p:txBody>
      </p:sp>
      <p:cxnSp>
        <p:nvCxnSpPr>
          <p:cNvPr id="335" name="Connector 335"/>
          <p:cNvCxnSpPr/>
          <p:nvPr/>
        </p:nvCxnSpPr>
        <p:spPr>
          <a:xfrm flipV="1">
            <a:off x="5678423" y="2715768"/>
            <a:ext cx="0" cy="210312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sp>
        <p:nvSpPr>
          <p:cNvPr id="336" name="proc 336"/>
          <p:cNvSpPr/>
          <p:nvPr/>
        </p:nvSpPr>
        <p:spPr>
          <a:xfrm>
            <a:off x="7726679" y="292608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UTIC 영상 주소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재생할 때 1대만 조회</a:t>
            </a:r>
          </a:p>
        </p:txBody>
      </p:sp>
      <p:sp>
        <p:nvSpPr>
          <p:cNvPr id="337" name="disk 337"/>
          <p:cNvSpPr/>
          <p:nvPr/>
        </p:nvSpPr>
        <p:spPr>
          <a:xfrm>
            <a:off x="2304288" y="3712463"/>
            <a:ext cx="1554480" cy="457200"/>
          </a:xfrm>
          <a:prstGeom prst="flowChartMagneticDisk">
            <a:avLst/>
          </a:prstGeom>
          <a:solidFill>
            <a:srgbClr val="DDE7F3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ITS · UTIC Open API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CCTV 목록·영상·돌발상황</a:t>
            </a:r>
          </a:p>
        </p:txBody>
      </p:sp>
      <p:cxnSp>
        <p:nvCxnSpPr>
          <p:cNvPr id="338" name="Connector 338"/>
          <p:cNvCxnSpPr/>
          <p:nvPr/>
        </p:nvCxnSpPr>
        <p:spPr>
          <a:xfrm>
            <a:off x="3081528" y="3383280"/>
            <a:ext cx="0" cy="329183"/>
          </a:xfrm>
          <a:prstGeom prst="line">
            <a:avLst/>
          </a:prstGeom>
          <a:ln w="12700">
            <a:solidFill>
              <a:srgbClr val="1F3F73"/>
            </a:solidFill>
            <a:prstDash val="dash"/>
            <a:headEnd type="triangle"/>
            <a:tailEnd type="triangle"/>
          </a:ln>
        </p:spPr>
      </p:cxnSp>
      <p:cxnSp>
        <p:nvCxnSpPr>
          <p:cNvPr id="339" name="Connector 339"/>
          <p:cNvCxnSpPr/>
          <p:nvPr/>
        </p:nvCxnSpPr>
        <p:spPr>
          <a:xfrm>
            <a:off x="3858768" y="3941063"/>
            <a:ext cx="4416551" cy="0"/>
          </a:xfrm>
          <a:prstGeom prst="line">
            <a:avLst/>
          </a:prstGeom>
          <a:ln w="12700">
            <a:solidFill>
              <a:srgbClr val="1F3F73"/>
            </a:solidFill>
            <a:prstDash val="dash"/>
          </a:ln>
        </p:spPr>
      </p:cxnSp>
      <p:cxnSp>
        <p:nvCxnSpPr>
          <p:cNvPr id="340" name="Connector 340"/>
          <p:cNvCxnSpPr/>
          <p:nvPr/>
        </p:nvCxnSpPr>
        <p:spPr>
          <a:xfrm flipV="1">
            <a:off x="8275319" y="3383280"/>
            <a:ext cx="0" cy="557783"/>
          </a:xfrm>
          <a:prstGeom prst="line">
            <a:avLst/>
          </a:prstGeom>
          <a:ln w="12700">
            <a:solidFill>
              <a:srgbClr val="1F3F73"/>
            </a:solidFill>
            <a:prstDash val="dash"/>
            <a:tailEnd type="triangle"/>
          </a:ln>
        </p:spPr>
      </p:cxnSp>
      <p:cxnSp>
        <p:nvCxnSpPr>
          <p:cNvPr id="341" name="Connector 341"/>
          <p:cNvCxnSpPr/>
          <p:nvPr/>
        </p:nvCxnSpPr>
        <p:spPr>
          <a:xfrm flipV="1">
            <a:off x="8275319" y="1691640"/>
            <a:ext cx="0" cy="1234440"/>
          </a:xfrm>
          <a:prstGeom prst="line">
            <a:avLst/>
          </a:prstGeom>
          <a:ln w="12700">
            <a:solidFill>
              <a:srgbClr val="1F3F73"/>
            </a:solidFill>
            <a:prstDash val="dash"/>
            <a:tailEnd type="triangle"/>
          </a:ln>
        </p:spPr>
      </p:cxnSp>
      <p:sp>
        <p:nvSpPr>
          <p:cNvPr id="342" name="TextBox 342"/>
          <p:cNvSpPr txBox="1"/>
          <p:nvPr/>
        </p:nvSpPr>
        <p:spPr>
          <a:xfrm>
            <a:off x="4300000" y="3760000"/>
            <a:ext cx="38000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3F73"/>
                </a:solidFill>
                <a:latin typeface="Malgun Gothic"/>
                <a:ea typeface="Malgun Gothic"/>
                <a:cs typeface="Malgun Gothic"/>
              </a:rPr>
              <a:t>HLS 영상 스트림 (앱에서 직접 재생 · UTIC는 주소만 서버에서 조회)</a:t>
            </a:r>
          </a:p>
        </p:txBody>
      </p:sp>
      <p:sp>
        <p:nvSpPr>
          <p:cNvPr id="343" name="TextBox 343"/>
          <p:cNvSpPr txBox="1"/>
          <p:nvPr/>
        </p:nvSpPr>
        <p:spPr>
          <a:xfrm>
            <a:off x="320040" y="4315968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※ 앱에 API 키 없음 · 캐시 적중 시 ITS 호출 없음(무료 한도 월 1,000건) · 카카오 장소·길찾기도 같은 서버 경유 · 출처 ‘국가교통정보센터(ITS)’·‘경찰청 도시교통정보센터(UTIC)’ 표기 · E6</a:t>
            </a:r>
          </a:p>
        </p:txBody>
      </p:sp>
      <p:sp>
        <p:nvSpPr>
          <p:cNvPr id="344" name="TextBox 344"/>
          <p:cNvSpPr txBox="1"/>
          <p:nvPr/>
        </p:nvSpPr>
        <p:spPr>
          <a:xfrm>
            <a:off x="320040" y="4480560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※ ITS가 구글 클라우드(Firebase) IP를 막아 지금은 내 PC에서 프록시 실행 → 9~10주 국내 IP 서버로 이전, 로그인·DB는 Firebase 유지 · UTIC는 등록한 학교·사무실 IP에서만 받음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6" name="Google Shape;76;p2"/>
          <p:cNvSpPr txBox="1"/>
          <p:nvPr/>
        </p:nvSpPr>
        <p:spPr>
          <a:xfrm>
            <a:off x="251520" y="5853"/>
            <a:ext cx="4320480" cy="252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05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algun Gothic"/>
              <a:buNone/>
            </a:pPr>
            <a:r>
              <a:rPr lang="en-US" sz="17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흐름도(목적지 경로 비교)</a:t>
            </a:r>
            <a:endParaRPr sz="1700" b="1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" name="Google Shape;77;p2"/>
          <p:cNvSpPr txBox="1"/>
          <p:nvPr/>
        </p:nvSpPr>
        <p:spPr>
          <a:xfrm>
            <a:off x="6336198" y="51472"/>
            <a:ext cx="2556284" cy="288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45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졸업하자</a:t>
            </a:r>
            <a:endParaRPr sz="17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" name="Terminator 79"/>
          <p:cNvSpPr/>
          <p:nvPr/>
        </p:nvSpPr>
        <p:spPr>
          <a:xfrm>
            <a:off x="4617720" y="562356"/>
            <a:ext cx="237744" cy="155448"/>
          </a:xfrm>
          <a:prstGeom prst="flowChartTerminator">
            <a:avLst/>
          </a:prstGeom>
          <a:solidFill>
            <a:srgbClr val="D9D9D9"/>
          </a:solidFill>
          <a:ln w="9525">
            <a:solidFill>
              <a:srgbClr val="7F7F7F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892040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시작/끝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221224" y="562356"/>
            <a:ext cx="237744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495544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처리</a:t>
            </a:r>
          </a:p>
        </p:txBody>
      </p:sp>
      <p:sp>
        <p:nvSpPr>
          <p:cNvPr id="84" name="Decision 83"/>
          <p:cNvSpPr/>
          <p:nvPr/>
        </p:nvSpPr>
        <p:spPr>
          <a:xfrm>
            <a:off x="5824728" y="562356"/>
            <a:ext cx="237744" cy="155448"/>
          </a:xfrm>
          <a:prstGeom prst="flowChartDecision">
            <a:avLst/>
          </a:prstGeom>
          <a:solidFill>
            <a:srgbClr val="FFF4D6"/>
          </a:solidFill>
          <a:ln w="9525">
            <a:solidFill>
              <a:srgbClr val="E08A00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099048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86" name="Data 85"/>
          <p:cNvSpPr/>
          <p:nvPr/>
        </p:nvSpPr>
        <p:spPr>
          <a:xfrm>
            <a:off x="6428231" y="562356"/>
            <a:ext cx="237744" cy="155448"/>
          </a:xfrm>
          <a:prstGeom prst="flowChartInputOutput">
            <a:avLst/>
          </a:prstGeom>
          <a:solidFill>
            <a:srgbClr val="E4F3F4"/>
          </a:solidFill>
          <a:ln w="9525">
            <a:solidFill>
              <a:srgbClr val="0E7C86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702551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88" name="Document 87"/>
          <p:cNvSpPr/>
          <p:nvPr/>
        </p:nvSpPr>
        <p:spPr>
          <a:xfrm>
            <a:off x="7031736" y="562356"/>
            <a:ext cx="237744" cy="155448"/>
          </a:xfrm>
          <a:prstGeom prst="flowChartDocument">
            <a:avLst/>
          </a:prstGeom>
          <a:solidFill>
            <a:srgbClr val="EAF0F8"/>
          </a:solidFill>
          <a:ln w="9525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306055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화면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635240" y="562356"/>
            <a:ext cx="237744" cy="155448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909560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예외</a:t>
            </a:r>
          </a:p>
        </p:txBody>
      </p:sp>
      <p:sp>
        <p:nvSpPr>
          <p:cNvPr id="92" name="Magnetic Disk 91"/>
          <p:cNvSpPr/>
          <p:nvPr/>
        </p:nvSpPr>
        <p:spPr>
          <a:xfrm>
            <a:off x="8238744" y="562356"/>
            <a:ext cx="237744" cy="155448"/>
          </a:xfrm>
          <a:prstGeom prst="flowChartMagneticDisk">
            <a:avLst/>
          </a:prstGeom>
          <a:solidFill>
            <a:srgbClr val="DDE7F3"/>
          </a:solidFill>
          <a:ln w="9525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513064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데이터</a:t>
            </a:r>
          </a:p>
        </p:txBody>
      </p:sp>
      <p:sp>
        <p:nvSpPr>
          <p:cNvPr id="301" name="TextBox 301"/>
          <p:cNvSpPr txBox="1"/>
          <p:nvPr/>
        </p:nvSpPr>
        <p:spPr>
          <a:xfrm>
            <a:off x="320040" y="457200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F3F73"/>
                </a:solidFill>
                <a:latin typeface="Malgun Gothic"/>
                <a:ea typeface="Malgun Gothic"/>
                <a:cs typeface="Malgun Gothic"/>
              </a:rPr>
              <a:t>목적지 입력 → 경로 비교 → 경로 위 CCTV</a:t>
            </a:r>
          </a:p>
        </p:txBody>
      </p:sp>
      <p:sp>
        <p:nvSpPr>
          <p:cNvPr id="302" name="TextBox 302"/>
          <p:cNvSpPr txBox="1"/>
          <p:nvPr/>
        </p:nvSpPr>
        <p:spPr>
          <a:xfrm>
            <a:off x="320040" y="713232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□ 목적지는 선택. 길 안내는 하지 않고, 고른 경로 위 CCTV와 막힌 구간만 보여 줌</a:t>
            </a:r>
          </a:p>
        </p:txBody>
      </p:sp>
      <p:sp>
        <p:nvSpPr>
          <p:cNvPr id="303" name="term 303"/>
          <p:cNvSpPr/>
          <p:nvPr/>
        </p:nvSpPr>
        <p:spPr>
          <a:xfrm>
            <a:off x="365760" y="1124712"/>
            <a:ext cx="1234440" cy="402336"/>
          </a:xfrm>
          <a:prstGeom prst="flowChartTerminator">
            <a:avLst/>
          </a:prstGeom>
          <a:solidFill>
            <a:srgbClr val="D9D9D9"/>
          </a:solidFill>
          <a:ln w="12700">
            <a:solidFill>
              <a:srgbClr val="7F7F7F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목적지 바 누르기</a:t>
            </a:r>
          </a:p>
        </p:txBody>
      </p:sp>
      <p:sp>
        <p:nvSpPr>
          <p:cNvPr id="304" name="data 304"/>
          <p:cNvSpPr/>
          <p:nvPr/>
        </p:nvSpPr>
        <p:spPr>
          <a:xfrm>
            <a:off x="1783080" y="1069848"/>
            <a:ext cx="1234440" cy="512064"/>
          </a:xfrm>
          <a:prstGeom prst="flowChartInputOutput">
            <a:avLst/>
          </a:prstGeom>
          <a:solidFill>
            <a:srgbClr val="E4F3F4"/>
          </a:solidFill>
          <a:ln w="12700">
            <a:solidFill>
              <a:srgbClr val="0E7C86"/>
            </a:solidFill>
          </a:ln>
        </p:spPr>
        <p:txBody>
          <a:bodyPr wrap="none" lIns="36576" tIns="9144" rIns="36576" bIns="9144" rtlCol="0" anchor="ctr"/>
          <a:lstStyle/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목적지 검색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집·회사·최근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장소 자동완성</a:t>
            </a:r>
          </a:p>
        </p:txBody>
      </p:sp>
      <p:sp>
        <p:nvSpPr>
          <p:cNvPr id="305" name="proc 305"/>
          <p:cNvSpPr/>
          <p:nvPr/>
        </p:nvSpPr>
        <p:spPr>
          <a:xfrm>
            <a:off x="3200400" y="1069848"/>
            <a:ext cx="1234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경로 3개 받기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추천·최단·무료도로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(카카오 길찾기)</a:t>
            </a:r>
          </a:p>
        </p:txBody>
      </p:sp>
      <p:sp>
        <p:nvSpPr>
          <p:cNvPr id="306" name="dec 306"/>
          <p:cNvSpPr/>
          <p:nvPr/>
        </p:nvSpPr>
        <p:spPr>
          <a:xfrm>
            <a:off x="4617720" y="1033272"/>
            <a:ext cx="1234440" cy="585216"/>
          </a:xfrm>
          <a:prstGeom prst="flowChartDecision">
            <a:avLst/>
          </a:prstGeom>
          <a:solidFill>
            <a:srgbClr val="FFF4D6"/>
          </a:solidFill>
          <a:ln w="12700">
            <a:solidFill>
              <a:srgbClr val="E08A00"/>
            </a:solidFill>
          </a:ln>
        </p:spPr>
        <p:txBody>
          <a:bodyPr wrap="none" lIns="36576" tIns="9144" rIns="36576" bIns="9144" rtlCol="0" anchor="ctr"/>
          <a:lstStyle/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경로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받았나?</a:t>
            </a:r>
          </a:p>
        </p:txBody>
      </p:sp>
      <p:sp>
        <p:nvSpPr>
          <p:cNvPr id="307" name="doc 307"/>
          <p:cNvSpPr/>
          <p:nvPr/>
        </p:nvSpPr>
        <p:spPr>
          <a:xfrm>
            <a:off x="6035040" y="1069848"/>
            <a:ext cx="1234440" cy="512064"/>
          </a:xfrm>
          <a:prstGeom prst="flowChartDocument">
            <a:avLst/>
          </a:prstGeom>
          <a:solidFill>
            <a:srgbClr val="EAF0F8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경로 비교 화면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경로별 CCTV 수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· 막힌 구간 수</a:t>
            </a:r>
          </a:p>
        </p:txBody>
      </p:sp>
      <p:sp>
        <p:nvSpPr>
          <p:cNvPr id="308" name="data 308"/>
          <p:cNvSpPr/>
          <p:nvPr/>
        </p:nvSpPr>
        <p:spPr>
          <a:xfrm>
            <a:off x="7452360" y="1069848"/>
            <a:ext cx="1234440" cy="512064"/>
          </a:xfrm>
          <a:prstGeom prst="flowChartInputOutput">
            <a:avLst/>
          </a:prstGeom>
          <a:solidFill>
            <a:srgbClr val="E4F3F4"/>
          </a:solidFill>
          <a:ln w="12700">
            <a:solidFill>
              <a:srgbClr val="0E7C86"/>
            </a:solidFill>
          </a:ln>
        </p:spPr>
        <p:txBody>
          <a:bodyPr wrap="none" lIns="36576" tIns="9144" rIns="36576" bIns="9144" rtlCol="0" anchor="ctr"/>
          <a:lstStyle/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경로 고르기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‘이 경로로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CCTV 보기’</a:t>
            </a:r>
          </a:p>
        </p:txBody>
      </p:sp>
      <p:cxnSp>
        <p:nvCxnSpPr>
          <p:cNvPr id="309" name="Connector 309"/>
          <p:cNvCxnSpPr/>
          <p:nvPr/>
        </p:nvCxnSpPr>
        <p:spPr>
          <a:xfrm>
            <a:off x="1600200" y="1325880"/>
            <a:ext cx="18288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10" name="Connector 310"/>
          <p:cNvCxnSpPr/>
          <p:nvPr/>
        </p:nvCxnSpPr>
        <p:spPr>
          <a:xfrm>
            <a:off x="3017520" y="1325880"/>
            <a:ext cx="18288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11" name="Connector 311"/>
          <p:cNvCxnSpPr/>
          <p:nvPr/>
        </p:nvCxnSpPr>
        <p:spPr>
          <a:xfrm>
            <a:off x="4434840" y="1325880"/>
            <a:ext cx="18288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12" name="Connector 312"/>
          <p:cNvCxnSpPr/>
          <p:nvPr/>
        </p:nvCxnSpPr>
        <p:spPr>
          <a:xfrm>
            <a:off x="5852160" y="1325880"/>
            <a:ext cx="18288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13" name="Connector 313"/>
          <p:cNvCxnSpPr/>
          <p:nvPr/>
        </p:nvCxnSpPr>
        <p:spPr>
          <a:xfrm>
            <a:off x="7269480" y="1325880"/>
            <a:ext cx="18288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sp>
        <p:nvSpPr>
          <p:cNvPr id="314" name="TextBox 314"/>
          <p:cNvSpPr txBox="1"/>
          <p:nvPr/>
        </p:nvSpPr>
        <p:spPr>
          <a:xfrm>
            <a:off x="5879592" y="1170432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Y</a:t>
            </a:r>
          </a:p>
        </p:txBody>
      </p:sp>
      <p:sp>
        <p:nvSpPr>
          <p:cNvPr id="315" name="exc 315"/>
          <p:cNvSpPr/>
          <p:nvPr/>
        </p:nvSpPr>
        <p:spPr>
          <a:xfrm>
            <a:off x="4572000" y="1720000"/>
            <a:ext cx="1325880" cy="40000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E7. 경로 받기 실패</a:t>
            </a:r>
          </a:p>
          <a:p>
            <a:pPr algn="ctr"/>
            <a:r>
              <a:rPr sz="750" b="0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다시 고르기 안내</a:t>
            </a:r>
          </a:p>
          <a:p>
            <a:pPr algn="ctr"/>
            <a:r>
              <a:rPr sz="750" b="0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부채꼴 선별로 계속</a:t>
            </a:r>
          </a:p>
        </p:txBody>
      </p:sp>
      <p:cxnSp>
        <p:nvCxnSpPr>
          <p:cNvPr id="316" name="Connector 316"/>
          <p:cNvCxnSpPr/>
          <p:nvPr/>
        </p:nvCxnSpPr>
        <p:spPr>
          <a:xfrm>
            <a:off x="5234940" y="1618488"/>
            <a:ext cx="0" cy="101512"/>
          </a:xfrm>
          <a:prstGeom prst="line">
            <a:avLst/>
          </a:prstGeom>
          <a:ln w="12700">
            <a:solidFill>
              <a:srgbClr val="C0392B"/>
            </a:solidFill>
            <a:tailEnd type="triangle"/>
          </a:ln>
        </p:spPr>
      </p:cxnSp>
      <p:sp>
        <p:nvSpPr>
          <p:cNvPr id="317" name="TextBox 317"/>
          <p:cNvSpPr txBox="1"/>
          <p:nvPr/>
        </p:nvSpPr>
        <p:spPr>
          <a:xfrm>
            <a:off x="5289804" y="1585000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N</a:t>
            </a:r>
          </a:p>
        </p:txBody>
      </p:sp>
      <p:cxnSp>
        <p:nvCxnSpPr>
          <p:cNvPr id="318" name="Connector 318"/>
          <p:cNvCxnSpPr/>
          <p:nvPr/>
        </p:nvCxnSpPr>
        <p:spPr>
          <a:xfrm>
            <a:off x="8069580" y="1581912"/>
            <a:ext cx="0" cy="729488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sp>
        <p:nvSpPr>
          <p:cNvPr id="319" name="proc 319"/>
          <p:cNvSpPr/>
          <p:nvPr/>
        </p:nvSpPr>
        <p:spPr>
          <a:xfrm>
            <a:off x="7452360" y="2311400"/>
            <a:ext cx="1234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경로 위 CCTV만 선별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경로 따라 가까운 순</a:t>
            </a:r>
          </a:p>
        </p:txBody>
      </p:sp>
      <p:sp>
        <p:nvSpPr>
          <p:cNvPr id="320" name="proc 320"/>
          <p:cNvSpPr/>
          <p:nvPr/>
        </p:nvSpPr>
        <p:spPr>
          <a:xfrm>
            <a:off x="6035040" y="2283968"/>
            <a:ext cx="1234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길 색 = 막힘 정도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초록 원활·노랑 서행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·빨강 정체</a:t>
            </a:r>
          </a:p>
        </p:txBody>
      </p:sp>
      <p:sp>
        <p:nvSpPr>
          <p:cNvPr id="321" name="dec 321"/>
          <p:cNvSpPr/>
          <p:nvPr/>
        </p:nvSpPr>
        <p:spPr>
          <a:xfrm>
            <a:off x="4617720" y="2247392"/>
            <a:ext cx="1234440" cy="585216"/>
          </a:xfrm>
          <a:prstGeom prst="flowChartDecision">
            <a:avLst/>
          </a:prstGeom>
          <a:solidFill>
            <a:srgbClr val="FFF4D6"/>
          </a:solidFill>
          <a:ln w="12700">
            <a:solidFill>
              <a:srgbClr val="E08A00"/>
            </a:solidFill>
          </a:ln>
        </p:spPr>
        <p:txBody>
          <a:bodyPr wrap="none" lIns="36576" tIns="9144" rIns="36576" bIns="9144" rtlCol="0" anchor="ctr"/>
          <a:lstStyle/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목적지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300m 안?</a:t>
            </a:r>
          </a:p>
        </p:txBody>
      </p:sp>
      <p:sp>
        <p:nvSpPr>
          <p:cNvPr id="322" name="term 322"/>
          <p:cNvSpPr/>
          <p:nvPr/>
        </p:nvSpPr>
        <p:spPr>
          <a:xfrm>
            <a:off x="3200400" y="2338832"/>
            <a:ext cx="1234440" cy="402336"/>
          </a:xfrm>
          <a:prstGeom prst="flowChartTerminator">
            <a:avLst/>
          </a:prstGeom>
          <a:solidFill>
            <a:srgbClr val="D9D9D9"/>
          </a:solidFill>
          <a:ln w="12700">
            <a:solidFill>
              <a:srgbClr val="7F7F7F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끝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부채꼴 선별로 돌아감</a:t>
            </a:r>
          </a:p>
        </p:txBody>
      </p:sp>
      <p:cxnSp>
        <p:nvCxnSpPr>
          <p:cNvPr id="323" name="Connector 323"/>
          <p:cNvCxnSpPr/>
          <p:nvPr/>
        </p:nvCxnSpPr>
        <p:spPr>
          <a:xfrm flipH="1">
            <a:off x="7269480" y="2540000"/>
            <a:ext cx="18288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24" name="Connector 324"/>
          <p:cNvCxnSpPr/>
          <p:nvPr/>
        </p:nvCxnSpPr>
        <p:spPr>
          <a:xfrm flipH="1">
            <a:off x="5852160" y="2540000"/>
            <a:ext cx="18288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25" name="Connector 325"/>
          <p:cNvCxnSpPr/>
          <p:nvPr/>
        </p:nvCxnSpPr>
        <p:spPr>
          <a:xfrm flipH="1">
            <a:off x="4434840" y="2540000"/>
            <a:ext cx="18288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sp>
        <p:nvSpPr>
          <p:cNvPr id="326" name="TextBox 326"/>
          <p:cNvSpPr txBox="1"/>
          <p:nvPr/>
        </p:nvSpPr>
        <p:spPr>
          <a:xfrm>
            <a:off x="4462272" y="2384552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Y</a:t>
            </a:r>
          </a:p>
        </p:txBody>
      </p:sp>
      <p:cxnSp>
        <p:nvCxnSpPr>
          <p:cNvPr id="327" name="Connector 327"/>
          <p:cNvCxnSpPr/>
          <p:nvPr/>
        </p:nvCxnSpPr>
        <p:spPr>
          <a:xfrm>
            <a:off x="5234940" y="2832608"/>
            <a:ext cx="0" cy="217392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cxnSp>
        <p:nvCxnSpPr>
          <p:cNvPr id="328" name="Connector 328"/>
          <p:cNvCxnSpPr/>
          <p:nvPr/>
        </p:nvCxnSpPr>
        <p:spPr>
          <a:xfrm>
            <a:off x="5234940" y="3050000"/>
            <a:ext cx="2834640" cy="0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cxnSp>
        <p:nvCxnSpPr>
          <p:cNvPr id="329" name="Connector 329"/>
          <p:cNvCxnSpPr/>
          <p:nvPr/>
        </p:nvCxnSpPr>
        <p:spPr>
          <a:xfrm flipV="1">
            <a:off x="8069580" y="2768600"/>
            <a:ext cx="0" cy="28140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sp>
        <p:nvSpPr>
          <p:cNvPr id="330" name="TextBox 330"/>
          <p:cNvSpPr txBox="1"/>
          <p:nvPr/>
        </p:nvSpPr>
        <p:spPr>
          <a:xfrm>
            <a:off x="5289804" y="2860040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N</a:t>
            </a:r>
          </a:p>
        </p:txBody>
      </p:sp>
      <p:sp>
        <p:nvSpPr>
          <p:cNvPr id="331" name="TextBox 331"/>
          <p:cNvSpPr txBox="1"/>
          <p:nvPr/>
        </p:nvSpPr>
        <p:spPr>
          <a:xfrm>
            <a:off x="5534940" y="3090000"/>
            <a:ext cx="23000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주행하며 계속 (30초·500m마다 갱신)</a:t>
            </a:r>
          </a:p>
        </p:txBody>
      </p:sp>
      <p:sp>
        <p:nvSpPr>
          <p:cNvPr id="332" name="Shape 332"/>
          <p:cNvSpPr/>
          <p:nvPr/>
        </p:nvSpPr>
        <p:spPr>
          <a:xfrm>
            <a:off x="365760" y="2219960"/>
            <a:ext cx="1234440" cy="64008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9525">
            <a:solidFill>
              <a:srgbClr val="C9D3E0"/>
            </a:solidFill>
          </a:ln>
        </p:spPr>
        <p:txBody>
          <a:bodyPr wrap="square" lIns="36576" tIns="9144" rIns="36576" bIns="9144" rtlCol="0" anchor="ctr"/>
          <a:lstStyle/>
          <a:p>
            <a:pPr algn="l"/>
            <a:r>
              <a:rPr sz="700" b="1">
                <a:solidFill>
                  <a:srgbClr val="1F3F73"/>
                </a:solidFill>
                <a:latin typeface="Malgun Gothic"/>
                <a:ea typeface="Malgun Gothic"/>
                <a:cs typeface="Malgun Gothic"/>
              </a:rPr>
              <a:t>관련 기능</a:t>
            </a:r>
          </a:p>
          <a:p>
            <a:pPr algn="l"/>
            <a:r>
              <a:rPr sz="700" b="0">
                <a:solidFill>
                  <a:srgbClr val="1F3F73"/>
                </a:solidFill>
                <a:latin typeface="Malgun Gothic"/>
                <a:ea typeface="Malgun Gothic"/>
                <a:cs typeface="Malgun Gothic"/>
              </a:rPr>
              <a:t>F-05 목적지 경로 비교</a:t>
            </a:r>
          </a:p>
          <a:p>
            <a:pPr algn="l"/>
            <a:r>
              <a:rPr sz="700" b="0">
                <a:solidFill>
                  <a:srgbClr val="1F3F73"/>
                </a:solidFill>
                <a:latin typeface="Malgun Gothic"/>
                <a:ea typeface="Malgun Gothic"/>
                <a:cs typeface="Malgun Gothic"/>
              </a:rPr>
              <a:t>F-04 길 색(카카오모빌리티)</a:t>
            </a:r>
          </a:p>
          <a:p>
            <a:pPr algn="l"/>
            <a:r>
              <a:rPr sz="700" b="0">
                <a:solidFill>
                  <a:srgbClr val="1F3F73"/>
                </a:solidFill>
                <a:latin typeface="Malgun Gothic"/>
                <a:ea typeface="Malgun Gothic"/>
                <a:cs typeface="Malgun Gothic"/>
              </a:rPr>
              <a:t>(FR-10 · FR-11)</a:t>
            </a:r>
          </a:p>
        </p:txBody>
      </p:sp>
      <p:sp>
        <p:nvSpPr>
          <p:cNvPr id="333" name="Shape 333"/>
          <p:cNvSpPr/>
          <p:nvPr/>
        </p:nvSpPr>
        <p:spPr>
          <a:xfrm>
            <a:off x="320039" y="4023360"/>
            <a:ext cx="8503920" cy="50292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9525">
            <a:solidFill>
              <a:srgbClr val="C9D3E0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334" name="Shape 334"/>
          <p:cNvSpPr/>
          <p:nvPr/>
        </p:nvSpPr>
        <p:spPr>
          <a:xfrm>
            <a:off x="320040" y="4023360"/>
            <a:ext cx="914400" cy="502920"/>
          </a:xfrm>
          <a:prstGeom prst="roundRect">
            <a:avLst>
              <a:gd name="adj" fmla="val 12000"/>
            </a:avLst>
          </a:prstGeom>
          <a:solidFill>
            <a:srgbClr val="1F3F73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경로 원칙</a:t>
            </a:r>
          </a:p>
        </p:txBody>
      </p:sp>
      <p:sp>
        <p:nvSpPr>
          <p:cNvPr id="335" name="TextBox 335"/>
          <p:cNvSpPr txBox="1"/>
          <p:nvPr/>
        </p:nvSpPr>
        <p:spPr>
          <a:xfrm>
            <a:off x="1399032" y="4078224"/>
            <a:ext cx="172821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길 안내 안 함</a:t>
            </a:r>
          </a:p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경로 위 CCTV만 보여 줌</a:t>
            </a:r>
          </a:p>
        </p:txBody>
      </p:sp>
      <p:cxnSp>
        <p:nvCxnSpPr>
          <p:cNvPr id="336" name="Connector 336"/>
          <p:cNvCxnSpPr/>
          <p:nvPr/>
        </p:nvCxnSpPr>
        <p:spPr>
          <a:xfrm>
            <a:off x="3182112" y="4133088"/>
            <a:ext cx="0" cy="283464"/>
          </a:xfrm>
          <a:prstGeom prst="line">
            <a:avLst/>
          </a:prstGeom>
          <a:ln w="9525">
            <a:solidFill>
              <a:srgbClr val="C9D3E0"/>
            </a:solidFill>
            <a:prstDash val="dash"/>
          </a:ln>
        </p:spPr>
      </p:cxnSp>
      <p:sp>
        <p:nvSpPr>
          <p:cNvPr id="337" name="TextBox 337"/>
          <p:cNvSpPr txBox="1"/>
          <p:nvPr/>
        </p:nvSpPr>
        <p:spPr>
          <a:xfrm>
            <a:off x="3255264" y="4078224"/>
            <a:ext cx="172821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경로 3가지</a:t>
            </a:r>
          </a:p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추천·최단 시간·무료도로</a:t>
            </a:r>
          </a:p>
        </p:txBody>
      </p:sp>
      <p:cxnSp>
        <p:nvCxnSpPr>
          <p:cNvPr id="338" name="Connector 338"/>
          <p:cNvCxnSpPr/>
          <p:nvPr/>
        </p:nvCxnSpPr>
        <p:spPr>
          <a:xfrm>
            <a:off x="5038344" y="4133088"/>
            <a:ext cx="0" cy="283464"/>
          </a:xfrm>
          <a:prstGeom prst="line">
            <a:avLst/>
          </a:prstGeom>
          <a:ln w="9525">
            <a:solidFill>
              <a:srgbClr val="C9D3E0"/>
            </a:solidFill>
            <a:prstDash val="dash"/>
          </a:ln>
        </p:spPr>
      </p:cxnSp>
      <p:sp>
        <p:nvSpPr>
          <p:cNvPr id="339" name="TextBox 339"/>
          <p:cNvSpPr txBox="1"/>
          <p:nvPr/>
        </p:nvSpPr>
        <p:spPr>
          <a:xfrm>
            <a:off x="5111496" y="4078224"/>
            <a:ext cx="172821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비교 기준</a:t>
            </a:r>
          </a:p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CCTV 수·막힌 구간 수</a:t>
            </a:r>
          </a:p>
        </p:txBody>
      </p:sp>
      <p:cxnSp>
        <p:nvCxnSpPr>
          <p:cNvPr id="340" name="Connector 340"/>
          <p:cNvCxnSpPr/>
          <p:nvPr/>
        </p:nvCxnSpPr>
        <p:spPr>
          <a:xfrm>
            <a:off x="6894576" y="4133088"/>
            <a:ext cx="0" cy="283464"/>
          </a:xfrm>
          <a:prstGeom prst="line">
            <a:avLst/>
          </a:prstGeom>
          <a:ln w="9525">
            <a:solidFill>
              <a:srgbClr val="C9D3E0"/>
            </a:solidFill>
            <a:prstDash val="dash"/>
          </a:ln>
        </p:spPr>
      </p:cxnSp>
      <p:sp>
        <p:nvSpPr>
          <p:cNvPr id="341" name="TextBox 341"/>
          <p:cNvSpPr txBox="1"/>
          <p:nvPr/>
        </p:nvSpPr>
        <p:spPr>
          <a:xfrm>
            <a:off x="6967728" y="4078224"/>
            <a:ext cx="172821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도착 가까우면</a:t>
            </a:r>
          </a:p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300m 안이면 부채꼴로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6" name="Google Shape;76;p2"/>
          <p:cNvSpPr txBox="1"/>
          <p:nvPr/>
        </p:nvSpPr>
        <p:spPr>
          <a:xfrm>
            <a:off x="251520" y="5853"/>
            <a:ext cx="4320480" cy="252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05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algun Gothic"/>
              <a:buNone/>
            </a:pPr>
            <a:r>
              <a:rPr lang="en-US" sz="17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흐름도(앞길·기록·내 정보)</a:t>
            </a:r>
            <a:endParaRPr sz="1700" b="1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" name="Google Shape;77;p2"/>
          <p:cNvSpPr txBox="1"/>
          <p:nvPr/>
        </p:nvSpPr>
        <p:spPr>
          <a:xfrm>
            <a:off x="6336198" y="51472"/>
            <a:ext cx="2556284" cy="288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45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졸업하자</a:t>
            </a:r>
            <a:endParaRPr sz="17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" name="Terminator 79"/>
          <p:cNvSpPr/>
          <p:nvPr/>
        </p:nvSpPr>
        <p:spPr>
          <a:xfrm>
            <a:off x="4617720" y="562356"/>
            <a:ext cx="237744" cy="155448"/>
          </a:xfrm>
          <a:prstGeom prst="flowChartTerminator">
            <a:avLst/>
          </a:prstGeom>
          <a:solidFill>
            <a:srgbClr val="D9D9D9"/>
          </a:solidFill>
          <a:ln w="9525">
            <a:solidFill>
              <a:srgbClr val="7F7F7F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892040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시작/끝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221224" y="562356"/>
            <a:ext cx="237744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495544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처리</a:t>
            </a:r>
          </a:p>
        </p:txBody>
      </p:sp>
      <p:sp>
        <p:nvSpPr>
          <p:cNvPr id="84" name="Decision 83"/>
          <p:cNvSpPr/>
          <p:nvPr/>
        </p:nvSpPr>
        <p:spPr>
          <a:xfrm>
            <a:off x="5824728" y="562356"/>
            <a:ext cx="237744" cy="155448"/>
          </a:xfrm>
          <a:prstGeom prst="flowChartDecision">
            <a:avLst/>
          </a:prstGeom>
          <a:solidFill>
            <a:srgbClr val="FFF4D6"/>
          </a:solidFill>
          <a:ln w="9525">
            <a:solidFill>
              <a:srgbClr val="E08A00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099048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86" name="Data 85"/>
          <p:cNvSpPr/>
          <p:nvPr/>
        </p:nvSpPr>
        <p:spPr>
          <a:xfrm>
            <a:off x="6428231" y="562356"/>
            <a:ext cx="237744" cy="155448"/>
          </a:xfrm>
          <a:prstGeom prst="flowChartInputOutput">
            <a:avLst/>
          </a:prstGeom>
          <a:solidFill>
            <a:srgbClr val="E4F3F4"/>
          </a:solidFill>
          <a:ln w="9525">
            <a:solidFill>
              <a:srgbClr val="0E7C86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702551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88" name="Document 87"/>
          <p:cNvSpPr/>
          <p:nvPr/>
        </p:nvSpPr>
        <p:spPr>
          <a:xfrm>
            <a:off x="7031736" y="562356"/>
            <a:ext cx="237744" cy="155448"/>
          </a:xfrm>
          <a:prstGeom prst="flowChartDocument">
            <a:avLst/>
          </a:prstGeom>
          <a:solidFill>
            <a:srgbClr val="EAF0F8"/>
          </a:solidFill>
          <a:ln w="9525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306055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화면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635240" y="562356"/>
            <a:ext cx="237744" cy="155448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909560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예외</a:t>
            </a:r>
          </a:p>
        </p:txBody>
      </p:sp>
      <p:sp>
        <p:nvSpPr>
          <p:cNvPr id="92" name="Magnetic Disk 91"/>
          <p:cNvSpPr/>
          <p:nvPr/>
        </p:nvSpPr>
        <p:spPr>
          <a:xfrm>
            <a:off x="8238744" y="562356"/>
            <a:ext cx="237744" cy="155448"/>
          </a:xfrm>
          <a:prstGeom prst="flowChartMagneticDisk">
            <a:avLst/>
          </a:prstGeom>
          <a:solidFill>
            <a:srgbClr val="DDE7F3"/>
          </a:solidFill>
          <a:ln w="9525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513064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데이터</a:t>
            </a:r>
          </a:p>
        </p:txBody>
      </p:sp>
      <p:sp>
        <p:nvSpPr>
          <p:cNvPr id="301" name="TextBox 301"/>
          <p:cNvSpPr txBox="1"/>
          <p:nvPr/>
        </p:nvSpPr>
        <p:spPr>
          <a:xfrm>
            <a:off x="320040" y="457200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F3F73"/>
                </a:solidFill>
                <a:latin typeface="Malgun Gothic"/>
                <a:ea typeface="Malgun Gothic"/>
                <a:cs typeface="Malgun Gothic"/>
              </a:rPr>
              <a:t>탭 4개: 홈 · 앞길 · 기록 · 내 정보</a:t>
            </a:r>
          </a:p>
        </p:txBody>
      </p:sp>
      <p:sp>
        <p:nvSpPr>
          <p:cNvPr id="302" name="TextBox 302"/>
          <p:cNvSpPr txBox="1"/>
          <p:nvPr/>
        </p:nvSpPr>
        <p:spPr>
          <a:xfrm>
            <a:off x="320040" y="713232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□ 홈에서 고른 ‘앞 상황’을 앞길·기록 탭이 함께 쓰고, 내 정보에서 약관·라이선스를 봄</a:t>
            </a:r>
          </a:p>
        </p:txBody>
      </p:sp>
      <p:sp>
        <p:nvSpPr>
          <p:cNvPr id="303" name="Shape 303"/>
          <p:cNvSpPr/>
          <p:nvPr/>
        </p:nvSpPr>
        <p:spPr>
          <a:xfrm>
            <a:off x="320039" y="960120"/>
            <a:ext cx="8503920" cy="960120"/>
          </a:xfrm>
          <a:prstGeom prst="rect">
            <a:avLst/>
          </a:prstGeom>
          <a:solidFill>
            <a:srgbClr val="F7F9FC"/>
          </a:solidFill>
          <a:ln w="9525">
            <a:solidFill>
              <a:srgbClr val="D5DCE6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304" name="Shape 304"/>
          <p:cNvSpPr/>
          <p:nvPr/>
        </p:nvSpPr>
        <p:spPr>
          <a:xfrm>
            <a:off x="320040" y="960120"/>
            <a:ext cx="822960" cy="96012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앞길 탭</a:t>
            </a:r>
          </a:p>
        </p:txBody>
      </p:sp>
      <p:sp>
        <p:nvSpPr>
          <p:cNvPr id="305" name="doc 305"/>
          <p:cNvSpPr/>
          <p:nvPr/>
        </p:nvSpPr>
        <p:spPr>
          <a:xfrm>
            <a:off x="1234440" y="1184148"/>
            <a:ext cx="1097280" cy="512064"/>
          </a:xfrm>
          <a:prstGeom prst="flowChartDocument">
            <a:avLst/>
          </a:prstGeom>
          <a:solidFill>
            <a:srgbClr val="EAF0F8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앞길 탭 열기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홈과 같은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‘앞 상황’</a:t>
            </a:r>
          </a:p>
        </p:txBody>
      </p:sp>
      <p:sp>
        <p:nvSpPr>
          <p:cNvPr id="306" name="hil 306"/>
          <p:cNvSpPr/>
          <p:nvPr/>
        </p:nvSpPr>
        <p:spPr>
          <a:xfrm>
            <a:off x="2532888" y="1184148"/>
            <a:ext cx="1097280" cy="512064"/>
          </a:xfrm>
          <a:prstGeom prst="rect">
            <a:avLst/>
          </a:prstGeom>
          <a:solidFill>
            <a:srgbClr val="FFF4D6"/>
          </a:solidFill>
          <a:ln w="12700">
            <a:solidFill>
              <a:srgbClr val="E08A00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한 줄 요약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‘2.8km 앞 공사 ·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1차로 통제’</a:t>
            </a:r>
          </a:p>
        </p:txBody>
      </p:sp>
      <p:sp>
        <p:nvSpPr>
          <p:cNvPr id="307" name="proc 307"/>
          <p:cNvSpPr/>
          <p:nvPr/>
        </p:nvSpPr>
        <p:spPr>
          <a:xfrm>
            <a:off x="3831336" y="1184148"/>
            <a:ext cx="10972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늦어지는 시간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날씨·노면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(Open-Meteo)</a:t>
            </a:r>
          </a:p>
        </p:txBody>
      </p:sp>
      <p:sp>
        <p:nvSpPr>
          <p:cNvPr id="308" name="proc 308"/>
          <p:cNvSpPr/>
          <p:nvPr/>
        </p:nvSpPr>
        <p:spPr>
          <a:xfrm>
            <a:off x="5129784" y="1184148"/>
            <a:ext cx="10972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앞 10km 소통 띠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길 색 = 막힘 정도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CCTV·돌발 위치</a:t>
            </a:r>
          </a:p>
        </p:txBody>
      </p:sp>
      <p:sp>
        <p:nvSpPr>
          <p:cNvPr id="309" name="proc 309"/>
          <p:cNvSpPr/>
          <p:nvPr/>
        </p:nvSpPr>
        <p:spPr>
          <a:xfrm>
            <a:off x="6428232" y="1184148"/>
            <a:ext cx="10972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사고·공사·통제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발생 시각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통제 차로</a:t>
            </a:r>
          </a:p>
        </p:txBody>
      </p:sp>
      <p:sp>
        <p:nvSpPr>
          <p:cNvPr id="310" name="data 310"/>
          <p:cNvSpPr/>
          <p:nvPr/>
        </p:nvSpPr>
        <p:spPr>
          <a:xfrm>
            <a:off x="7726680" y="1211580"/>
            <a:ext cx="1097280" cy="457200"/>
          </a:xfrm>
          <a:prstGeom prst="flowChartInputOutput">
            <a:avLst/>
          </a:prstGeom>
          <a:solidFill>
            <a:srgbClr val="E4F3F4"/>
          </a:solidFill>
          <a:ln w="12700">
            <a:solidFill>
              <a:srgbClr val="0E7C86"/>
            </a:solidFill>
          </a:ln>
        </p:spPr>
        <p:txBody>
          <a:bodyPr wrap="none" lIns="36576" tIns="9144" rIns="36576" bIns="9144" rtlCol="0" anchor="ctr"/>
          <a:lstStyle/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CCTV 누르기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홈에서 재생</a:t>
            </a:r>
          </a:p>
        </p:txBody>
      </p:sp>
      <p:cxnSp>
        <p:nvCxnSpPr>
          <p:cNvPr id="311" name="Connector 311"/>
          <p:cNvCxnSpPr/>
          <p:nvPr/>
        </p:nvCxnSpPr>
        <p:spPr>
          <a:xfrm>
            <a:off x="2331720" y="1440180"/>
            <a:ext cx="201168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12" name="Connector 312"/>
          <p:cNvCxnSpPr/>
          <p:nvPr/>
        </p:nvCxnSpPr>
        <p:spPr>
          <a:xfrm>
            <a:off x="3630168" y="1440180"/>
            <a:ext cx="201168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13" name="Connector 313"/>
          <p:cNvCxnSpPr/>
          <p:nvPr/>
        </p:nvCxnSpPr>
        <p:spPr>
          <a:xfrm>
            <a:off x="4928616" y="1440180"/>
            <a:ext cx="201168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14" name="Connector 314"/>
          <p:cNvCxnSpPr/>
          <p:nvPr/>
        </p:nvCxnSpPr>
        <p:spPr>
          <a:xfrm>
            <a:off x="6227064" y="1440180"/>
            <a:ext cx="201168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15" name="Connector 315"/>
          <p:cNvCxnSpPr/>
          <p:nvPr/>
        </p:nvCxnSpPr>
        <p:spPr>
          <a:xfrm>
            <a:off x="7525512" y="1440180"/>
            <a:ext cx="201168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sp>
        <p:nvSpPr>
          <p:cNvPr id="316" name="Shape 316"/>
          <p:cNvSpPr/>
          <p:nvPr/>
        </p:nvSpPr>
        <p:spPr>
          <a:xfrm>
            <a:off x="320039" y="1965960"/>
            <a:ext cx="8503920" cy="960120"/>
          </a:xfrm>
          <a:prstGeom prst="rect">
            <a:avLst/>
          </a:prstGeom>
          <a:solidFill>
            <a:srgbClr val="F7F9FC"/>
          </a:solidFill>
          <a:ln w="9525">
            <a:solidFill>
              <a:srgbClr val="D5DCE6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317" name="Shape 317"/>
          <p:cNvSpPr/>
          <p:nvPr/>
        </p:nvSpPr>
        <p:spPr>
          <a:xfrm>
            <a:off x="320040" y="1965960"/>
            <a:ext cx="822960" cy="96012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기록 탭</a:t>
            </a:r>
          </a:p>
        </p:txBody>
      </p:sp>
      <p:sp>
        <p:nvSpPr>
          <p:cNvPr id="318" name="term 318"/>
          <p:cNvSpPr/>
          <p:nvPr/>
        </p:nvSpPr>
        <p:spPr>
          <a:xfrm>
            <a:off x="1234440" y="2244852"/>
            <a:ext cx="1097280" cy="402336"/>
          </a:xfrm>
          <a:prstGeom prst="flowChartTerminator">
            <a:avLst/>
          </a:prstGeom>
          <a:solidFill>
            <a:srgbClr val="D9D9D9"/>
          </a:solidFill>
          <a:ln w="12700">
            <a:solidFill>
              <a:srgbClr val="7F7F7F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주행 중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(홈 탭이 계산)</a:t>
            </a:r>
          </a:p>
        </p:txBody>
      </p:sp>
      <p:sp>
        <p:nvSpPr>
          <p:cNvPr id="319" name="proc 319"/>
          <p:cNvSpPr/>
          <p:nvPr/>
        </p:nvSpPr>
        <p:spPr>
          <a:xfrm>
            <a:off x="2532888" y="221742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정체 들어감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앞 막힘 150m 안</a:t>
            </a:r>
          </a:p>
        </p:txBody>
      </p:sp>
      <p:sp>
        <p:nvSpPr>
          <p:cNvPr id="320" name="proc 320"/>
          <p:cNvSpPr/>
          <p:nvPr/>
        </p:nvSpPr>
        <p:spPr>
          <a:xfrm>
            <a:off x="3831336" y="221742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빠져나옴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막힘 사라짐</a:t>
            </a:r>
          </a:p>
        </p:txBody>
      </p:sp>
      <p:sp>
        <p:nvSpPr>
          <p:cNvPr id="321" name="dec 321"/>
          <p:cNvSpPr/>
          <p:nvPr/>
        </p:nvSpPr>
        <p:spPr>
          <a:xfrm>
            <a:off x="5129784" y="2171700"/>
            <a:ext cx="1097280" cy="548640"/>
          </a:xfrm>
          <a:prstGeom prst="flowChartDecision">
            <a:avLst/>
          </a:prstGeom>
          <a:solidFill>
            <a:srgbClr val="FFF4D6"/>
          </a:solidFill>
          <a:ln w="12700">
            <a:solidFill>
              <a:srgbClr val="E08A00"/>
            </a:solidFill>
          </a:ln>
        </p:spPr>
        <p:txBody>
          <a:bodyPr wrap="none" lIns="36576" tIns="9144" rIns="36576" bIns="9144" rtlCol="0" anchor="ctr"/>
          <a:lstStyle/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1분·300m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이상?</a:t>
            </a:r>
          </a:p>
        </p:txBody>
      </p:sp>
      <p:sp>
        <p:nvSpPr>
          <p:cNvPr id="322" name="disk 322"/>
          <p:cNvSpPr/>
          <p:nvPr/>
        </p:nvSpPr>
        <p:spPr>
          <a:xfrm>
            <a:off x="6428232" y="2189988"/>
            <a:ext cx="1097280" cy="512064"/>
          </a:xfrm>
          <a:prstGeom prst="flowChartMagneticDisk">
            <a:avLst/>
          </a:prstGeom>
          <a:solidFill>
            <a:srgbClr val="DDE7F3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기록 저장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이 휴대폰에만</a:t>
            </a:r>
          </a:p>
        </p:txBody>
      </p:sp>
      <p:sp>
        <p:nvSpPr>
          <p:cNvPr id="323" name="doc 323"/>
          <p:cNvSpPr/>
          <p:nvPr/>
        </p:nvSpPr>
        <p:spPr>
          <a:xfrm>
            <a:off x="7726680" y="2189988"/>
            <a:ext cx="1097280" cy="512064"/>
          </a:xfrm>
          <a:prstGeom prst="flowChartDocument">
            <a:avLst/>
          </a:prstGeom>
          <a:solidFill>
            <a:srgbClr val="EAF0F8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기록 탭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지나온 정체·돌발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시간순</a:t>
            </a:r>
          </a:p>
        </p:txBody>
      </p:sp>
      <p:cxnSp>
        <p:nvCxnSpPr>
          <p:cNvPr id="324" name="Connector 324"/>
          <p:cNvCxnSpPr/>
          <p:nvPr/>
        </p:nvCxnSpPr>
        <p:spPr>
          <a:xfrm>
            <a:off x="2331720" y="2446020"/>
            <a:ext cx="201168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25" name="Connector 325"/>
          <p:cNvCxnSpPr/>
          <p:nvPr/>
        </p:nvCxnSpPr>
        <p:spPr>
          <a:xfrm>
            <a:off x="3630168" y="2446020"/>
            <a:ext cx="201168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26" name="Connector 326"/>
          <p:cNvCxnSpPr/>
          <p:nvPr/>
        </p:nvCxnSpPr>
        <p:spPr>
          <a:xfrm>
            <a:off x="4928616" y="2446020"/>
            <a:ext cx="201168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27" name="Connector 327"/>
          <p:cNvCxnSpPr/>
          <p:nvPr/>
        </p:nvCxnSpPr>
        <p:spPr>
          <a:xfrm>
            <a:off x="6227064" y="2446020"/>
            <a:ext cx="201168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28" name="Connector 328"/>
          <p:cNvCxnSpPr/>
          <p:nvPr/>
        </p:nvCxnSpPr>
        <p:spPr>
          <a:xfrm>
            <a:off x="7525512" y="2446020"/>
            <a:ext cx="201168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sp>
        <p:nvSpPr>
          <p:cNvPr id="329" name="TextBox 329"/>
          <p:cNvSpPr txBox="1"/>
          <p:nvPr/>
        </p:nvSpPr>
        <p:spPr>
          <a:xfrm>
            <a:off x="6272784" y="2290572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Y</a:t>
            </a:r>
          </a:p>
        </p:txBody>
      </p:sp>
      <p:cxnSp>
        <p:nvCxnSpPr>
          <p:cNvPr id="330" name="Connector 330"/>
          <p:cNvCxnSpPr/>
          <p:nvPr/>
        </p:nvCxnSpPr>
        <p:spPr>
          <a:xfrm>
            <a:off x="5678424" y="2720340"/>
            <a:ext cx="0" cy="105680"/>
          </a:xfrm>
          <a:prstGeom prst="line">
            <a:avLst/>
          </a:prstGeom>
          <a:ln w="12700">
            <a:solidFill>
              <a:srgbClr val="C0392B"/>
            </a:solidFill>
          </a:ln>
        </p:spPr>
      </p:cxnSp>
      <p:sp>
        <p:nvSpPr>
          <p:cNvPr id="331" name="TextBox 331"/>
          <p:cNvSpPr txBox="1"/>
          <p:nvPr/>
        </p:nvSpPr>
        <p:spPr>
          <a:xfrm>
            <a:off x="5733288" y="2736020"/>
            <a:ext cx="9000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N → 기록 안 함</a:t>
            </a:r>
          </a:p>
        </p:txBody>
      </p:sp>
      <p:sp>
        <p:nvSpPr>
          <p:cNvPr id="332" name="Shape 332"/>
          <p:cNvSpPr/>
          <p:nvPr/>
        </p:nvSpPr>
        <p:spPr>
          <a:xfrm>
            <a:off x="320039" y="2971800"/>
            <a:ext cx="8503920" cy="1188720"/>
          </a:xfrm>
          <a:prstGeom prst="rect">
            <a:avLst/>
          </a:prstGeom>
          <a:solidFill>
            <a:srgbClr val="F7F9FC"/>
          </a:solidFill>
          <a:ln w="9525">
            <a:solidFill>
              <a:srgbClr val="D5DCE6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333" name="Shape 333"/>
          <p:cNvSpPr/>
          <p:nvPr/>
        </p:nvSpPr>
        <p:spPr>
          <a:xfrm>
            <a:off x="320040" y="2971800"/>
            <a:ext cx="822960" cy="1188720"/>
          </a:xfrm>
          <a:prstGeom prst="rect">
            <a:avLst/>
          </a:prstGeom>
          <a:solidFill>
            <a:srgbClr val="1F3F73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내 정보</a:t>
            </a:r>
          </a:p>
          <a:p>
            <a:pPr algn="ctr"/>
            <a:r>
              <a: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탭</a:t>
            </a:r>
          </a:p>
        </p:txBody>
      </p:sp>
      <p:sp>
        <p:nvSpPr>
          <p:cNvPr id="334" name="doc 334"/>
          <p:cNvSpPr/>
          <p:nvPr/>
        </p:nvSpPr>
        <p:spPr>
          <a:xfrm>
            <a:off x="1234440" y="3401568"/>
            <a:ext cx="1097280" cy="512064"/>
          </a:xfrm>
          <a:prstGeom prst="flowChartDocument">
            <a:avLst/>
          </a:prstGeom>
          <a:solidFill>
            <a:srgbClr val="EAF0F8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내 정보 탭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주행 전에도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열 수 있음</a:t>
            </a:r>
          </a:p>
        </p:txBody>
      </p:sp>
      <p:sp>
        <p:nvSpPr>
          <p:cNvPr id="335" name="data 335"/>
          <p:cNvSpPr/>
          <p:nvPr/>
        </p:nvSpPr>
        <p:spPr>
          <a:xfrm>
            <a:off x="2532888" y="3429000"/>
            <a:ext cx="1097280" cy="457200"/>
          </a:xfrm>
          <a:prstGeom prst="flowChartInputOutput">
            <a:avLst/>
          </a:prstGeom>
          <a:solidFill>
            <a:srgbClr val="E4F3F4"/>
          </a:solidFill>
          <a:ln w="12700">
            <a:solidFill>
              <a:srgbClr val="0E7C86"/>
            </a:solidFill>
          </a:ln>
        </p:spPr>
        <p:txBody>
          <a:bodyPr wrap="none" lIns="36576" tIns="9144" rIns="36576" bIns="9144" rtlCol="0" anchor="ctr"/>
          <a:lstStyle/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메뉴 고르기</a:t>
            </a:r>
          </a:p>
        </p:txBody>
      </p:sp>
      <p:cxnSp>
        <p:nvCxnSpPr>
          <p:cNvPr id="336" name="Connector 336"/>
          <p:cNvCxnSpPr/>
          <p:nvPr/>
        </p:nvCxnSpPr>
        <p:spPr>
          <a:xfrm>
            <a:off x="2331720" y="3657600"/>
            <a:ext cx="201168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37" name="Connector 337"/>
          <p:cNvCxnSpPr/>
          <p:nvPr/>
        </p:nvCxnSpPr>
        <p:spPr>
          <a:xfrm>
            <a:off x="3538728" y="3657600"/>
            <a:ext cx="182880" cy="0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cxnSp>
        <p:nvCxnSpPr>
          <p:cNvPr id="338" name="Connector 338"/>
          <p:cNvCxnSpPr/>
          <p:nvPr/>
        </p:nvCxnSpPr>
        <p:spPr>
          <a:xfrm flipV="1">
            <a:off x="3721608" y="3200400"/>
            <a:ext cx="0" cy="457200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cxnSp>
        <p:nvCxnSpPr>
          <p:cNvPr id="339" name="Connector 339"/>
          <p:cNvCxnSpPr/>
          <p:nvPr/>
        </p:nvCxnSpPr>
        <p:spPr>
          <a:xfrm>
            <a:off x="3721608" y="3200400"/>
            <a:ext cx="4553712" cy="0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sp>
        <p:nvSpPr>
          <p:cNvPr id="340" name="proc 340"/>
          <p:cNvSpPr/>
          <p:nvPr/>
        </p:nvSpPr>
        <p:spPr>
          <a:xfrm>
            <a:off x="3831336" y="3401568"/>
            <a:ext cx="10972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주행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새 주행 시작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동승자 다시 확인</a:t>
            </a:r>
          </a:p>
        </p:txBody>
      </p:sp>
      <p:cxnSp>
        <p:nvCxnSpPr>
          <p:cNvPr id="341" name="Connector 341"/>
          <p:cNvCxnSpPr/>
          <p:nvPr/>
        </p:nvCxnSpPr>
        <p:spPr>
          <a:xfrm>
            <a:off x="4379976" y="3200400"/>
            <a:ext cx="0" cy="201168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sp>
        <p:nvSpPr>
          <p:cNvPr id="342" name="proc 342"/>
          <p:cNvSpPr/>
          <p:nvPr/>
        </p:nvSpPr>
        <p:spPr>
          <a:xfrm>
            <a:off x="5129784" y="3401568"/>
            <a:ext cx="10972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화면 모드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밤 모드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(해 지면 자동)</a:t>
            </a:r>
          </a:p>
        </p:txBody>
      </p:sp>
      <p:cxnSp>
        <p:nvCxnSpPr>
          <p:cNvPr id="343" name="Connector 343"/>
          <p:cNvCxnSpPr/>
          <p:nvPr/>
        </p:nvCxnSpPr>
        <p:spPr>
          <a:xfrm>
            <a:off x="5678424" y="3200400"/>
            <a:ext cx="0" cy="201168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sp>
        <p:nvSpPr>
          <p:cNvPr id="344" name="proc 344"/>
          <p:cNvSpPr/>
          <p:nvPr/>
        </p:nvSpPr>
        <p:spPr>
          <a:xfrm>
            <a:off x="6428232" y="3401568"/>
            <a:ext cx="10972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약관·정책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이용약관·개인정보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오픈소스 라이선스</a:t>
            </a:r>
          </a:p>
        </p:txBody>
      </p:sp>
      <p:cxnSp>
        <p:nvCxnSpPr>
          <p:cNvPr id="345" name="Connector 345"/>
          <p:cNvCxnSpPr/>
          <p:nvPr/>
        </p:nvCxnSpPr>
        <p:spPr>
          <a:xfrm>
            <a:off x="6976872" y="3200400"/>
            <a:ext cx="0" cy="201168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sp>
        <p:nvSpPr>
          <p:cNvPr id="346" name="proc 346"/>
          <p:cNvSpPr/>
          <p:nvPr/>
        </p:nvSpPr>
        <p:spPr>
          <a:xfrm>
            <a:off x="7726680" y="3401568"/>
            <a:ext cx="10972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계정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로그인·로그아웃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회원 탈퇴</a:t>
            </a:r>
          </a:p>
        </p:txBody>
      </p:sp>
      <p:cxnSp>
        <p:nvCxnSpPr>
          <p:cNvPr id="347" name="Connector 347"/>
          <p:cNvCxnSpPr/>
          <p:nvPr/>
        </p:nvCxnSpPr>
        <p:spPr>
          <a:xfrm>
            <a:off x="8275320" y="3200400"/>
            <a:ext cx="0" cy="201168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sp>
        <p:nvSpPr>
          <p:cNvPr id="348" name="TextBox 348"/>
          <p:cNvSpPr txBox="1"/>
          <p:nvPr/>
        </p:nvSpPr>
        <p:spPr>
          <a:xfrm>
            <a:off x="320040" y="4251960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※ ‘앞 상황’ 계산은 홈 탭이 하고 앞길·기록 탭은 받아서 그림 · 돌발 지점을 지나도 한 건 기록 · 기록은 이 휴대폰에만 최근 200건 · 오픈소스 라이선스 111개 고지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6" name="Google Shape;76;p2"/>
          <p:cNvSpPr txBox="1"/>
          <p:nvPr/>
        </p:nvSpPr>
        <p:spPr>
          <a:xfrm>
            <a:off x="251520" y="5853"/>
            <a:ext cx="4320480" cy="252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05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algun Gothic"/>
              <a:buNone/>
            </a:pPr>
            <a:r>
              <a:rPr lang="en-US" sz="17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흐름도(AI 기능 · 9~10주 예정)</a:t>
            </a:r>
            <a:endParaRPr sz="1700" b="1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" name="Google Shape;77;p2"/>
          <p:cNvSpPr txBox="1"/>
          <p:nvPr/>
        </p:nvSpPr>
        <p:spPr>
          <a:xfrm>
            <a:off x="6336198" y="51472"/>
            <a:ext cx="2556284" cy="288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45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졸업하자</a:t>
            </a:r>
            <a:endParaRPr sz="17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" name="Terminator 79"/>
          <p:cNvSpPr/>
          <p:nvPr/>
        </p:nvSpPr>
        <p:spPr>
          <a:xfrm>
            <a:off x="4617720" y="562356"/>
            <a:ext cx="237744" cy="155448"/>
          </a:xfrm>
          <a:prstGeom prst="flowChartTerminator">
            <a:avLst/>
          </a:prstGeom>
          <a:solidFill>
            <a:srgbClr val="D9D9D9"/>
          </a:solidFill>
          <a:ln w="9525">
            <a:solidFill>
              <a:srgbClr val="7F7F7F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892040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시작/끝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221224" y="562356"/>
            <a:ext cx="237744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495544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처리</a:t>
            </a:r>
          </a:p>
        </p:txBody>
      </p:sp>
      <p:sp>
        <p:nvSpPr>
          <p:cNvPr id="84" name="Decision 83"/>
          <p:cNvSpPr/>
          <p:nvPr/>
        </p:nvSpPr>
        <p:spPr>
          <a:xfrm>
            <a:off x="5824728" y="562356"/>
            <a:ext cx="237744" cy="155448"/>
          </a:xfrm>
          <a:prstGeom prst="flowChartDecision">
            <a:avLst/>
          </a:prstGeom>
          <a:solidFill>
            <a:srgbClr val="FFF4D6"/>
          </a:solidFill>
          <a:ln w="9525">
            <a:solidFill>
              <a:srgbClr val="E08A00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099048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86" name="Data 85"/>
          <p:cNvSpPr/>
          <p:nvPr/>
        </p:nvSpPr>
        <p:spPr>
          <a:xfrm>
            <a:off x="6428231" y="562356"/>
            <a:ext cx="237744" cy="155448"/>
          </a:xfrm>
          <a:prstGeom prst="flowChartInputOutput">
            <a:avLst/>
          </a:prstGeom>
          <a:solidFill>
            <a:srgbClr val="E4F3F4"/>
          </a:solidFill>
          <a:ln w="9525">
            <a:solidFill>
              <a:srgbClr val="0E7C86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702551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88" name="Document 87"/>
          <p:cNvSpPr/>
          <p:nvPr/>
        </p:nvSpPr>
        <p:spPr>
          <a:xfrm>
            <a:off x="7031736" y="562356"/>
            <a:ext cx="237744" cy="155448"/>
          </a:xfrm>
          <a:prstGeom prst="flowChartDocument">
            <a:avLst/>
          </a:prstGeom>
          <a:solidFill>
            <a:srgbClr val="EAF0F8"/>
          </a:solidFill>
          <a:ln w="9525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306055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화면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635240" y="562356"/>
            <a:ext cx="237744" cy="155448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909560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예외</a:t>
            </a:r>
          </a:p>
        </p:txBody>
      </p:sp>
      <p:sp>
        <p:nvSpPr>
          <p:cNvPr id="92" name="Magnetic Disk 91"/>
          <p:cNvSpPr/>
          <p:nvPr/>
        </p:nvSpPr>
        <p:spPr>
          <a:xfrm>
            <a:off x="8238744" y="562356"/>
            <a:ext cx="237744" cy="155448"/>
          </a:xfrm>
          <a:prstGeom prst="flowChartMagneticDisk">
            <a:avLst/>
          </a:prstGeom>
          <a:solidFill>
            <a:srgbClr val="DDE7F3"/>
          </a:solidFill>
          <a:ln w="9525">
            <a:solidFill>
              <a:srgbClr val="1F3F73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513064" y="576072"/>
            <a:ext cx="3291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데이터</a:t>
            </a:r>
          </a:p>
        </p:txBody>
      </p:sp>
      <p:sp>
        <p:nvSpPr>
          <p:cNvPr id="301" name="TextBox 301"/>
          <p:cNvSpPr txBox="1"/>
          <p:nvPr/>
        </p:nvSpPr>
        <p:spPr>
          <a:xfrm>
            <a:off x="320040" y="457200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F3F73"/>
                </a:solidFill>
                <a:latin typeface="Malgun Gothic"/>
                <a:ea typeface="Malgun Gothic"/>
                <a:cs typeface="Malgun Gothic"/>
              </a:rPr>
              <a:t>우리 차 찾기 · 앞길 자동 기록</a:t>
            </a:r>
          </a:p>
        </p:txBody>
      </p:sp>
      <p:sp>
        <p:nvSpPr>
          <p:cNvPr id="302" name="TextBox 302"/>
          <p:cNvSpPr txBox="1"/>
          <p:nvPr/>
        </p:nvSpPr>
        <p:spPr>
          <a:xfrm>
            <a:off x="320040" y="713232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□ 점선은 9~10주에 개발할 흐름(아직 없음), 실선은 지금 앱에 있는 단계</a:t>
            </a:r>
          </a:p>
        </p:txBody>
      </p:sp>
      <p:sp>
        <p:nvSpPr>
          <p:cNvPr id="303" name="Shape 303"/>
          <p:cNvSpPr/>
          <p:nvPr/>
        </p:nvSpPr>
        <p:spPr>
          <a:xfrm>
            <a:off x="320039" y="960120"/>
            <a:ext cx="8503920" cy="1143000"/>
          </a:xfrm>
          <a:prstGeom prst="rect">
            <a:avLst/>
          </a:prstGeom>
          <a:solidFill>
            <a:srgbClr val="F7F9FC"/>
          </a:solidFill>
          <a:ln w="9525">
            <a:solidFill>
              <a:srgbClr val="D5DCE6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304" name="Shape 304"/>
          <p:cNvSpPr/>
          <p:nvPr/>
        </p:nvSpPr>
        <p:spPr>
          <a:xfrm>
            <a:off x="320040" y="960120"/>
            <a:ext cx="822960" cy="1143000"/>
          </a:xfrm>
          <a:prstGeom prst="rect">
            <a:avLst/>
          </a:prstGeom>
          <a:solidFill>
            <a:srgbClr val="1F3F73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① 우리 차</a:t>
            </a:r>
          </a:p>
          <a:p>
            <a:pPr algn="ctr"/>
            <a:r>
              <a: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찾기</a:t>
            </a:r>
          </a:p>
        </p:txBody>
      </p:sp>
      <p:sp>
        <p:nvSpPr>
          <p:cNvPr id="305" name="term 305"/>
          <p:cNvSpPr/>
          <p:nvPr/>
        </p:nvSpPr>
        <p:spPr>
          <a:xfrm>
            <a:off x="1234440" y="1239012"/>
            <a:ext cx="1097280" cy="402336"/>
          </a:xfrm>
          <a:prstGeom prst="flowChartTerminator">
            <a:avLst/>
          </a:prstGeom>
          <a:solidFill>
            <a:srgbClr val="D9D9D9"/>
          </a:solidFill>
          <a:ln w="12700">
            <a:solidFill>
              <a:srgbClr val="7F7F7F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내 앞 CCTV 재생 중</a:t>
            </a:r>
          </a:p>
        </p:txBody>
      </p:sp>
      <p:sp>
        <p:nvSpPr>
          <p:cNvPr id="306" name="proc 306"/>
          <p:cNvSpPr/>
          <p:nvPr/>
        </p:nvSpPr>
        <p:spPr>
          <a:xfrm>
            <a:off x="2532888" y="1184148"/>
            <a:ext cx="1097280" cy="512064"/>
          </a:xfrm>
          <a:prstGeom prst="rect">
            <a:avLst/>
          </a:prstGeom>
          <a:solidFill>
            <a:srgbClr val="F7F9FC"/>
          </a:solidFill>
          <a:ln w="12700">
            <a:solidFill>
              <a:srgbClr val="1F3F73"/>
            </a:solidFill>
            <a:prstDash val="dash"/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통과 순간 계산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GPS 위치·속도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(영상 지연 보정)</a:t>
            </a:r>
          </a:p>
        </p:txBody>
      </p:sp>
      <p:sp>
        <p:nvSpPr>
          <p:cNvPr id="307" name="proc 307"/>
          <p:cNvSpPr/>
          <p:nvPr/>
        </p:nvSpPr>
        <p:spPr>
          <a:xfrm>
            <a:off x="3831336" y="1184148"/>
            <a:ext cx="1097280" cy="512064"/>
          </a:xfrm>
          <a:prstGeom prst="rect">
            <a:avLst/>
          </a:prstGeom>
          <a:solidFill>
            <a:srgbClr val="F7F9FC"/>
          </a:solidFill>
          <a:ln w="12700">
            <a:solidFill>
              <a:srgbClr val="1F3F73"/>
            </a:solidFill>
            <a:prstDash val="dash"/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AI 차 검출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MediaPipe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차·버스·트럭</a:t>
            </a:r>
          </a:p>
        </p:txBody>
      </p:sp>
      <p:sp>
        <p:nvSpPr>
          <p:cNvPr id="308" name="dec 308"/>
          <p:cNvSpPr/>
          <p:nvPr/>
        </p:nvSpPr>
        <p:spPr>
          <a:xfrm>
            <a:off x="5129784" y="1165860"/>
            <a:ext cx="1097280" cy="548640"/>
          </a:xfrm>
          <a:prstGeom prst="flowChartDecision">
            <a:avLst/>
          </a:prstGeom>
          <a:solidFill>
            <a:srgbClr val="FFF4D6"/>
          </a:solidFill>
          <a:ln w="12700">
            <a:solidFill>
              <a:srgbClr val="E08A00"/>
            </a:solidFill>
            <a:prstDash val="dash"/>
          </a:ln>
        </p:spPr>
        <p:txBody>
          <a:bodyPr wrap="none" lIns="36576" tIns="9144" rIns="36576" bIns="9144" rtlCol="0" anchor="ctr"/>
          <a:lstStyle/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내 쪽 차로에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차 있음?</a:t>
            </a:r>
          </a:p>
        </p:txBody>
      </p:sp>
      <p:sp>
        <p:nvSpPr>
          <p:cNvPr id="309" name="doc 309"/>
          <p:cNvSpPr/>
          <p:nvPr/>
        </p:nvSpPr>
        <p:spPr>
          <a:xfrm>
            <a:off x="6428232" y="1184148"/>
            <a:ext cx="1097280" cy="512064"/>
          </a:xfrm>
          <a:prstGeom prst="flowChartDocument">
            <a:avLst/>
          </a:prstGeom>
          <a:solidFill>
            <a:srgbClr val="F7F9FC"/>
          </a:solidFill>
          <a:ln w="12700">
            <a:solidFill>
              <a:srgbClr val="1F3F73"/>
            </a:solidFill>
            <a:prstDash val="dash"/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‘우리 차?’ 표시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“우리 차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지나간다!”</a:t>
            </a:r>
          </a:p>
        </p:txBody>
      </p:sp>
      <p:sp>
        <p:nvSpPr>
          <p:cNvPr id="310" name="term 310"/>
          <p:cNvSpPr/>
          <p:nvPr/>
        </p:nvSpPr>
        <p:spPr>
          <a:xfrm>
            <a:off x="7726680" y="1239012"/>
            <a:ext cx="1097280" cy="402336"/>
          </a:xfrm>
          <a:prstGeom prst="flowChartTerminator">
            <a:avLst/>
          </a:prstGeom>
          <a:solidFill>
            <a:srgbClr val="D9D9D9"/>
          </a:solidFill>
          <a:ln w="12700">
            <a:solidFill>
              <a:srgbClr val="7F7F7F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끝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계속 재생</a:t>
            </a:r>
          </a:p>
        </p:txBody>
      </p:sp>
      <p:cxnSp>
        <p:nvCxnSpPr>
          <p:cNvPr id="311" name="Connector 311"/>
          <p:cNvCxnSpPr/>
          <p:nvPr/>
        </p:nvCxnSpPr>
        <p:spPr>
          <a:xfrm>
            <a:off x="2331720" y="1440180"/>
            <a:ext cx="201168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12" name="Connector 312"/>
          <p:cNvCxnSpPr/>
          <p:nvPr/>
        </p:nvCxnSpPr>
        <p:spPr>
          <a:xfrm>
            <a:off x="3630168" y="1440180"/>
            <a:ext cx="201168" cy="0"/>
          </a:xfrm>
          <a:prstGeom prst="line">
            <a:avLst/>
          </a:prstGeom>
          <a:ln w="12700">
            <a:solidFill>
              <a:srgbClr val="595959"/>
            </a:solidFill>
            <a:prstDash val="dash"/>
            <a:tailEnd type="triangle"/>
          </a:ln>
        </p:spPr>
      </p:cxnSp>
      <p:cxnSp>
        <p:nvCxnSpPr>
          <p:cNvPr id="313" name="Connector 313"/>
          <p:cNvCxnSpPr/>
          <p:nvPr/>
        </p:nvCxnSpPr>
        <p:spPr>
          <a:xfrm>
            <a:off x="4928616" y="1440180"/>
            <a:ext cx="201168" cy="0"/>
          </a:xfrm>
          <a:prstGeom prst="line">
            <a:avLst/>
          </a:prstGeom>
          <a:ln w="12700">
            <a:solidFill>
              <a:srgbClr val="595959"/>
            </a:solidFill>
            <a:prstDash val="dash"/>
            <a:tailEnd type="triangle"/>
          </a:ln>
        </p:spPr>
      </p:cxnSp>
      <p:cxnSp>
        <p:nvCxnSpPr>
          <p:cNvPr id="314" name="Connector 314"/>
          <p:cNvCxnSpPr/>
          <p:nvPr/>
        </p:nvCxnSpPr>
        <p:spPr>
          <a:xfrm>
            <a:off x="6227064" y="1440180"/>
            <a:ext cx="201168" cy="0"/>
          </a:xfrm>
          <a:prstGeom prst="line">
            <a:avLst/>
          </a:prstGeom>
          <a:ln w="12700">
            <a:solidFill>
              <a:srgbClr val="595959"/>
            </a:solidFill>
            <a:prstDash val="dash"/>
            <a:tailEnd type="triangle"/>
          </a:ln>
        </p:spPr>
      </p:cxnSp>
      <p:cxnSp>
        <p:nvCxnSpPr>
          <p:cNvPr id="315" name="Connector 315"/>
          <p:cNvCxnSpPr/>
          <p:nvPr/>
        </p:nvCxnSpPr>
        <p:spPr>
          <a:xfrm>
            <a:off x="7525512" y="1440180"/>
            <a:ext cx="201168" cy="0"/>
          </a:xfrm>
          <a:prstGeom prst="line">
            <a:avLst/>
          </a:prstGeom>
          <a:ln w="12700">
            <a:solidFill>
              <a:srgbClr val="595959"/>
            </a:solidFill>
            <a:prstDash val="dash"/>
            <a:tailEnd type="triangle"/>
          </a:ln>
        </p:spPr>
      </p:cxnSp>
      <p:sp>
        <p:nvSpPr>
          <p:cNvPr id="316" name="TextBox 316"/>
          <p:cNvSpPr txBox="1"/>
          <p:nvPr/>
        </p:nvSpPr>
        <p:spPr>
          <a:xfrm>
            <a:off x="6272784" y="1284732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Y</a:t>
            </a:r>
          </a:p>
        </p:txBody>
      </p:sp>
      <p:cxnSp>
        <p:nvCxnSpPr>
          <p:cNvPr id="317" name="Connector 317"/>
          <p:cNvCxnSpPr/>
          <p:nvPr/>
        </p:nvCxnSpPr>
        <p:spPr>
          <a:xfrm>
            <a:off x="5678424" y="1714500"/>
            <a:ext cx="0" cy="245500"/>
          </a:xfrm>
          <a:prstGeom prst="line">
            <a:avLst/>
          </a:prstGeom>
          <a:ln w="12700">
            <a:solidFill>
              <a:srgbClr val="595959"/>
            </a:solidFill>
            <a:prstDash val="dash"/>
          </a:ln>
        </p:spPr>
      </p:cxnSp>
      <p:cxnSp>
        <p:nvCxnSpPr>
          <p:cNvPr id="318" name="Connector 318"/>
          <p:cNvCxnSpPr/>
          <p:nvPr/>
        </p:nvCxnSpPr>
        <p:spPr>
          <a:xfrm>
            <a:off x="5678424" y="1960000"/>
            <a:ext cx="2596896" cy="0"/>
          </a:xfrm>
          <a:prstGeom prst="line">
            <a:avLst/>
          </a:prstGeom>
          <a:ln w="12700">
            <a:solidFill>
              <a:srgbClr val="595959"/>
            </a:solidFill>
            <a:prstDash val="dash"/>
          </a:ln>
        </p:spPr>
      </p:cxnSp>
      <p:cxnSp>
        <p:nvCxnSpPr>
          <p:cNvPr id="319" name="Connector 319"/>
          <p:cNvCxnSpPr/>
          <p:nvPr/>
        </p:nvCxnSpPr>
        <p:spPr>
          <a:xfrm flipV="1">
            <a:off x="8275320" y="1641348"/>
            <a:ext cx="0" cy="318652"/>
          </a:xfrm>
          <a:prstGeom prst="line">
            <a:avLst/>
          </a:prstGeom>
          <a:ln w="12700">
            <a:solidFill>
              <a:srgbClr val="595959"/>
            </a:solidFill>
            <a:prstDash val="dash"/>
            <a:tailEnd type="triangle"/>
          </a:ln>
        </p:spPr>
      </p:cxnSp>
      <p:sp>
        <p:nvSpPr>
          <p:cNvPr id="320" name="TextBox 320"/>
          <p:cNvSpPr txBox="1"/>
          <p:nvPr/>
        </p:nvSpPr>
        <p:spPr>
          <a:xfrm>
            <a:off x="5733288" y="1740180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N</a:t>
            </a:r>
          </a:p>
        </p:txBody>
      </p:sp>
      <p:sp>
        <p:nvSpPr>
          <p:cNvPr id="321" name="TextBox 321"/>
          <p:cNvSpPr txBox="1"/>
          <p:nvPr/>
        </p:nvSpPr>
        <p:spPr>
          <a:xfrm>
            <a:off x="6526872" y="1800000"/>
            <a:ext cx="9000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표시 안 함</a:t>
            </a:r>
          </a:p>
        </p:txBody>
      </p:sp>
      <p:sp>
        <p:nvSpPr>
          <p:cNvPr id="322" name="Shape 322"/>
          <p:cNvSpPr/>
          <p:nvPr/>
        </p:nvSpPr>
        <p:spPr>
          <a:xfrm>
            <a:off x="320039" y="2148840"/>
            <a:ext cx="8503920" cy="1143000"/>
          </a:xfrm>
          <a:prstGeom prst="rect">
            <a:avLst/>
          </a:prstGeom>
          <a:solidFill>
            <a:srgbClr val="F7F9FC"/>
          </a:solidFill>
          <a:ln w="9525">
            <a:solidFill>
              <a:srgbClr val="D5DCE6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323" name="Shape 323"/>
          <p:cNvSpPr/>
          <p:nvPr/>
        </p:nvSpPr>
        <p:spPr>
          <a:xfrm>
            <a:off x="320040" y="2148840"/>
            <a:ext cx="822960" cy="1143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② 앞길</a:t>
            </a:r>
          </a:p>
          <a:p>
            <a:pPr algn="ctr"/>
            <a:r>
              <a: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자동 기록</a:t>
            </a:r>
          </a:p>
        </p:txBody>
      </p:sp>
      <p:sp>
        <p:nvSpPr>
          <p:cNvPr id="324" name="data 324"/>
          <p:cNvSpPr/>
          <p:nvPr/>
        </p:nvSpPr>
        <p:spPr>
          <a:xfrm>
            <a:off x="1234440" y="2400300"/>
            <a:ext cx="1097280" cy="457200"/>
          </a:xfrm>
          <a:prstGeom prst="flowChartInputOutput">
            <a:avLst/>
          </a:prstGeom>
          <a:solidFill>
            <a:srgbClr val="E4F3F4"/>
          </a:solidFill>
          <a:ln w="12700">
            <a:solidFill>
              <a:srgbClr val="0E7C86"/>
            </a:solidFill>
          </a:ln>
        </p:spPr>
        <p:txBody>
          <a:bodyPr wrap="none" lIns="36576" tIns="9144" rIns="36576" bIns="9144" rtlCol="0" anchor="ctr"/>
          <a:lstStyle/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목적지 입력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(경로 위 CCTV)</a:t>
            </a:r>
          </a:p>
        </p:txBody>
      </p:sp>
      <p:sp>
        <p:nvSpPr>
          <p:cNvPr id="325" name="dec 325"/>
          <p:cNvSpPr/>
          <p:nvPr/>
        </p:nvSpPr>
        <p:spPr>
          <a:xfrm>
            <a:off x="2532888" y="2354580"/>
            <a:ext cx="1097280" cy="548640"/>
          </a:xfrm>
          <a:prstGeom prst="flowChartDecision">
            <a:avLst/>
          </a:prstGeom>
          <a:solidFill>
            <a:srgbClr val="FFF4D6"/>
          </a:solidFill>
          <a:ln w="12700">
            <a:solidFill>
              <a:srgbClr val="E08A00"/>
            </a:solidFill>
            <a:prstDash val="dash"/>
          </a:ln>
        </p:spPr>
        <p:txBody>
          <a:bodyPr wrap="none" lIns="36576" tIns="9144" rIns="36576" bIns="9144" rtlCol="0" anchor="ctr"/>
          <a:lstStyle/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정체·사고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지점인가?</a:t>
            </a:r>
          </a:p>
        </p:txBody>
      </p:sp>
      <p:sp>
        <p:nvSpPr>
          <p:cNvPr id="326" name="proc 326"/>
          <p:cNvSpPr/>
          <p:nvPr/>
        </p:nvSpPr>
        <p:spPr>
          <a:xfrm>
            <a:off x="3831336" y="2400300"/>
            <a:ext cx="1097280" cy="457200"/>
          </a:xfrm>
          <a:prstGeom prst="rect">
            <a:avLst/>
          </a:prstGeom>
          <a:solidFill>
            <a:srgbClr val="F7F9FC"/>
          </a:solidFill>
          <a:ln w="12700">
            <a:solidFill>
              <a:srgbClr val="1F3F73"/>
            </a:solidFill>
            <a:prstDash val="dash"/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그 CCTV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자동 캡처</a:t>
            </a:r>
          </a:p>
        </p:txBody>
      </p:sp>
      <p:sp>
        <p:nvSpPr>
          <p:cNvPr id="327" name="proc 327"/>
          <p:cNvSpPr/>
          <p:nvPr/>
        </p:nvSpPr>
        <p:spPr>
          <a:xfrm>
            <a:off x="5129784" y="2372868"/>
            <a:ext cx="1097280" cy="512064"/>
          </a:xfrm>
          <a:prstGeom prst="rect">
            <a:avLst/>
          </a:prstGeom>
          <a:solidFill>
            <a:srgbClr val="F7F9FC"/>
          </a:solidFill>
          <a:ln w="12700">
            <a:solidFill>
              <a:srgbClr val="1F3F73"/>
            </a:solidFill>
            <a:prstDash val="dash"/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AI 판별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정체·서행·원활</a:t>
            </a:r>
          </a:p>
        </p:txBody>
      </p:sp>
      <p:sp>
        <p:nvSpPr>
          <p:cNvPr id="328" name="disk 328"/>
          <p:cNvSpPr/>
          <p:nvPr/>
        </p:nvSpPr>
        <p:spPr>
          <a:xfrm>
            <a:off x="6428232" y="2372868"/>
            <a:ext cx="1097280" cy="512064"/>
          </a:xfrm>
          <a:prstGeom prst="flowChartMagneticDisk">
            <a:avLst/>
          </a:prstGeom>
          <a:solidFill>
            <a:srgbClr val="F7F9FC"/>
          </a:solidFill>
          <a:ln w="12700">
            <a:solidFill>
              <a:srgbClr val="1F3F73"/>
            </a:solidFill>
            <a:prstDash val="dash"/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기록 저장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시각·위치·판별</a:t>
            </a:r>
          </a:p>
        </p:txBody>
      </p:sp>
      <p:sp>
        <p:nvSpPr>
          <p:cNvPr id="329" name="doc 329"/>
          <p:cNvSpPr/>
          <p:nvPr/>
        </p:nvSpPr>
        <p:spPr>
          <a:xfrm>
            <a:off x="7726680" y="2372868"/>
            <a:ext cx="1097280" cy="512064"/>
          </a:xfrm>
          <a:prstGeom prst="flowChartDocument">
            <a:avLst/>
          </a:prstGeom>
          <a:solidFill>
            <a:srgbClr val="F7F9FC"/>
          </a:solidFill>
          <a:ln w="12700">
            <a:solidFill>
              <a:srgbClr val="1F3F73"/>
            </a:solidFill>
            <a:prstDash val="dash"/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기록 탭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시간순 정리</a:t>
            </a:r>
          </a:p>
        </p:txBody>
      </p:sp>
      <p:cxnSp>
        <p:nvCxnSpPr>
          <p:cNvPr id="330" name="Connector 330"/>
          <p:cNvCxnSpPr/>
          <p:nvPr/>
        </p:nvCxnSpPr>
        <p:spPr>
          <a:xfrm>
            <a:off x="2331720" y="2628900"/>
            <a:ext cx="201168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</p:cxnSp>
      <p:cxnSp>
        <p:nvCxnSpPr>
          <p:cNvPr id="331" name="Connector 331"/>
          <p:cNvCxnSpPr/>
          <p:nvPr/>
        </p:nvCxnSpPr>
        <p:spPr>
          <a:xfrm>
            <a:off x="3630168" y="2628900"/>
            <a:ext cx="201168" cy="0"/>
          </a:xfrm>
          <a:prstGeom prst="line">
            <a:avLst/>
          </a:prstGeom>
          <a:ln w="12700">
            <a:solidFill>
              <a:srgbClr val="595959"/>
            </a:solidFill>
            <a:prstDash val="dash"/>
            <a:tailEnd type="triangle"/>
          </a:ln>
        </p:spPr>
      </p:cxnSp>
      <p:cxnSp>
        <p:nvCxnSpPr>
          <p:cNvPr id="332" name="Connector 332"/>
          <p:cNvCxnSpPr/>
          <p:nvPr/>
        </p:nvCxnSpPr>
        <p:spPr>
          <a:xfrm>
            <a:off x="4928616" y="2628900"/>
            <a:ext cx="201168" cy="0"/>
          </a:xfrm>
          <a:prstGeom prst="line">
            <a:avLst/>
          </a:prstGeom>
          <a:ln w="12700">
            <a:solidFill>
              <a:srgbClr val="595959"/>
            </a:solidFill>
            <a:prstDash val="dash"/>
            <a:tailEnd type="triangle"/>
          </a:ln>
        </p:spPr>
      </p:cxnSp>
      <p:cxnSp>
        <p:nvCxnSpPr>
          <p:cNvPr id="333" name="Connector 333"/>
          <p:cNvCxnSpPr/>
          <p:nvPr/>
        </p:nvCxnSpPr>
        <p:spPr>
          <a:xfrm>
            <a:off x="6227064" y="2628900"/>
            <a:ext cx="201168" cy="0"/>
          </a:xfrm>
          <a:prstGeom prst="line">
            <a:avLst/>
          </a:prstGeom>
          <a:ln w="12700">
            <a:solidFill>
              <a:srgbClr val="595959"/>
            </a:solidFill>
            <a:prstDash val="dash"/>
            <a:tailEnd type="triangle"/>
          </a:ln>
        </p:spPr>
      </p:cxnSp>
      <p:cxnSp>
        <p:nvCxnSpPr>
          <p:cNvPr id="334" name="Connector 334"/>
          <p:cNvCxnSpPr/>
          <p:nvPr/>
        </p:nvCxnSpPr>
        <p:spPr>
          <a:xfrm>
            <a:off x="7525512" y="2628900"/>
            <a:ext cx="201168" cy="0"/>
          </a:xfrm>
          <a:prstGeom prst="line">
            <a:avLst/>
          </a:prstGeom>
          <a:ln w="12700">
            <a:solidFill>
              <a:srgbClr val="595959"/>
            </a:solidFill>
            <a:prstDash val="dash"/>
            <a:tailEnd type="triangle"/>
          </a:ln>
        </p:spPr>
      </p:cxnSp>
      <p:sp>
        <p:nvSpPr>
          <p:cNvPr id="335" name="TextBox 335"/>
          <p:cNvSpPr txBox="1"/>
          <p:nvPr/>
        </p:nvSpPr>
        <p:spPr>
          <a:xfrm>
            <a:off x="3675888" y="2473452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Y</a:t>
            </a:r>
          </a:p>
        </p:txBody>
      </p:sp>
      <p:cxnSp>
        <p:nvCxnSpPr>
          <p:cNvPr id="336" name="Connector 336"/>
          <p:cNvCxnSpPr/>
          <p:nvPr/>
        </p:nvCxnSpPr>
        <p:spPr>
          <a:xfrm>
            <a:off x="3081528" y="2903220"/>
            <a:ext cx="0" cy="246780"/>
          </a:xfrm>
          <a:prstGeom prst="line">
            <a:avLst/>
          </a:prstGeom>
          <a:ln w="12700">
            <a:solidFill>
              <a:srgbClr val="595959"/>
            </a:solidFill>
            <a:prstDash val="dash"/>
          </a:ln>
        </p:spPr>
      </p:cxnSp>
      <p:cxnSp>
        <p:nvCxnSpPr>
          <p:cNvPr id="337" name="Connector 337"/>
          <p:cNvCxnSpPr/>
          <p:nvPr/>
        </p:nvCxnSpPr>
        <p:spPr>
          <a:xfrm flipH="1">
            <a:off x="1783080" y="3150000"/>
            <a:ext cx="1298448" cy="0"/>
          </a:xfrm>
          <a:prstGeom prst="line">
            <a:avLst/>
          </a:prstGeom>
          <a:ln w="12700">
            <a:solidFill>
              <a:srgbClr val="595959"/>
            </a:solidFill>
            <a:prstDash val="dash"/>
          </a:ln>
        </p:spPr>
      </p:cxnSp>
      <p:cxnSp>
        <p:nvCxnSpPr>
          <p:cNvPr id="338" name="Connector 338"/>
          <p:cNvCxnSpPr/>
          <p:nvPr/>
        </p:nvCxnSpPr>
        <p:spPr>
          <a:xfrm flipV="1">
            <a:off x="1783080" y="2857500"/>
            <a:ext cx="0" cy="292500"/>
          </a:xfrm>
          <a:prstGeom prst="line">
            <a:avLst/>
          </a:prstGeom>
          <a:ln w="12700">
            <a:solidFill>
              <a:srgbClr val="595959"/>
            </a:solidFill>
            <a:prstDash val="dash"/>
            <a:tailEnd type="triangle"/>
          </a:ln>
        </p:spPr>
      </p:cxnSp>
      <p:sp>
        <p:nvSpPr>
          <p:cNvPr id="339" name="TextBox 339"/>
          <p:cNvSpPr txBox="1"/>
          <p:nvPr/>
        </p:nvSpPr>
        <p:spPr>
          <a:xfrm>
            <a:off x="3136392" y="2928900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N</a:t>
            </a:r>
          </a:p>
        </p:txBody>
      </p:sp>
      <p:sp>
        <p:nvSpPr>
          <p:cNvPr id="340" name="TextBox 340"/>
          <p:cNvSpPr txBox="1"/>
          <p:nvPr/>
        </p:nvSpPr>
        <p:spPr>
          <a:xfrm>
            <a:off x="1883080" y="3170000"/>
            <a:ext cx="11000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계속 확인</a:t>
            </a:r>
          </a:p>
        </p:txBody>
      </p:sp>
      <p:sp>
        <p:nvSpPr>
          <p:cNvPr id="341" name="Shape 341"/>
          <p:cNvSpPr/>
          <p:nvPr/>
        </p:nvSpPr>
        <p:spPr>
          <a:xfrm>
            <a:off x="320039" y="3420000"/>
            <a:ext cx="8503920" cy="50292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9525">
            <a:solidFill>
              <a:srgbClr val="C9D3E0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342" name="Shape 342"/>
          <p:cNvSpPr/>
          <p:nvPr/>
        </p:nvSpPr>
        <p:spPr>
          <a:xfrm>
            <a:off x="320040" y="3420000"/>
            <a:ext cx="914400" cy="50292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남은 과제</a:t>
            </a:r>
          </a:p>
        </p:txBody>
      </p:sp>
      <p:sp>
        <p:nvSpPr>
          <p:cNvPr id="343" name="TextBox 343"/>
          <p:cNvSpPr txBox="1"/>
          <p:nvPr/>
        </p:nvSpPr>
        <p:spPr>
          <a:xfrm>
            <a:off x="1399032" y="3474864"/>
            <a:ext cx="172821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시각 맞추기</a:t>
            </a:r>
          </a:p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CCTV 몇 초 지연 vs GPS</a:t>
            </a:r>
          </a:p>
        </p:txBody>
      </p:sp>
      <p:cxnSp>
        <p:nvCxnSpPr>
          <p:cNvPr id="344" name="Connector 344"/>
          <p:cNvCxnSpPr/>
          <p:nvPr/>
        </p:nvCxnSpPr>
        <p:spPr>
          <a:xfrm>
            <a:off x="3182112" y="3529728"/>
            <a:ext cx="0" cy="283464"/>
          </a:xfrm>
          <a:prstGeom prst="line">
            <a:avLst/>
          </a:prstGeom>
          <a:ln w="9525">
            <a:solidFill>
              <a:srgbClr val="C9D3E0"/>
            </a:solidFill>
            <a:prstDash val="dash"/>
          </a:ln>
        </p:spPr>
      </p:cxnSp>
      <p:sp>
        <p:nvSpPr>
          <p:cNvPr id="345" name="TextBox 345"/>
          <p:cNvSpPr txBox="1"/>
          <p:nvPr/>
        </p:nvSpPr>
        <p:spPr>
          <a:xfrm>
            <a:off x="3255264" y="3474864"/>
            <a:ext cx="172821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캡처 저장</a:t>
            </a:r>
          </a:p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CCTV 이용 조건 확인 후</a:t>
            </a:r>
          </a:p>
        </p:txBody>
      </p:sp>
      <p:cxnSp>
        <p:nvCxnSpPr>
          <p:cNvPr id="346" name="Connector 346"/>
          <p:cNvCxnSpPr/>
          <p:nvPr/>
        </p:nvCxnSpPr>
        <p:spPr>
          <a:xfrm>
            <a:off x="5038344" y="3529728"/>
            <a:ext cx="0" cy="283464"/>
          </a:xfrm>
          <a:prstGeom prst="line">
            <a:avLst/>
          </a:prstGeom>
          <a:ln w="9525">
            <a:solidFill>
              <a:srgbClr val="C9D3E0"/>
            </a:solidFill>
            <a:prstDash val="dash"/>
          </a:ln>
        </p:spPr>
      </p:cxnSp>
      <p:sp>
        <p:nvSpPr>
          <p:cNvPr id="347" name="TextBox 347"/>
          <p:cNvSpPr txBox="1"/>
          <p:nvPr/>
        </p:nvSpPr>
        <p:spPr>
          <a:xfrm>
            <a:off x="5111496" y="3474864"/>
            <a:ext cx="172821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정확도 목표</a:t>
            </a:r>
          </a:p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AI 판별 80%</a:t>
            </a:r>
          </a:p>
        </p:txBody>
      </p:sp>
      <p:cxnSp>
        <p:nvCxnSpPr>
          <p:cNvPr id="348" name="Connector 348"/>
          <p:cNvCxnSpPr/>
          <p:nvPr/>
        </p:nvCxnSpPr>
        <p:spPr>
          <a:xfrm>
            <a:off x="6894576" y="3529728"/>
            <a:ext cx="0" cy="283464"/>
          </a:xfrm>
          <a:prstGeom prst="line">
            <a:avLst/>
          </a:prstGeom>
          <a:ln w="9525">
            <a:solidFill>
              <a:srgbClr val="C9D3E0"/>
            </a:solidFill>
            <a:prstDash val="dash"/>
          </a:ln>
        </p:spPr>
      </p:cxnSp>
      <p:sp>
        <p:nvSpPr>
          <p:cNvPr id="349" name="TextBox 349"/>
          <p:cNvSpPr txBox="1"/>
          <p:nvPr/>
        </p:nvSpPr>
        <p:spPr>
          <a:xfrm>
            <a:off x="6967728" y="3474864"/>
            <a:ext cx="172821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일정</a:t>
            </a:r>
          </a:p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9~10주 개발·11주 앱 연결</a:t>
            </a:r>
          </a:p>
        </p:txBody>
      </p:sp>
      <p:sp>
        <p:nvSpPr>
          <p:cNvPr id="350" name="Shape 350"/>
          <p:cNvSpPr/>
          <p:nvPr/>
        </p:nvSpPr>
        <p:spPr>
          <a:xfrm>
            <a:off x="320039" y="3990000"/>
            <a:ext cx="8503920" cy="50292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9525">
            <a:solidFill>
              <a:srgbClr val="C9D3E0"/>
            </a:solidFill>
          </a:ln>
        </p:spPr>
        <p:txBody>
          <a:bodyPr wrap="square" lIns="36576" tIns="9144" rIns="36576" bIns="9144" rtlCol="0" anchor="ctr"/>
          <a:lstStyle/>
          <a:p>
            <a:pPr algn="ctr"/>
            <a:endParaRPr/>
          </a:p>
        </p:txBody>
      </p:sp>
      <p:sp>
        <p:nvSpPr>
          <p:cNvPr id="351" name="Shape 351"/>
          <p:cNvSpPr/>
          <p:nvPr/>
        </p:nvSpPr>
        <p:spPr>
          <a:xfrm>
            <a:off x="320040" y="3990000"/>
            <a:ext cx="914400" cy="502920"/>
          </a:xfrm>
          <a:prstGeom prst="roundRect">
            <a:avLst>
              <a:gd name="adj" fmla="val 12000"/>
            </a:avLst>
          </a:prstGeom>
          <a:solidFill>
            <a:srgbClr val="1F3F73"/>
          </a:solidFill>
          <a:ln>
            <a:noFill/>
          </a:ln>
        </p:spPr>
        <p:txBody>
          <a:bodyPr wrap="square" lIns="36576" tIns="9144" rIns="36576" bIns="9144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쓰는 AI</a:t>
            </a:r>
          </a:p>
        </p:txBody>
      </p:sp>
      <p:sp>
        <p:nvSpPr>
          <p:cNvPr id="352" name="TextBox 352"/>
          <p:cNvSpPr txBox="1"/>
          <p:nvPr/>
        </p:nvSpPr>
        <p:spPr>
          <a:xfrm>
            <a:off x="1399032" y="4044864"/>
            <a:ext cx="68000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Google MediaPipe 객체 검출 (Apache-2.0)</a:t>
            </a:r>
          </a:p>
          <a:p>
            <a:pPr algn="l"/>
            <a:r>
              <a:rPr sz="7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미리 학습된 모델로 차·버스·트럭 인식 · 휴대폰 안에서 실행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48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53F95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1049</Words>
  <Application>Microsoft Office PowerPoint</Application>
  <PresentationFormat>화면 슬라이드 쇼(16:9)</PresentationFormat>
  <Paragraphs>294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Windows 사용자</dc:creator>
  <cp:lastModifiedBy>주성 한</cp:lastModifiedBy>
  <cp:revision>1</cp:revision>
  <dcterms:created xsi:type="dcterms:W3CDTF">2018-10-29T04:36:51Z</dcterms:created>
  <dcterms:modified xsi:type="dcterms:W3CDTF">2026-09-28T15:14:18Z</dcterms:modified>
</cp:coreProperties>
</file>